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92" r:id="rId3"/>
    <p:sldId id="293" r:id="rId4"/>
    <p:sldId id="294" r:id="rId5"/>
    <p:sldId id="295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60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942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Landing page (part 1 of 4)
Template: app/templates/index.html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Landing page (part 2 of 4)
Template: app/templates/index.html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Landing page (part 3 of 4)
Template: app/templates/index.html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Landing page (part 4 of 4)
Template: app/templates/index.html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 up (part 1 of 2)
Template: app/templates/auth/signup.html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 up (part 2 of 2)
Template: app/templates/auth/signup.html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 in
Template: app/templates/auth/login.html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(builder) (part 1 of 2)
Template: app/templates/dashboard/index.html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(builder) (part 2 of 2)
Template: app/templates/dashboard/index.html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(grower)
Template: app/templates/dashboard/index.html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Browse listings
Template: app/templates/listings/browse.html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Listing detail (grower view)
Template: app/templates/listings/detail.html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Listing detail (owner view)
Template: app/templates/listings/detail.html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listing (part 1 of 2)
Template: app/templates/listings/new.html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listing (part 2 of 2)
Template: app/templates/listings/new.html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 listing (part 1 of 2)
Template: app/templates/listings/edit.html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 listing (part 2 of 2)
Template: app/templates/listings/edit.html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Delete listing
Template: app/templates/listings/delete.html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Browse growers
Template: app/templates/growers/browse.html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Grower profile
Template: app/templates/growers/detail.html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Browse builders
Template: app/templates/builders/browse.html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Builder profile
Template: app/templates/builders/detail.html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connection request
Template: app/templates/connection_requests/new.html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Respond to connection request
Template: app/templates/connection_requests/respond.html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CrescoPact — trial
Template: app/templates/partnerships/detail.html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CrescoPact — formalised (part 1 of 3)
Template: app/templates/partnerships/detail.html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CrescoPact — formalised (part 2 of 3)
Template: app/templates/partnerships/detail.html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CrescoPact — formalised (part 3 of 3)
Template: app/templates/partnerships/detail.html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Disconnect CrescoPact
Template: app/templates/partnerships/disconnect.html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CrescoPact
Template: app/templates/partnerships/end.html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terms
Template: app/templates/partnerships/revenue_terms.html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revenue report
Template: app/templates/reporting/manual_report.html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Engagement report (part 1 of 2)
Template: app/templates/reporting/engagement_report.html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Engagement report (part 2 of 2)
Template: app/templates/reporting/engagement_report.html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Settings
Template: app/templates/settings/index.html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C685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Current UI screens — editable objects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61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text, button, card and field is a separate PowerPoint object. Page backgrounds, the octopus/badge art and icons are pictures. Page name and template path are in each slide's notes.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6766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7231A"/>
                </a:solidFill>
                <a:latin typeface="Fraunces"/>
              </a:rPr>
              <a:t>Builder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9966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48533F"/>
                </a:solidFill>
                <a:latin typeface="Public Sans"/>
              </a:rPr>
              <a:t>Capture who is building, what the app does, and the value each side brings.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566928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8C6118"/>
                </a:solidFill>
                <a:latin typeface="IBM Plex Mono"/>
              </a:rPr>
              <a:t>PROFILE /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16768" cy="1397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8A4C"/>
                </a:solidFill>
                <a:latin typeface="IBM Plex Mono"/>
              </a:rPr>
              <a:t>BUILDER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1975104"/>
            <a:ext cx="841248" cy="841248"/>
          </a:xfrm>
          <a:prstGeom prst="ellipse">
            <a:avLst/>
          </a:prstGeom>
          <a:solidFill>
            <a:srgbClr val="F8FAF6"/>
          </a:solidFill>
          <a:ln w="15240">
            <a:solidFill>
              <a:srgbClr val="1E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1E8A4C"/>
                </a:solidFill>
                <a:latin typeface="IBM Plex Mono"/>
              </a:rPr>
              <a:t>ADD
LOGO</a:t>
            </a:r>
          </a:p>
        </p:txBody>
      </p:sp>
      <p:sp>
        <p:nvSpPr>
          <p:cNvPr id="8" name="Rectangle 7"/>
          <p:cNvSpPr/>
          <p:nvPr/>
        </p:nvSpPr>
        <p:spPr>
          <a:xfrm>
            <a:off x="1810512" y="1920240"/>
            <a:ext cx="9637776" cy="950976"/>
          </a:xfrm>
          <a:prstGeom prst="rect">
            <a:avLst/>
          </a:prstGeom>
          <a:solidFill>
            <a:srgbClr val="F8FAF6"/>
          </a:solidFill>
          <a:ln w="10160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28016" rtlCol="0" anchor="ctr"/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>
                <a:solidFill>
                  <a:srgbClr val="17231A"/>
                </a:solidFill>
                <a:latin typeface="Public Sans"/>
              </a:rPr>
              <a:t>Name or builder identity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Introduce the builder, relevant experience, and approach. This area supports rich-text formatting.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10512" y="1920240"/>
            <a:ext cx="50800" cy="950976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099816"/>
            <a:ext cx="10716768" cy="1270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31012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C6118"/>
                </a:solidFill>
                <a:latin typeface="IBM Plex Mono"/>
              </a:rPr>
              <a:t>MY 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5175504" cy="2011680"/>
          </a:xfrm>
          <a:prstGeom prst="rect">
            <a:avLst/>
          </a:prstGeom>
          <a:solidFill>
            <a:srgbClr val="F8FAF6"/>
          </a:solidFill>
          <a:ln w="10160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28016" rtlCol="0" anchor="ctr"/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00" b="1">
                <a:solidFill>
                  <a:srgbClr val="17231A"/>
                </a:solidFill>
                <a:latin typeface="Public Sans"/>
              </a:rPr>
              <a:t>App name and one-line proposition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Describe the audience, core experience, traction, and what makes the app useful. Add bold, lists, or other rich-text styling as needed.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657600"/>
            <a:ext cx="50800" cy="2011680"/>
          </a:xfrm>
          <a:prstGeom prst="rect">
            <a:avLst/>
          </a:prstGeom>
          <a:solidFill>
            <a:srgbClr val="8C6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3657600"/>
            <a:ext cx="1371600" cy="1170432"/>
          </a:xfrm>
          <a:prstGeom prst="rect">
            <a:avLst/>
          </a:prstGeom>
          <a:solidFill>
            <a:srgbClr val="F8FAF6"/>
          </a:solidFill>
          <a:ln w="10160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100" b="1">
                <a:solidFill>
                  <a:srgbClr val="8A9486"/>
                </a:solidFill>
                <a:latin typeface="IBM Plex Mono"/>
              </a:rPr>
              <a:t>ADD APP
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99262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48533F"/>
                </a:solidFill>
                <a:latin typeface="IBM Plex Mono"/>
              </a:rPr>
              <a:t>APP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230368"/>
            <a:ext cx="1371600" cy="438912"/>
          </a:xfrm>
          <a:prstGeom prst="rect">
            <a:avLst/>
          </a:prstGeom>
          <a:noFill/>
        </p:spPr>
        <p:txBody>
          <a:bodyPr wrap="square" tIns="91440" bIns="0">
            <a:spAutoFit/>
          </a:bodyPr>
          <a:lstStyle/>
          <a:p>
            <a:pPr algn="l"/>
            <a:r>
              <a:rPr sz="1200" u="sng">
                <a:solidFill>
                  <a:srgbClr val="1E8A4C"/>
                </a:solidFill>
                <a:latin typeface="Public Sans"/>
              </a:rPr>
              <a:t>Paste URL 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5650992"/>
            <a:ext cx="1371600" cy="12700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0" y="3273552"/>
            <a:ext cx="9144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54112" y="3273552"/>
            <a:ext cx="12700" cy="2670048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28431" y="331012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8A4C"/>
                </a:solidFill>
                <a:latin typeface="IBM Plex Mono"/>
              </a:rPr>
              <a:t>NEEDS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28431" y="3657600"/>
            <a:ext cx="3419856" cy="859536"/>
          </a:xfrm>
          <a:prstGeom prst="rect">
            <a:avLst/>
          </a:prstGeom>
          <a:solidFill>
            <a:srgbClr val="F8FAF6"/>
          </a:solidFill>
          <a:ln w="10160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28016" rtlCol="0" anchor="ctr"/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Add the skills, reach, resources, or support needed.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28431" y="3657600"/>
            <a:ext cx="50800" cy="859536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8431" y="4736592"/>
            <a:ext cx="3419856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28431" y="491947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C6118"/>
                </a:solidFill>
                <a:latin typeface="IBM Plex Mono"/>
              </a:rPr>
              <a:t>OFFERS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28431" y="5248656"/>
            <a:ext cx="3419856" cy="859536"/>
          </a:xfrm>
          <a:prstGeom prst="rect">
            <a:avLst/>
          </a:prstGeom>
          <a:solidFill>
            <a:srgbClr val="F8FAF6"/>
          </a:solidFill>
          <a:ln w="10160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28016" rtlCol="0" anchor="ctr"/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Add strengths, assets, access, or terms offered in return.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28431" y="5248656"/>
            <a:ext cx="50800" cy="859536"/>
          </a:xfrm>
          <a:prstGeom prst="rect">
            <a:avLst/>
          </a:prstGeom>
          <a:solidFill>
            <a:srgbClr val="8C6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6327648"/>
            <a:ext cx="10716768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64465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A9486"/>
                </a:solidFill>
                <a:latin typeface="IBM Plex Mono"/>
              </a:rPr>
              <a:t>EDITABLE PROFILE TEMPLATE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6446520"/>
            <a:ext cx="26700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8A9486"/>
                </a:solidFill>
                <a:latin typeface="IBM Plex Mono"/>
              </a:rPr>
              <a:t>RICH TEXT • LINKS • IMAGES</a:t>
            </a:r>
          </a:p>
        </p:txBody>
      </p:sp>
    </p:spTree>
    <p:extLst>
      <p:ext uri="{BB962C8B-B14F-4D97-AF65-F5344CB8AC3E}">
        <p14:creationId xmlns:p14="http://schemas.microsoft.com/office/powerpoint/2010/main" val="236178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6766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7231A"/>
                </a:solidFill>
                <a:latin typeface="Fraunces"/>
              </a:rPr>
              <a:t>Grower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9966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8533F"/>
                </a:solidFill>
                <a:latin typeface="Public Sans"/>
              </a:rPr>
              <a:t>Capture who can grow the app, what they need, and what they bring to the partnership.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0" y="566928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C6118"/>
                </a:solidFill>
                <a:latin typeface="IBM Plex Mono"/>
              </a:rPr>
              <a:t>PROFILE /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0716768" cy="1397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8A4C"/>
                </a:solidFill>
                <a:latin typeface="IBM Plex Mono"/>
              </a:rPr>
              <a:t>GROWER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1975104"/>
            <a:ext cx="841248" cy="841248"/>
          </a:xfrm>
          <a:prstGeom prst="ellipse">
            <a:avLst/>
          </a:prstGeom>
          <a:solidFill>
            <a:srgbClr val="F8FAF6"/>
          </a:solidFill>
          <a:ln w="15240">
            <a:solidFill>
              <a:srgbClr val="1E8A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1E8A4C"/>
                </a:solidFill>
                <a:latin typeface="IBM Plex Mono"/>
              </a:rPr>
              <a:t>ADD
PHOTO</a:t>
            </a:r>
          </a:p>
        </p:txBody>
      </p:sp>
      <p:sp>
        <p:nvSpPr>
          <p:cNvPr id="8" name="Rectangle 7"/>
          <p:cNvSpPr/>
          <p:nvPr/>
        </p:nvSpPr>
        <p:spPr>
          <a:xfrm>
            <a:off x="1810512" y="1920240"/>
            <a:ext cx="9637776" cy="950976"/>
          </a:xfrm>
          <a:prstGeom prst="rect">
            <a:avLst/>
          </a:prstGeom>
          <a:solidFill>
            <a:srgbClr val="F8FAF6"/>
          </a:solidFill>
          <a:ln w="10160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55448" rIns="182880" bIns="15544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17231A"/>
                </a:solidFill>
                <a:latin typeface="Public Sans"/>
              </a:rPr>
              <a:t>Name or grower identity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Introduce the grower, channels, audience expertise, and relevant results. This area supports rich-text formatting.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10512" y="1920240"/>
            <a:ext cx="50800" cy="950976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099816"/>
            <a:ext cx="10716768" cy="1270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36499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8A4C"/>
                </a:solidFill>
                <a:latin typeface="IBM Plex Mono"/>
              </a:rPr>
              <a:t>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336499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C6118"/>
                </a:solidFill>
                <a:latin typeface="IBM Plex Mono"/>
              </a:rPr>
              <a:t>OFFER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30752"/>
            <a:ext cx="5166360" cy="2194560"/>
          </a:xfrm>
          <a:prstGeom prst="rect">
            <a:avLst/>
          </a:prstGeom>
          <a:solidFill>
            <a:srgbClr val="F8FAF6"/>
          </a:solidFill>
          <a:ln w="10160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55448" rIns="182880" bIns="15544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1">
                <a:solidFill>
                  <a:srgbClr val="17231A"/>
                </a:solidFill>
                <a:latin typeface="Public Sans"/>
              </a:rPr>
              <a:t>What would help this grower succeed?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Add product access, budget, data, creative assets, decision rights, or other support required to build momentum.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30752"/>
            <a:ext cx="50800" cy="2194560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81928" y="3730752"/>
            <a:ext cx="5166360" cy="2194560"/>
          </a:xfrm>
          <a:prstGeom prst="rect">
            <a:avLst/>
          </a:prstGeom>
          <a:solidFill>
            <a:srgbClr val="F8FAF6"/>
          </a:solidFill>
          <a:ln w="10160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55448" rIns="182880" bIns="155448" rtlCol="0" anchor="ctr"/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1">
                <a:solidFill>
                  <a:srgbClr val="17231A"/>
                </a:solidFill>
                <a:latin typeface="Public Sans"/>
              </a:rPr>
              <a:t>What can this grower contribute?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Add channels, skills, audience access, campaign ideas, time commitment, or commercial terms offered in return.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81928" y="3730752"/>
            <a:ext cx="50800" cy="2194560"/>
          </a:xfrm>
          <a:prstGeom prst="rect">
            <a:avLst/>
          </a:prstGeom>
          <a:solidFill>
            <a:srgbClr val="8C6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6327648"/>
            <a:ext cx="10716768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A9486"/>
                </a:solidFill>
                <a:latin typeface="IBM Plex Mono"/>
              </a:rPr>
              <a:t>EDITABLE PROFILE TEMPLATE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6446520"/>
            <a:ext cx="2990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8A9486"/>
                </a:solidFill>
                <a:latin typeface="IBM Plex Mono"/>
              </a:rPr>
              <a:t>RICH TEXT • NEEDS • OFFER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93192"/>
            <a:ext cx="6583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7231A"/>
                </a:solidFill>
                <a:latin typeface="Fraunces"/>
              </a:rPr>
              <a:t>CrecoPlan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8533F"/>
                </a:solidFill>
                <a:latin typeface="Public Sans"/>
              </a:rPr>
              <a:t>A shared working agreement for the Builder and Grower.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475488"/>
            <a:ext cx="16459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C6118"/>
                </a:solidFill>
                <a:latin typeface="IBM Plex Mono"/>
              </a:rPr>
              <a:t>SHARED PLAN /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44168"/>
            <a:ext cx="10716768" cy="1397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9047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46304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Add 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1481328" y="1746504"/>
            <a:ext cx="2834640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49047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GROWER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0368" y="146304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Add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0368" y="1746504"/>
            <a:ext cx="2834640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490472"/>
            <a:ext cx="1078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LAST UPDATED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0032" y="1463040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Add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00032" y="1746504"/>
            <a:ext cx="2048256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199339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E8A4C"/>
                </a:solidFill>
                <a:latin typeface="IBM Plex Mono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199339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8A4C"/>
                </a:solidFill>
                <a:latin typeface="IBM Plex Mono"/>
              </a:rPr>
              <a:t>AGREED NEEDS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199339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C6118"/>
                </a:solidFill>
                <a:latin typeface="IBM Plex Mono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199339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C6118"/>
                </a:solidFill>
                <a:latin typeface="IBM Plex Mono"/>
              </a:rPr>
              <a:t>AGREED OFFERS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331720"/>
            <a:ext cx="5047488" cy="1024128"/>
          </a:xfrm>
          <a:prstGeom prst="rect">
            <a:avLst/>
          </a:prstGeom>
          <a:solidFill>
            <a:srgbClr val="F8FAF6"/>
          </a:solidFill>
          <a:ln w="10160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28016" rtlCol="0" anchor="ctr"/>
          <a:lstStyle/>
          <a:p>
            <a:pPr algn="l">
              <a:lnSpc>
                <a:spcPct val="108000"/>
              </a:lnSpc>
            </a:pPr>
            <a:r>
              <a:rPr sz="1400">
                <a:solidFill>
                  <a:srgbClr val="48533F"/>
                </a:solidFill>
                <a:latin typeface="Public Sans"/>
              </a:rPr>
              <a:t>Summarise the needs agreed for both Builder and Grower. Use bullets, emphasis, or notes as the plan develops.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331720"/>
            <a:ext cx="50800" cy="1024128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44768" y="2331720"/>
            <a:ext cx="5303520" cy="1024128"/>
          </a:xfrm>
          <a:prstGeom prst="rect">
            <a:avLst/>
          </a:prstGeom>
          <a:solidFill>
            <a:srgbClr val="F8FAF6"/>
          </a:solidFill>
          <a:ln w="10160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bIns="128016" rtlCol="0" anchor="ctr"/>
          <a:lstStyle/>
          <a:p>
            <a:pPr algn="l">
              <a:lnSpc>
                <a:spcPct val="108000"/>
              </a:lnSpc>
            </a:pPr>
            <a:r>
              <a:rPr sz="1400">
                <a:solidFill>
                  <a:srgbClr val="48533F"/>
                </a:solidFill>
                <a:latin typeface="Public Sans"/>
              </a:rPr>
              <a:t>Summarise the offers agreed by both Builder and Grower, including access, effort, resources, and terms.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331720"/>
            <a:ext cx="50800" cy="1024128"/>
          </a:xfrm>
          <a:prstGeom prst="rect">
            <a:avLst/>
          </a:prstGeom>
          <a:solidFill>
            <a:srgbClr val="8C6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584448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E8A4C"/>
                </a:solidFill>
                <a:latin typeface="IBM Plex Mono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358444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8A4C"/>
                </a:solidFill>
                <a:latin typeface="IBM Plex Mono"/>
              </a:rPr>
              <a:t>PLAN OF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895344"/>
            <a:ext cx="5669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List the commitments that move the partnership forward.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178808"/>
            <a:ext cx="10716768" cy="301752"/>
          </a:xfrm>
          <a:prstGeom prst="rect">
            <a:avLst/>
          </a:prstGeom>
          <a:solidFill>
            <a:srgbClr val="17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4242816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AF6"/>
                </a:solidFill>
                <a:latin typeface="IBM Plex Mono"/>
              </a:rPr>
              <a:t>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4242816"/>
            <a:ext cx="15727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AF6"/>
                </a:solidFill>
                <a:latin typeface="IBM Plex Mono"/>
              </a:rPr>
              <a:t>OWNER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242816"/>
            <a:ext cx="12984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AF6"/>
                </a:solidFill>
                <a:latin typeface="IBM Plex Mono"/>
              </a:rPr>
              <a:t>BY WHEN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648" y="4242816"/>
            <a:ext cx="13898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8FAF6"/>
                </a:solidFill>
                <a:latin typeface="IBM Plex Mono"/>
              </a:rPr>
              <a:t>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480560"/>
            <a:ext cx="10716768" cy="365760"/>
          </a:xfrm>
          <a:prstGeom prst="rect">
            <a:avLst/>
          </a:prstGeom>
          <a:solidFill>
            <a:srgbClr val="F8FAF6"/>
          </a:solidFill>
          <a:ln w="6985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6112" y="4572000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Add agreed 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457200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Builder / Grower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4572000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Add 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4572000"/>
            <a:ext cx="13898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Not started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846320"/>
            <a:ext cx="10716768" cy="365760"/>
          </a:xfrm>
          <a:prstGeom prst="rect">
            <a:avLst/>
          </a:prstGeom>
          <a:solidFill>
            <a:srgbClr val="F8FAF6"/>
          </a:solidFill>
          <a:ln w="6985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112" y="4937760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Add agreed 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493776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Builder / Grower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7888" y="4937760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Add 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6648" y="4937760"/>
            <a:ext cx="13898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Not started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212080"/>
            <a:ext cx="10716768" cy="365760"/>
          </a:xfrm>
          <a:prstGeom prst="rect">
            <a:avLst/>
          </a:prstGeom>
          <a:solidFill>
            <a:srgbClr val="F8FAF6"/>
          </a:solidFill>
          <a:ln w="6985">
            <a:solidFill>
              <a:srgbClr val="C9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6112" y="5303520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Add agreed 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5303520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Builder / Grower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7888" y="5303520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Add date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56648" y="5303520"/>
            <a:ext cx="13898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Not started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45936" y="4178808"/>
            <a:ext cx="7620" cy="1399032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119872" y="4178808"/>
            <a:ext cx="7620" cy="1399032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619488" y="4178808"/>
            <a:ext cx="7620" cy="1399032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1520" y="5696712"/>
            <a:ext cx="3474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8C6118"/>
                </a:solidFill>
                <a:latin typeface="IBM Plex Mono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" y="569671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8C6118"/>
                </a:solidFill>
                <a:latin typeface="IBM Plex Mono"/>
              </a:rPr>
              <a:t>AGREED MEASURES OF SUCCESS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998464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MEASURE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0128" y="5998464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TARGET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4688" y="5998464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EVIDENCE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90688" y="5998464"/>
            <a:ext cx="14813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REVIEW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37192" y="5998464"/>
            <a:ext cx="191109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OWNER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6254496"/>
            <a:ext cx="10716768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31520" y="6318504"/>
            <a:ext cx="233172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Define the outcome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10128" y="6318504"/>
            <a:ext cx="192024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Add target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04688" y="6318504"/>
            <a:ext cx="2011680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Add source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90688" y="6318504"/>
            <a:ext cx="1481328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Add date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37192" y="6318504"/>
            <a:ext cx="1911095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8533F"/>
                </a:solidFill>
                <a:latin typeface="Public Sans"/>
              </a:rPr>
              <a:t>Assign party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647688"/>
            <a:ext cx="59436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A9486"/>
                </a:solidFill>
                <a:latin typeface="IBM Plex Mono"/>
              </a:rPr>
              <a:t>EDITABLE SHARED WORKING TEMPLATE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6647688"/>
            <a:ext cx="381304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8A9486"/>
                </a:solidFill>
                <a:latin typeface="IBM Plex Mono"/>
              </a:rPr>
              <a:t>NEEDS • OFFERS • ACTIONS • MEASURES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393192"/>
            <a:ext cx="6583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7231A"/>
                </a:solidFill>
                <a:latin typeface="Fraunces"/>
              </a:rPr>
              <a:t>CrescoLedger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48533F"/>
                </a:solidFill>
                <a:latin typeface="Public Sans"/>
              </a:rPr>
              <a:t>A shared record of costs incurred, revenue achieved, and supporting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475488"/>
            <a:ext cx="1801368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8C6118"/>
                </a:solidFill>
                <a:latin typeface="IBM Plex Mono"/>
              </a:rPr>
              <a:t>SHARED LEDGER /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44168"/>
            <a:ext cx="10716768" cy="1397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9047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463040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Add 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1481328" y="1746504"/>
            <a:ext cx="2240280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50208" y="1490472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GROWER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1463040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Add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6864" y="1746504"/>
            <a:ext cx="2240280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14032" y="1490472"/>
            <a:ext cx="6583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146304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Add dates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0688" y="1746504"/>
            <a:ext cx="1481328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73184" y="1490472"/>
            <a:ext cx="8046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CURRENCY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1463040"/>
            <a:ext cx="111556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8533F"/>
                </a:solidFill>
                <a:latin typeface="Public Sans"/>
              </a:rPr>
              <a:t>Add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1746504"/>
            <a:ext cx="1115568" cy="10160"/>
          </a:xfrm>
          <a:prstGeom prst="rect">
            <a:avLst/>
          </a:prstGeom>
          <a:solidFill>
            <a:srgbClr val="C9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1993392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TOTAL COSTS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258568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8C6118"/>
                </a:solidFill>
                <a:latin typeface="Fraunces"/>
              </a:rPr>
              <a:t>Add total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670048"/>
            <a:ext cx="2651760" cy="20320"/>
          </a:xfrm>
          <a:prstGeom prst="rect">
            <a:avLst/>
          </a:prstGeom>
          <a:solidFill>
            <a:srgbClr val="8C6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9624" y="1993392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TOTAL REVENUE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2258568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E8A4C"/>
                </a:solidFill>
                <a:latin typeface="Fraunces"/>
              </a:rPr>
              <a:t>Add total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9624" y="2670048"/>
            <a:ext cx="2651760" cy="20320"/>
          </a:xfrm>
          <a:prstGeom prst="rect">
            <a:avLst/>
          </a:prstGeom>
          <a:solidFill>
            <a:srgbClr val="1E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67728" y="1993392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9486"/>
                </a:solidFill>
                <a:latin typeface="IBM Plex Mono"/>
              </a:rPr>
              <a:t>NET POSITION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258568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7231A"/>
                </a:solidFill>
                <a:latin typeface="Fraunces"/>
              </a:rPr>
              <a:t>Add total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67728" y="2670048"/>
            <a:ext cx="2651760" cy="20320"/>
          </a:xfrm>
          <a:prstGeom prst="rect">
            <a:avLst/>
          </a:prstGeom>
          <a:solidFill>
            <a:srgbClr val="172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76688" y="209397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8A9486"/>
                </a:solidFill>
                <a:latin typeface="IBM Plex Mono"/>
              </a:rPr>
              <a:t>UPDATE AFTER
EACH ENTRY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89864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E8A4C"/>
                </a:solidFill>
                <a:latin typeface="IBM Plex Mono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2898648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8A4C"/>
                </a:solidFill>
                <a:latin typeface="IBM Plex Mono"/>
              </a:rPr>
              <a:t>LEDGER ENTRIES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898648"/>
            <a:ext cx="4041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8A9486"/>
                </a:solidFill>
                <a:latin typeface="IBM Plex Mono"/>
              </a:rPr>
              <a:t>PASTE A SHARE LINK FOR EVIDENCE WHEN AVAILABLE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31520" y="3218688"/>
          <a:ext cx="10716768" cy="3175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358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09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8FAF6"/>
                          </a:solidFill>
                          <a:latin typeface="IBM Plex Mono"/>
                        </a:rPr>
                        <a:t>DATE</a:t>
                      </a:r>
                    </a:p>
                  </a:txBody>
                  <a:tcPr marT="64008" marB="64008" anchor="ctr">
                    <a:solidFill>
                      <a:srgbClr val="1723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8FAF6"/>
                          </a:solidFill>
                          <a:latin typeface="IBM Plex Mono"/>
                        </a:rPr>
                        <a:t>PARTY</a:t>
                      </a:r>
                    </a:p>
                  </a:txBody>
                  <a:tcPr marT="64008" marB="64008" anchor="ctr">
                    <a:solidFill>
                      <a:srgbClr val="1723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8FAF6"/>
                          </a:solidFill>
                          <a:latin typeface="IBM Plex Mono"/>
                        </a:rPr>
                        <a:t>ENTRY</a:t>
                      </a:r>
                    </a:p>
                  </a:txBody>
                  <a:tcPr marT="64008" marB="64008" anchor="ctr">
                    <a:solidFill>
                      <a:srgbClr val="1723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8FAF6"/>
                          </a:solidFill>
                          <a:latin typeface="IBM Plex Mono"/>
                        </a:rPr>
                        <a:t>DESCRIPTION</a:t>
                      </a:r>
                    </a:p>
                  </a:txBody>
                  <a:tcPr marT="64008" marB="64008" anchor="ctr">
                    <a:solidFill>
                      <a:srgbClr val="1723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8FAF6"/>
                          </a:solidFill>
                          <a:latin typeface="IBM Plex Mono"/>
                        </a:rPr>
                        <a:t>AMOUNT</a:t>
                      </a:r>
                    </a:p>
                  </a:txBody>
                  <a:tcPr marT="64008" marB="64008" anchor="ctr">
                    <a:solidFill>
                      <a:srgbClr val="1723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8FAF6"/>
                          </a:solidFill>
                          <a:latin typeface="IBM Plex Mono"/>
                        </a:rPr>
                        <a:t>DOCUMENT / RECEIPT</a:t>
                      </a:r>
                    </a:p>
                  </a:txBody>
                  <a:tcPr marT="64008" marB="64008" anchor="ctr">
                    <a:solidFill>
                      <a:srgbClr val="1723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09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date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Builder / Grower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Cost / Revenue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Describe the item and why it belongs in the ledger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amount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u="sng">
                          <a:solidFill>
                            <a:srgbClr val="2B6F8A"/>
                          </a:solidFill>
                          <a:latin typeface="Public Sans"/>
                        </a:rPr>
                        <a:t>Paste link or receipt reference ↗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09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date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Builder / Grower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Cost / Revenue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Describe the item and why it belongs in the ledger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amount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u="sng">
                          <a:solidFill>
                            <a:srgbClr val="2B6F8A"/>
                          </a:solidFill>
                          <a:latin typeface="Public Sans"/>
                        </a:rPr>
                        <a:t>Paste link or receipt reference ↗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09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date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Builder / Grower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Cost / Revenue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Describe the item and why it belongs in the ledger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amount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u="sng">
                          <a:solidFill>
                            <a:srgbClr val="2B6F8A"/>
                          </a:solidFill>
                          <a:latin typeface="Public Sans"/>
                        </a:rPr>
                        <a:t>Paste link or receipt reference ↗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09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date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Builder / Grower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Cost / Revenue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Describe the item and why it belongs in the ledger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amount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u="sng">
                          <a:solidFill>
                            <a:srgbClr val="2B6F8A"/>
                          </a:solidFill>
                          <a:latin typeface="Public Sans"/>
                        </a:rPr>
                        <a:t>Paste link or receipt reference ↗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092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date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Builder / Grower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Cost / Revenue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Describe the item and why it belongs in the ledger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amount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u="sng">
                          <a:solidFill>
                            <a:srgbClr val="2B6F8A"/>
                          </a:solidFill>
                          <a:latin typeface="Public Sans"/>
                        </a:rPr>
                        <a:t>Paste link or receipt reference ↗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096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date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Builder / Grower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Cost / Revenue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Describe the item and why it belongs in the ledger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8533F"/>
                          </a:solidFill>
                          <a:latin typeface="Public Sans"/>
                        </a:rPr>
                        <a:t>Add amount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u="sng">
                          <a:solidFill>
                            <a:srgbClr val="2B6F8A"/>
                          </a:solidFill>
                          <a:latin typeface="Public Sans"/>
                        </a:rPr>
                        <a:t>Paste link or receipt reference ↗</a:t>
                      </a:r>
                    </a:p>
                  </a:txBody>
                  <a:tcPr marT="54864" marB="54864" anchor="ctr">
                    <a:solidFill>
                      <a:srgbClr val="F8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731520" y="6318504"/>
            <a:ext cx="6583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48533F"/>
                </a:solidFill>
                <a:latin typeface="Public Sans"/>
              </a:rPr>
              <a:t>Use positive amounts; identify each row as Cost or Revenue.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647688"/>
            <a:ext cx="56692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A9486"/>
                </a:solidFill>
                <a:latin typeface="IBM Plex Mono"/>
              </a:rPr>
              <a:t>EDITABLE SHARED FINANCIAL REGISTER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6647688"/>
            <a:ext cx="40873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8A9486"/>
                </a:solidFill>
                <a:latin typeface="IBM Plex Mono"/>
              </a:rPr>
              <a:t>COSTS • REVENUE •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309" y="0"/>
            <a:ext cx="9941382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25309" y="0"/>
            <a:ext cx="9941382" cy="551436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1125309" y="551436"/>
            <a:ext cx="9941382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00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777" y="124267"/>
            <a:ext cx="295135" cy="29513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715579" y="151451"/>
            <a:ext cx="804339" cy="240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6"/>
              </a:lnSpc>
              <a:buNone/>
            </a:pPr>
            <a:r>
              <a:rPr lang="en-US" sz="1223" b="1" kern="0" spc="12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223" dirty="0"/>
          </a:p>
        </p:txBody>
      </p:sp>
      <p:pic>
        <p:nvPicPr>
          <p:cNvPr id="8" name="Image 2" descr="/home/claude/ex/00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767" y="174607"/>
            <a:ext cx="201934" cy="19445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121569" y="145262"/>
            <a:ext cx="467944" cy="253146"/>
          </a:xfrm>
          <a:prstGeom prst="rect">
            <a:avLst/>
          </a:prstGeom>
          <a:ln w="7747">
            <a:solidFill>
              <a:srgbClr val="48533F"/>
            </a:solidFill>
          </a:ln>
        </p:spPr>
        <p:txBody>
          <a:bodyPr wrap="none" lIns="116459" tIns="54356" rIns="116459" bIns="54356" rtlCol="0" anchor="t"/>
          <a:lstStyle/>
          <a:p>
            <a:pPr marL="0" indent="0" algn="l">
              <a:lnSpc>
                <a:spcPts val="1137"/>
              </a:lnSpc>
              <a:buNone/>
            </a:pPr>
            <a:r>
              <a:rPr lang="en-US" sz="734" b="1" kern="0" spc="22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734" dirty="0"/>
          </a:p>
        </p:txBody>
      </p:sp>
      <p:sp>
        <p:nvSpPr>
          <p:cNvPr id="10" name="Text 4"/>
          <p:cNvSpPr/>
          <p:nvPr/>
        </p:nvSpPr>
        <p:spPr>
          <a:xfrm>
            <a:off x="7760380" y="145262"/>
            <a:ext cx="702765" cy="253146"/>
          </a:xfrm>
          <a:prstGeom prst="rect">
            <a:avLst/>
          </a:prstGeom>
          <a:ln w="7747">
            <a:solidFill>
              <a:srgbClr val="48533F"/>
            </a:solidFill>
          </a:ln>
        </p:spPr>
        <p:txBody>
          <a:bodyPr wrap="none" lIns="116459" tIns="54356" rIns="116459" bIns="54356" rtlCol="0" anchor="t"/>
          <a:lstStyle/>
          <a:p>
            <a:pPr marL="0" indent="0" algn="l">
              <a:lnSpc>
                <a:spcPts val="1137"/>
              </a:lnSpc>
              <a:buNone/>
            </a:pPr>
            <a:r>
              <a:rPr lang="en-US" sz="734" b="1" kern="0" spc="22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734" dirty="0"/>
          </a:p>
        </p:txBody>
      </p:sp>
      <p:sp>
        <p:nvSpPr>
          <p:cNvPr id="11" name="Text 5"/>
          <p:cNvSpPr/>
          <p:nvPr/>
        </p:nvSpPr>
        <p:spPr>
          <a:xfrm>
            <a:off x="8634013" y="145262"/>
            <a:ext cx="644030" cy="253146"/>
          </a:xfrm>
          <a:prstGeom prst="rect">
            <a:avLst/>
          </a:prstGeom>
          <a:ln w="7747">
            <a:solidFill>
              <a:srgbClr val="48533F"/>
            </a:solidFill>
          </a:ln>
        </p:spPr>
        <p:txBody>
          <a:bodyPr wrap="none" lIns="116459" tIns="54356" rIns="116459" bIns="54356" rtlCol="0" anchor="t"/>
          <a:lstStyle/>
          <a:p>
            <a:pPr marL="0" indent="0" algn="l">
              <a:lnSpc>
                <a:spcPts val="1137"/>
              </a:lnSpc>
              <a:buNone/>
            </a:pPr>
            <a:r>
              <a:rPr lang="en-US" sz="734" b="1" kern="0" spc="22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734" dirty="0"/>
          </a:p>
        </p:txBody>
      </p:sp>
      <p:sp>
        <p:nvSpPr>
          <p:cNvPr id="12" name="Text 6"/>
          <p:cNvSpPr/>
          <p:nvPr/>
        </p:nvSpPr>
        <p:spPr>
          <a:xfrm>
            <a:off x="9448911" y="145262"/>
            <a:ext cx="585415" cy="253146"/>
          </a:xfrm>
          <a:prstGeom prst="rect">
            <a:avLst/>
          </a:prstGeom>
          <a:ln w="7747">
            <a:solidFill>
              <a:srgbClr val="48533F"/>
            </a:solidFill>
          </a:ln>
        </p:spPr>
        <p:txBody>
          <a:bodyPr wrap="none" lIns="116459" tIns="54356" rIns="116459" bIns="54356" rtlCol="0" anchor="t"/>
          <a:lstStyle/>
          <a:p>
            <a:pPr marL="0" indent="0" algn="l">
              <a:lnSpc>
                <a:spcPts val="1137"/>
              </a:lnSpc>
              <a:buNone/>
            </a:pPr>
            <a:r>
              <a:rPr lang="en-US" sz="734" b="1" kern="0" spc="22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IN</a:t>
            </a:r>
            <a:endParaRPr lang="en-US" sz="734" dirty="0"/>
          </a:p>
        </p:txBody>
      </p:sp>
      <p:sp>
        <p:nvSpPr>
          <p:cNvPr id="13" name="Text 7"/>
          <p:cNvSpPr/>
          <p:nvPr/>
        </p:nvSpPr>
        <p:spPr>
          <a:xfrm>
            <a:off x="10205193" y="145262"/>
            <a:ext cx="644030" cy="253146"/>
          </a:xfrm>
          <a:prstGeom prst="rect">
            <a:avLst/>
          </a:prstGeom>
          <a:ln w="7747">
            <a:solidFill>
              <a:srgbClr val="48533F"/>
            </a:solidFill>
          </a:ln>
        </p:spPr>
        <p:txBody>
          <a:bodyPr wrap="none" lIns="116459" tIns="54356" rIns="116459" bIns="54356" rtlCol="0" anchor="t"/>
          <a:lstStyle/>
          <a:p>
            <a:pPr marL="0" indent="0" algn="l">
              <a:lnSpc>
                <a:spcPts val="1137"/>
              </a:lnSpc>
              <a:buNone/>
            </a:pPr>
            <a:r>
              <a:rPr lang="en-US" sz="734" b="1" kern="0" spc="22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SIGN UP</a:t>
            </a:r>
            <a:endParaRPr lang="en-US" sz="734" dirty="0"/>
          </a:p>
        </p:txBody>
      </p:sp>
      <p:sp>
        <p:nvSpPr>
          <p:cNvPr id="14" name="Text 8"/>
          <p:cNvSpPr txBox="1"/>
          <p:nvPr/>
        </p:nvSpPr>
        <p:spPr>
          <a:xfrm>
            <a:off x="2585450" y="1242794"/>
            <a:ext cx="3017001" cy="183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7"/>
              </a:lnSpc>
              <a:buNone/>
            </a:pPr>
            <a:r>
              <a:rPr lang="en-US" sz="734" kern="0" spc="88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THE LATIN: </a:t>
            </a:r>
            <a:r>
              <a:rPr lang="en-US" sz="917" b="1" i="1" dirty="0">
                <a:solidFill>
                  <a:srgbClr val="1E8A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</a:t>
            </a:r>
            <a:r>
              <a:rPr lang="en-US" sz="734" kern="0" spc="88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TO GROW &amp; </a:t>
            </a:r>
            <a:r>
              <a:rPr lang="en-US" sz="917" b="1" i="1" dirty="0">
                <a:solidFill>
                  <a:srgbClr val="8C61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opus</a:t>
            </a:r>
            <a:r>
              <a:rPr lang="en-US" sz="734" kern="0" spc="88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A WORK</a:t>
            </a:r>
            <a:endParaRPr lang="en-US" sz="734" dirty="0"/>
          </a:p>
        </p:txBody>
      </p:sp>
      <p:sp>
        <p:nvSpPr>
          <p:cNvPr id="15" name="Text 9"/>
          <p:cNvSpPr txBox="1"/>
          <p:nvPr/>
        </p:nvSpPr>
        <p:spPr>
          <a:xfrm>
            <a:off x="2585450" y="1565840"/>
            <a:ext cx="3561369" cy="1006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63"/>
              </a:lnSpc>
              <a:buNone/>
            </a:pPr>
            <a:r>
              <a:rPr lang="en-US" sz="3669" b="1" kern="0" spc="-37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Grow apps </a:t>
            </a:r>
            <a:r>
              <a:rPr lang="en-US" sz="3669" i="1" kern="0" spc="-37" dirty="0">
                <a:solidFill>
                  <a:srgbClr val="8C61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together</a:t>
            </a:r>
            <a:endParaRPr lang="en-US" sz="3669" dirty="0"/>
          </a:p>
        </p:txBody>
      </p:sp>
      <p:sp>
        <p:nvSpPr>
          <p:cNvPr id="16" name="Text 10"/>
          <p:cNvSpPr txBox="1"/>
          <p:nvPr/>
        </p:nvSpPr>
        <p:spPr>
          <a:xfrm>
            <a:off x="2585450" y="2727691"/>
            <a:ext cx="3561369" cy="685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1"/>
              </a:lnSpc>
              <a:buNone/>
            </a:pPr>
            <a:r>
              <a:rPr lang="en-US" sz="1162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Crescopus pairs developers who love building with growth people who love finding an audience — one app, one CrescoPact, shared upside.</a:t>
            </a:r>
            <a:endParaRPr lang="en-US" sz="1162" dirty="0"/>
          </a:p>
        </p:txBody>
      </p:sp>
      <p:sp>
        <p:nvSpPr>
          <p:cNvPr id="17" name="Text 11"/>
          <p:cNvSpPr/>
          <p:nvPr/>
        </p:nvSpPr>
        <p:spPr>
          <a:xfrm>
            <a:off x="2585450" y="3646589"/>
            <a:ext cx="847542" cy="330813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55321" tIns="93218" rIns="155321" bIns="93218" rtlCol="0" anchor="t"/>
          <a:lstStyle/>
          <a:p>
            <a:pPr marL="0" indent="0" algn="ctr">
              <a:lnSpc>
                <a:spcPts val="1137"/>
              </a:lnSpc>
              <a:buNone/>
            </a:pPr>
            <a:r>
              <a:rPr lang="en-US" sz="734" kern="0" spc="2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SIGN UP →</a:t>
            </a:r>
            <a:endParaRPr lang="en-US" sz="734" dirty="0"/>
          </a:p>
        </p:txBody>
      </p:sp>
      <p:sp>
        <p:nvSpPr>
          <p:cNvPr id="18" name="Text 12"/>
          <p:cNvSpPr/>
          <p:nvPr/>
        </p:nvSpPr>
        <p:spPr>
          <a:xfrm>
            <a:off x="3541725" y="3646589"/>
            <a:ext cx="787956" cy="330813"/>
          </a:xfrm>
          <a:prstGeom prst="rect">
            <a:avLst/>
          </a:prstGeom>
          <a:solidFill>
            <a:srgbClr val="17231A"/>
          </a:solidFill>
          <a:ln/>
        </p:spPr>
        <p:txBody>
          <a:bodyPr wrap="none" lIns="155321" tIns="93218" rIns="155321" bIns="93218" rtlCol="0" anchor="t"/>
          <a:lstStyle/>
          <a:p>
            <a:pPr marL="0" indent="0" algn="l">
              <a:lnSpc>
                <a:spcPts val="1137"/>
              </a:lnSpc>
              <a:buNone/>
            </a:pPr>
            <a:r>
              <a:rPr lang="en-US" sz="734" kern="0" spc="29" dirty="0">
                <a:solidFill>
                  <a:srgbClr val="F3F4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IN →</a:t>
            </a:r>
            <a:endParaRPr lang="en-US" sz="734" dirty="0"/>
          </a:p>
        </p:txBody>
      </p:sp>
      <p:sp>
        <p:nvSpPr>
          <p:cNvPr id="19" name="Text 13"/>
          <p:cNvSpPr txBox="1"/>
          <p:nvPr/>
        </p:nvSpPr>
        <p:spPr>
          <a:xfrm>
            <a:off x="4438415" y="3646589"/>
            <a:ext cx="983589" cy="330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11"/>
              </a:lnSpc>
              <a:buNone/>
            </a:pPr>
            <a:r>
              <a:rPr lang="en-US" sz="1040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How it works →</a:t>
            </a:r>
            <a:endParaRPr lang="en-US" sz="1040" dirty="0"/>
          </a:p>
        </p:txBody>
      </p:sp>
      <p:pic>
        <p:nvPicPr>
          <p:cNvPr id="20" name="Image 3" descr="/home/claude/ex/00_img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025" y="1017438"/>
            <a:ext cx="3128404" cy="3128404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2585450" y="4637815"/>
            <a:ext cx="7021101" cy="2220185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15"/>
          <p:cNvSpPr/>
          <p:nvPr/>
        </p:nvSpPr>
        <p:spPr>
          <a:xfrm>
            <a:off x="2585450" y="4637815"/>
            <a:ext cx="7021101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6"/>
          <p:cNvSpPr txBox="1"/>
          <p:nvPr/>
        </p:nvSpPr>
        <p:spPr>
          <a:xfrm>
            <a:off x="2585450" y="5142651"/>
            <a:ext cx="4970691" cy="14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7"/>
              </a:lnSpc>
              <a:buNone/>
            </a:pPr>
            <a:r>
              <a:rPr lang="en-US" sz="734" kern="0" spc="73" dirty="0">
                <a:solidFill>
                  <a:srgbClr val="8C61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CRESCOPACT</a:t>
            </a:r>
            <a:endParaRPr lang="en-US" sz="734" dirty="0"/>
          </a:p>
        </p:txBody>
      </p:sp>
      <p:sp>
        <p:nvSpPr>
          <p:cNvPr id="24" name="Text 17"/>
          <p:cNvSpPr txBox="1"/>
          <p:nvPr/>
        </p:nvSpPr>
        <p:spPr>
          <a:xfrm>
            <a:off x="2585450" y="5364730"/>
            <a:ext cx="4970691" cy="307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22"/>
              </a:lnSpc>
              <a:buNone/>
            </a:pPr>
            <a:r>
              <a:rPr lang="en-US" sz="2202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Two skill sets, rarely in one person</a:t>
            </a:r>
            <a:endParaRPr lang="en-US" sz="2202" dirty="0"/>
          </a:p>
        </p:txBody>
      </p:sp>
      <p:sp>
        <p:nvSpPr>
          <p:cNvPr id="25" name="Text 18"/>
          <p:cNvSpPr txBox="1"/>
          <p:nvPr/>
        </p:nvSpPr>
        <p:spPr>
          <a:xfrm>
            <a:off x="2585450" y="5796510"/>
            <a:ext cx="4073225" cy="57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7"/>
              </a:lnSpc>
              <a:buNone/>
            </a:pPr>
            <a:r>
              <a:rPr lang="en-US" sz="978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Most apps stall for the same reason: the person who built it isn't the person who can sell it. Crescopus exists for the moment they meet: a builder's work and a grower's reach, joined into one CrescoPact.</a:t>
            </a:r>
            <a:endParaRPr lang="en-US" sz="978" dirty="0"/>
          </a:p>
        </p:txBody>
      </p:sp>
      <p:sp>
        <p:nvSpPr>
          <p:cNvPr id="26" name="Shape 19"/>
          <p:cNvSpPr/>
          <p:nvPr/>
        </p:nvSpPr>
        <p:spPr>
          <a:xfrm>
            <a:off x="2585450" y="6684948"/>
            <a:ext cx="7021101" cy="173052"/>
          </a:xfrm>
          <a:prstGeom prst="rect">
            <a:avLst/>
          </a:prstGeom>
          <a:solidFill>
            <a:srgbClr val="DBDED0"/>
          </a:solidFill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0"/>
          <p:cNvSpPr/>
          <p:nvPr/>
        </p:nvSpPr>
        <p:spPr>
          <a:xfrm>
            <a:off x="2593216" y="6692715"/>
            <a:ext cx="3498900" cy="1652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1"/>
          <p:cNvSpPr/>
          <p:nvPr/>
        </p:nvSpPr>
        <p:spPr>
          <a:xfrm>
            <a:off x="6099883" y="6692715"/>
            <a:ext cx="3498900" cy="1652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CEB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309" y="0"/>
            <a:ext cx="9941382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585450" y="0"/>
            <a:ext cx="7021101" cy="3367959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2585450" y="0"/>
            <a:ext cx="7021101" cy="2870889"/>
          </a:xfrm>
          <a:prstGeom prst="rect">
            <a:avLst/>
          </a:prstGeom>
          <a:solidFill>
            <a:srgbClr val="DBDED0"/>
          </a:solidFill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2"/>
          <p:cNvSpPr/>
          <p:nvPr/>
        </p:nvSpPr>
        <p:spPr>
          <a:xfrm>
            <a:off x="2593216" y="0"/>
            <a:ext cx="3498900" cy="286312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3"/>
          <p:cNvSpPr txBox="1"/>
          <p:nvPr/>
        </p:nvSpPr>
        <p:spPr>
          <a:xfrm>
            <a:off x="2872818" y="184217"/>
            <a:ext cx="639054" cy="10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43"/>
              </a:lnSpc>
              <a:buNone/>
            </a:pPr>
            <a:r>
              <a:rPr lang="en-US" sz="673" kern="0" spc="54" dirty="0">
                <a:solidFill>
                  <a:srgbClr val="1E8A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BUILDER</a:t>
            </a:r>
            <a:endParaRPr lang="en-US" sz="673" dirty="0"/>
          </a:p>
        </p:txBody>
      </p:sp>
      <p:sp>
        <p:nvSpPr>
          <p:cNvPr id="8" name="Text 4"/>
          <p:cNvSpPr txBox="1"/>
          <p:nvPr/>
        </p:nvSpPr>
        <p:spPr>
          <a:xfrm>
            <a:off x="2872818" y="318920"/>
            <a:ext cx="2939698" cy="28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75"/>
              </a:lnSpc>
              <a:buNone/>
            </a:pPr>
            <a:r>
              <a:rPr lang="en-US" sz="1468" b="1" dirty="0">
                <a:solidFill>
                  <a:srgbClr val="1E8A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Made something that works</a:t>
            </a:r>
            <a:endParaRPr lang="en-US" sz="1468" dirty="0"/>
          </a:p>
        </p:txBody>
      </p:sp>
      <p:sp>
        <p:nvSpPr>
          <p:cNvPr id="9" name="Text 5"/>
          <p:cNvSpPr txBox="1"/>
          <p:nvPr/>
        </p:nvSpPr>
        <p:spPr>
          <a:xfrm>
            <a:off x="2872818" y="700945"/>
            <a:ext cx="3027889" cy="57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7"/>
              </a:lnSpc>
              <a:buNone/>
            </a:pPr>
            <a:r>
              <a:rPr lang="en-US" sz="978" dirty="0">
                <a:solidFill>
                  <a:srgbClr val="1E8A4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You'd rather build the product than run ad campaigns. Traction, ASO, marketing — not your craft, and not how you want to spend your time.</a:t>
            </a:r>
            <a:endParaRPr lang="en-US" sz="978" dirty="0"/>
          </a:p>
        </p:txBody>
      </p:sp>
      <p:sp>
        <p:nvSpPr>
          <p:cNvPr id="10" name="Text 6"/>
          <p:cNvSpPr/>
          <p:nvPr/>
        </p:nvSpPr>
        <p:spPr>
          <a:xfrm>
            <a:off x="2872818" y="1418516"/>
            <a:ext cx="3027889" cy="508719"/>
          </a:xfrm>
          <a:prstGeom prst="rect">
            <a:avLst/>
          </a:prstGeom>
          <a:ln/>
        </p:spPr>
        <p:txBody>
          <a:bodyPr wrap="square" lIns="0" tIns="77724" rIns="0" bIns="69850" rtlCol="0" anchor="t"/>
          <a:lstStyle/>
          <a:p>
            <a:pPr marL="0" indent="0" algn="l">
              <a:lnSpc>
                <a:spcPts val="1422"/>
              </a:lnSpc>
              <a:buNone/>
            </a:pPr>
            <a:r>
              <a:rPr lang="en-US" sz="917" dirty="0">
                <a:solidFill>
                  <a:srgbClr val="1E8A4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– Keeps control of the ownership of your product, always</a:t>
            </a:r>
            <a:endParaRPr lang="en-US" sz="917" dirty="0"/>
          </a:p>
        </p:txBody>
      </p:sp>
      <p:sp>
        <p:nvSpPr>
          <p:cNvPr id="11" name="Shape 7"/>
          <p:cNvSpPr/>
          <p:nvPr/>
        </p:nvSpPr>
        <p:spPr>
          <a:xfrm>
            <a:off x="2872818" y="1418516"/>
            <a:ext cx="2939698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2872818" y="1927235"/>
            <a:ext cx="2939698" cy="328143"/>
          </a:xfrm>
          <a:prstGeom prst="rect">
            <a:avLst/>
          </a:prstGeom>
          <a:ln/>
        </p:spPr>
        <p:txBody>
          <a:bodyPr wrap="none" lIns="0" tIns="77724" rIns="0" bIns="69850" rtlCol="0" anchor="t"/>
          <a:lstStyle/>
          <a:p>
            <a:pPr marL="0" indent="0" algn="l">
              <a:lnSpc>
                <a:spcPts val="1422"/>
              </a:lnSpc>
              <a:buNone/>
            </a:pPr>
            <a:r>
              <a:rPr lang="en-US" sz="917" dirty="0">
                <a:solidFill>
                  <a:srgbClr val="1E8A4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– Sets what a partner can and can't touch</a:t>
            </a:r>
            <a:endParaRPr lang="en-US" sz="917" dirty="0"/>
          </a:p>
        </p:txBody>
      </p:sp>
      <p:sp>
        <p:nvSpPr>
          <p:cNvPr id="13" name="Shape 9"/>
          <p:cNvSpPr/>
          <p:nvPr/>
        </p:nvSpPr>
        <p:spPr>
          <a:xfrm>
            <a:off x="2872818" y="1927235"/>
            <a:ext cx="2939698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2872818" y="2255378"/>
            <a:ext cx="2939698" cy="328143"/>
          </a:xfrm>
          <a:prstGeom prst="rect">
            <a:avLst/>
          </a:prstGeom>
          <a:ln/>
        </p:spPr>
        <p:txBody>
          <a:bodyPr wrap="none" lIns="0" tIns="77724" rIns="0" bIns="69850" rtlCol="0" anchor="t"/>
          <a:lstStyle/>
          <a:p>
            <a:pPr marL="0" indent="0" algn="l">
              <a:lnSpc>
                <a:spcPts val="1422"/>
              </a:lnSpc>
              <a:buNone/>
            </a:pPr>
            <a:r>
              <a:rPr lang="en-US" sz="917" dirty="0">
                <a:solidFill>
                  <a:srgbClr val="1E8A4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– Wants a real audience, not another side project</a:t>
            </a:r>
            <a:endParaRPr lang="en-US" sz="917" dirty="0"/>
          </a:p>
        </p:txBody>
      </p:sp>
      <p:sp>
        <p:nvSpPr>
          <p:cNvPr id="15" name="Shape 11"/>
          <p:cNvSpPr/>
          <p:nvPr/>
        </p:nvSpPr>
        <p:spPr>
          <a:xfrm>
            <a:off x="2872818" y="2255378"/>
            <a:ext cx="2939698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6099883" y="0"/>
            <a:ext cx="3498900" cy="286312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 txBox="1"/>
          <p:nvPr/>
        </p:nvSpPr>
        <p:spPr>
          <a:xfrm>
            <a:off x="6379485" y="184217"/>
            <a:ext cx="581047" cy="10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43"/>
              </a:lnSpc>
              <a:buNone/>
            </a:pPr>
            <a:r>
              <a:rPr lang="en-US" sz="673" kern="0" spc="54" dirty="0">
                <a:solidFill>
                  <a:srgbClr val="8C61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GROWER</a:t>
            </a:r>
            <a:endParaRPr lang="en-US" sz="673" dirty="0"/>
          </a:p>
        </p:txBody>
      </p:sp>
      <p:sp>
        <p:nvSpPr>
          <p:cNvPr id="18" name="Text 14"/>
          <p:cNvSpPr txBox="1"/>
          <p:nvPr/>
        </p:nvSpPr>
        <p:spPr>
          <a:xfrm>
            <a:off x="6379485" y="318920"/>
            <a:ext cx="2939698" cy="28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75"/>
              </a:lnSpc>
              <a:buNone/>
            </a:pPr>
            <a:r>
              <a:rPr lang="en-US" sz="1468" b="1" dirty="0">
                <a:solidFill>
                  <a:srgbClr val="8C61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Knows how to find an audience</a:t>
            </a:r>
            <a:endParaRPr lang="en-US" sz="1468" dirty="0"/>
          </a:p>
        </p:txBody>
      </p:sp>
      <p:sp>
        <p:nvSpPr>
          <p:cNvPr id="19" name="Text 15"/>
          <p:cNvSpPr txBox="1"/>
          <p:nvPr/>
        </p:nvSpPr>
        <p:spPr>
          <a:xfrm>
            <a:off x="6379485" y="700945"/>
            <a:ext cx="3027889" cy="57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7"/>
              </a:lnSpc>
              <a:buNone/>
            </a:pPr>
            <a:r>
              <a:rPr lang="en-US" sz="978" dirty="0">
                <a:solidFill>
                  <a:srgbClr val="8C61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Marketing, social, growth loops, deal-making — that's your craft. What you're missing is a product worth putting it behind.</a:t>
            </a:r>
            <a:endParaRPr lang="en-US" sz="978" dirty="0"/>
          </a:p>
        </p:txBody>
      </p:sp>
      <p:sp>
        <p:nvSpPr>
          <p:cNvPr id="20" name="Text 16"/>
          <p:cNvSpPr/>
          <p:nvPr/>
        </p:nvSpPr>
        <p:spPr>
          <a:xfrm>
            <a:off x="6379485" y="1418516"/>
            <a:ext cx="2939698" cy="328143"/>
          </a:xfrm>
          <a:prstGeom prst="rect">
            <a:avLst/>
          </a:prstGeom>
          <a:ln/>
        </p:spPr>
        <p:txBody>
          <a:bodyPr wrap="none" lIns="0" tIns="77724" rIns="0" bIns="69850" rtlCol="0" anchor="t"/>
          <a:lstStyle/>
          <a:p>
            <a:pPr marL="0" indent="0" algn="l">
              <a:lnSpc>
                <a:spcPts val="1422"/>
              </a:lnSpc>
              <a:buNone/>
            </a:pPr>
            <a:r>
              <a:rPr lang="en-US" sz="917" dirty="0">
                <a:solidFill>
                  <a:srgbClr val="8C61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– Brings a growth plan, not just enthusiasm</a:t>
            </a:r>
            <a:endParaRPr lang="en-US" sz="917" dirty="0"/>
          </a:p>
        </p:txBody>
      </p:sp>
      <p:sp>
        <p:nvSpPr>
          <p:cNvPr id="21" name="Shape 17"/>
          <p:cNvSpPr/>
          <p:nvPr/>
        </p:nvSpPr>
        <p:spPr>
          <a:xfrm>
            <a:off x="6379485" y="1418516"/>
            <a:ext cx="2939698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8"/>
          <p:cNvSpPr/>
          <p:nvPr/>
        </p:nvSpPr>
        <p:spPr>
          <a:xfrm>
            <a:off x="6379485" y="1746659"/>
            <a:ext cx="2939698" cy="328143"/>
          </a:xfrm>
          <a:prstGeom prst="rect">
            <a:avLst/>
          </a:prstGeom>
          <a:ln/>
        </p:spPr>
        <p:txBody>
          <a:bodyPr wrap="none" lIns="0" tIns="77724" rIns="0" bIns="69850" rtlCol="0" anchor="t"/>
          <a:lstStyle/>
          <a:p>
            <a:pPr marL="0" indent="0" algn="l">
              <a:lnSpc>
                <a:spcPts val="1422"/>
              </a:lnSpc>
              <a:buNone/>
            </a:pPr>
            <a:r>
              <a:rPr lang="en-US" sz="917" dirty="0">
                <a:solidFill>
                  <a:srgbClr val="8C61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– Earns a share of what they help create</a:t>
            </a:r>
            <a:endParaRPr lang="en-US" sz="917" dirty="0"/>
          </a:p>
        </p:txBody>
      </p:sp>
      <p:sp>
        <p:nvSpPr>
          <p:cNvPr id="23" name="Shape 19"/>
          <p:cNvSpPr/>
          <p:nvPr/>
        </p:nvSpPr>
        <p:spPr>
          <a:xfrm>
            <a:off x="6379485" y="1746659"/>
            <a:ext cx="2939698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0"/>
          <p:cNvSpPr/>
          <p:nvPr/>
        </p:nvSpPr>
        <p:spPr>
          <a:xfrm>
            <a:off x="6379485" y="2074802"/>
            <a:ext cx="2939698" cy="328143"/>
          </a:xfrm>
          <a:prstGeom prst="rect">
            <a:avLst/>
          </a:prstGeom>
          <a:ln/>
        </p:spPr>
        <p:txBody>
          <a:bodyPr wrap="none" lIns="0" tIns="77724" rIns="0" bIns="69850" rtlCol="0" anchor="t"/>
          <a:lstStyle/>
          <a:p>
            <a:pPr marL="0" indent="0" algn="l">
              <a:lnSpc>
                <a:spcPts val="1422"/>
              </a:lnSpc>
              <a:buNone/>
            </a:pPr>
            <a:r>
              <a:rPr lang="en-US" sz="917" dirty="0">
                <a:solidFill>
                  <a:srgbClr val="8C61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– Wants a track record they can point to</a:t>
            </a:r>
            <a:endParaRPr lang="en-US" sz="917" dirty="0"/>
          </a:p>
        </p:txBody>
      </p:sp>
      <p:sp>
        <p:nvSpPr>
          <p:cNvPr id="25" name="Shape 21"/>
          <p:cNvSpPr/>
          <p:nvPr/>
        </p:nvSpPr>
        <p:spPr>
          <a:xfrm>
            <a:off x="6379485" y="2074802"/>
            <a:ext cx="2939698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2"/>
          <p:cNvSpPr/>
          <p:nvPr/>
        </p:nvSpPr>
        <p:spPr>
          <a:xfrm>
            <a:off x="2585450" y="3367959"/>
            <a:ext cx="7021101" cy="3174762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3"/>
          <p:cNvSpPr/>
          <p:nvPr/>
        </p:nvSpPr>
        <p:spPr>
          <a:xfrm>
            <a:off x="2585450" y="3367959"/>
            <a:ext cx="7021101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4"/>
          <p:cNvSpPr txBox="1"/>
          <p:nvPr/>
        </p:nvSpPr>
        <p:spPr>
          <a:xfrm>
            <a:off x="2585450" y="3872794"/>
            <a:ext cx="4970691" cy="14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7"/>
              </a:lnSpc>
              <a:buNone/>
            </a:pPr>
            <a:r>
              <a:rPr lang="en-US" sz="734" kern="0" spc="73" dirty="0">
                <a:solidFill>
                  <a:srgbClr val="8C61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IT WORKS</a:t>
            </a:r>
            <a:endParaRPr lang="en-US" sz="734" dirty="0"/>
          </a:p>
        </p:txBody>
      </p:sp>
      <p:sp>
        <p:nvSpPr>
          <p:cNvPr id="29" name="Text 25"/>
          <p:cNvSpPr txBox="1"/>
          <p:nvPr/>
        </p:nvSpPr>
        <p:spPr>
          <a:xfrm>
            <a:off x="2585450" y="4094874"/>
            <a:ext cx="5119812" cy="615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22"/>
              </a:lnSpc>
              <a:buNone/>
            </a:pPr>
            <a:r>
              <a:rPr lang="en-US" sz="2202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 CrescoPact, not a marketplace scramble</a:t>
            </a:r>
            <a:endParaRPr lang="en-US" sz="2202" dirty="0"/>
          </a:p>
        </p:txBody>
      </p:sp>
      <p:sp>
        <p:nvSpPr>
          <p:cNvPr id="30" name="Text 26"/>
          <p:cNvSpPr txBox="1"/>
          <p:nvPr/>
        </p:nvSpPr>
        <p:spPr>
          <a:xfrm>
            <a:off x="2585450" y="4834167"/>
            <a:ext cx="4073225" cy="77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7"/>
              </a:lnSpc>
              <a:buNone/>
            </a:pPr>
            <a:r>
              <a:rPr lang="en-US" sz="978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Builders describe what they've built. Growers reach out with why they're interested — no numbers, no forms. If it clicks after talking it through, either side can propose to formalise, and revenue terms come later, only if you both want them.</a:t>
            </a:r>
            <a:endParaRPr lang="en-US" sz="978" dirty="0"/>
          </a:p>
        </p:txBody>
      </p:sp>
      <p:sp>
        <p:nvSpPr>
          <p:cNvPr id="31" name="Text 27"/>
          <p:cNvSpPr txBox="1"/>
          <p:nvPr/>
        </p:nvSpPr>
        <p:spPr>
          <a:xfrm>
            <a:off x="2585450" y="5728794"/>
            <a:ext cx="3954587" cy="192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7"/>
              </a:lnSpc>
              <a:buNone/>
            </a:pPr>
            <a:r>
              <a:rPr lang="en-US" sz="978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See the full process →</a:t>
            </a:r>
            <a:endParaRPr lang="en-US" sz="978" dirty="0"/>
          </a:p>
        </p:txBody>
      </p:sp>
      <p:sp>
        <p:nvSpPr>
          <p:cNvPr id="32" name="Shape 28"/>
          <p:cNvSpPr/>
          <p:nvPr/>
        </p:nvSpPr>
        <p:spPr>
          <a:xfrm>
            <a:off x="2585450" y="6542720"/>
            <a:ext cx="7021101" cy="315280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29"/>
          <p:cNvSpPr/>
          <p:nvPr/>
        </p:nvSpPr>
        <p:spPr>
          <a:xfrm>
            <a:off x="2585450" y="6542720"/>
            <a:ext cx="7021101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4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542" y="0"/>
            <a:ext cx="991891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593383" y="0"/>
            <a:ext cx="7005234" cy="4929309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1"/>
          <p:cNvSpPr txBox="1"/>
          <p:nvPr/>
        </p:nvSpPr>
        <p:spPr>
          <a:xfrm>
            <a:off x="2593383" y="189128"/>
            <a:ext cx="4959458" cy="144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5"/>
              </a:lnSpc>
              <a:buNone/>
            </a:pPr>
            <a:r>
              <a:rPr lang="en-US" sz="732" kern="0" spc="73" dirty="0">
                <a:solidFill>
                  <a:srgbClr val="8C61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BUILT ON TRUST</a:t>
            </a:r>
            <a:endParaRPr lang="en-US" sz="732" dirty="0"/>
          </a:p>
        </p:txBody>
      </p:sp>
      <p:sp>
        <p:nvSpPr>
          <p:cNvPr id="6" name="Text 2"/>
          <p:cNvSpPr txBox="1"/>
          <p:nvPr/>
        </p:nvSpPr>
        <p:spPr>
          <a:xfrm>
            <a:off x="2593383" y="410705"/>
            <a:ext cx="4959458" cy="30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16"/>
              </a:lnSpc>
              <a:buNone/>
            </a:pPr>
            <a:r>
              <a:rPr lang="en-US" sz="2197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Fair to both sides, by design</a:t>
            </a:r>
            <a:endParaRPr lang="en-US" sz="2197" dirty="0"/>
          </a:p>
        </p:txBody>
      </p:sp>
      <p:sp>
        <p:nvSpPr>
          <p:cNvPr id="7" name="Text 3"/>
          <p:cNvSpPr txBox="1"/>
          <p:nvPr/>
        </p:nvSpPr>
        <p:spPr>
          <a:xfrm>
            <a:off x="2593383" y="841510"/>
            <a:ext cx="4064020" cy="960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3"/>
              </a:lnSpc>
              <a:buNone/>
            </a:pPr>
            <a:r>
              <a:rPr lang="en-US" sz="976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That's what a CrescoPact is for: the point where a builder's risk and a grower's risk both get addressed, not left to chance. Neither side has to take the other's word for it — and unlike a typical marketplace, Crescopus never holds or moves your money, so there's nothing to freeze, delay, or quietly take a cut of.</a:t>
            </a:r>
            <a:endParaRPr lang="en-US" sz="976" dirty="0"/>
          </a:p>
        </p:txBody>
      </p:sp>
      <p:sp>
        <p:nvSpPr>
          <p:cNvPr id="8" name="Shape 4"/>
          <p:cNvSpPr/>
          <p:nvPr/>
        </p:nvSpPr>
        <p:spPr>
          <a:xfrm>
            <a:off x="2593383" y="2112249"/>
            <a:ext cx="7005234" cy="2321113"/>
          </a:xfrm>
          <a:prstGeom prst="rect">
            <a:avLst/>
          </a:prstGeom>
          <a:solidFill>
            <a:srgbClr val="DBDED0"/>
          </a:solidFill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5"/>
          <p:cNvSpPr/>
          <p:nvPr/>
        </p:nvSpPr>
        <p:spPr>
          <a:xfrm>
            <a:off x="2601132" y="2119999"/>
            <a:ext cx="3490993" cy="230561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 txBox="1"/>
          <p:nvPr/>
        </p:nvSpPr>
        <p:spPr>
          <a:xfrm>
            <a:off x="2880102" y="2468710"/>
            <a:ext cx="695608" cy="10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71" kern="0" spc="54" dirty="0">
                <a:solidFill>
                  <a:srgbClr val="1E8A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BUILDERS</a:t>
            </a:r>
            <a:endParaRPr lang="en-US" sz="671" dirty="0"/>
          </a:p>
        </p:txBody>
      </p:sp>
      <p:sp>
        <p:nvSpPr>
          <p:cNvPr id="11" name="Text 7"/>
          <p:cNvSpPr txBox="1"/>
          <p:nvPr/>
        </p:nvSpPr>
        <p:spPr>
          <a:xfrm>
            <a:off x="2880102" y="2603110"/>
            <a:ext cx="2933054" cy="288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464" b="1" dirty="0">
                <a:solidFill>
                  <a:srgbClr val="1E8A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You keep what's yours</a:t>
            </a:r>
            <a:endParaRPr lang="en-US" sz="1464" dirty="0"/>
          </a:p>
        </p:txBody>
      </p:sp>
      <p:sp>
        <p:nvSpPr>
          <p:cNvPr id="12" name="Text 8"/>
          <p:cNvSpPr/>
          <p:nvPr/>
        </p:nvSpPr>
        <p:spPr>
          <a:xfrm>
            <a:off x="2880102" y="2984271"/>
            <a:ext cx="3021046" cy="507569"/>
          </a:xfrm>
          <a:prstGeom prst="rect">
            <a:avLst/>
          </a:prstGeom>
          <a:ln/>
        </p:spPr>
        <p:txBody>
          <a:bodyPr wrap="square" lIns="0" tIns="77470" rIns="0" bIns="69723" rtlCol="0" anchor="t"/>
          <a:lstStyle/>
          <a:p>
            <a:pPr marL="0" indent="0" algn="l">
              <a:lnSpc>
                <a:spcPts val="1419"/>
              </a:lnSpc>
              <a:buNone/>
            </a:pPr>
            <a:r>
              <a:rPr lang="en-US" sz="915" dirty="0">
                <a:solidFill>
                  <a:srgbClr val="1E8A4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– Keeps control of the ownership of your product, always</a:t>
            </a:r>
            <a:endParaRPr lang="en-US" sz="915" dirty="0"/>
          </a:p>
        </p:txBody>
      </p:sp>
      <p:sp>
        <p:nvSpPr>
          <p:cNvPr id="13" name="Shape 9"/>
          <p:cNvSpPr/>
          <p:nvPr/>
        </p:nvSpPr>
        <p:spPr>
          <a:xfrm>
            <a:off x="2880102" y="2984271"/>
            <a:ext cx="2933054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2880102" y="3491841"/>
            <a:ext cx="2933054" cy="327402"/>
          </a:xfrm>
          <a:prstGeom prst="rect">
            <a:avLst/>
          </a:prstGeom>
          <a:ln/>
        </p:spPr>
        <p:txBody>
          <a:bodyPr wrap="none" lIns="0" tIns="77470" rIns="0" bIns="69723" rtlCol="0" anchor="t"/>
          <a:lstStyle/>
          <a:p>
            <a:pPr marL="0" indent="0" algn="l">
              <a:lnSpc>
                <a:spcPts val="1419"/>
              </a:lnSpc>
              <a:buNone/>
            </a:pPr>
            <a:r>
              <a:rPr lang="en-US" sz="915" dirty="0">
                <a:solidFill>
                  <a:srgbClr val="1E8A4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– You set what a partner can and can't touch</a:t>
            </a:r>
            <a:endParaRPr lang="en-US" sz="915" dirty="0"/>
          </a:p>
        </p:txBody>
      </p:sp>
      <p:sp>
        <p:nvSpPr>
          <p:cNvPr id="15" name="Shape 11"/>
          <p:cNvSpPr/>
          <p:nvPr/>
        </p:nvSpPr>
        <p:spPr>
          <a:xfrm>
            <a:off x="2880102" y="3491841"/>
            <a:ext cx="2933054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2880102" y="3819242"/>
            <a:ext cx="2933054" cy="327402"/>
          </a:xfrm>
          <a:prstGeom prst="rect">
            <a:avLst/>
          </a:prstGeom>
          <a:ln/>
        </p:spPr>
        <p:txBody>
          <a:bodyPr wrap="none" lIns="0" tIns="77470" rIns="0" bIns="69723" rtlCol="0" anchor="t"/>
          <a:lstStyle/>
          <a:p>
            <a:pPr marL="0" indent="0" algn="l">
              <a:lnSpc>
                <a:spcPts val="1419"/>
              </a:lnSpc>
              <a:buNone/>
            </a:pPr>
            <a:r>
              <a:rPr lang="en-US" sz="915" dirty="0">
                <a:solidFill>
                  <a:srgbClr val="1E8A4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– If you ever sell, it's your call and your terms</a:t>
            </a:r>
            <a:endParaRPr lang="en-US" sz="915" dirty="0"/>
          </a:p>
        </p:txBody>
      </p:sp>
      <p:sp>
        <p:nvSpPr>
          <p:cNvPr id="17" name="Shape 13"/>
          <p:cNvSpPr/>
          <p:nvPr/>
        </p:nvSpPr>
        <p:spPr>
          <a:xfrm>
            <a:off x="2880102" y="3819242"/>
            <a:ext cx="2933054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6099875" y="2119999"/>
            <a:ext cx="3490993" cy="230561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 txBox="1"/>
          <p:nvPr/>
        </p:nvSpPr>
        <p:spPr>
          <a:xfrm>
            <a:off x="6378844" y="2468710"/>
            <a:ext cx="637610" cy="10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71" kern="0" spc="54" dirty="0">
                <a:solidFill>
                  <a:srgbClr val="8C61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GROWERS</a:t>
            </a:r>
            <a:endParaRPr lang="en-US" sz="671" dirty="0"/>
          </a:p>
        </p:txBody>
      </p:sp>
      <p:sp>
        <p:nvSpPr>
          <p:cNvPr id="20" name="Text 16"/>
          <p:cNvSpPr txBox="1"/>
          <p:nvPr/>
        </p:nvSpPr>
        <p:spPr>
          <a:xfrm>
            <a:off x="6378844" y="2603110"/>
            <a:ext cx="2933054" cy="288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70"/>
              </a:lnSpc>
              <a:buNone/>
            </a:pPr>
            <a:r>
              <a:rPr lang="en-US" sz="1464" b="1" dirty="0">
                <a:solidFill>
                  <a:srgbClr val="8C61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You earn what you build</a:t>
            </a:r>
            <a:endParaRPr lang="en-US" sz="1464" dirty="0"/>
          </a:p>
        </p:txBody>
      </p:sp>
      <p:sp>
        <p:nvSpPr>
          <p:cNvPr id="21" name="Text 17"/>
          <p:cNvSpPr/>
          <p:nvPr/>
        </p:nvSpPr>
        <p:spPr>
          <a:xfrm>
            <a:off x="6378844" y="2984271"/>
            <a:ext cx="2933054" cy="327402"/>
          </a:xfrm>
          <a:prstGeom prst="rect">
            <a:avLst/>
          </a:prstGeom>
          <a:ln/>
        </p:spPr>
        <p:txBody>
          <a:bodyPr wrap="none" lIns="0" tIns="77470" rIns="0" bIns="69723" rtlCol="0" anchor="t"/>
          <a:lstStyle/>
          <a:p>
            <a:pPr marL="0" indent="0" algn="l">
              <a:lnSpc>
                <a:spcPts val="1419"/>
              </a:lnSpc>
              <a:buNone/>
            </a:pPr>
            <a:r>
              <a:rPr lang="en-US" sz="915" dirty="0">
                <a:solidFill>
                  <a:srgbClr val="8C61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– Revenue is tracked and verified, not taken on trust</a:t>
            </a:r>
            <a:endParaRPr lang="en-US" sz="915" dirty="0"/>
          </a:p>
        </p:txBody>
      </p:sp>
      <p:sp>
        <p:nvSpPr>
          <p:cNvPr id="22" name="Shape 18"/>
          <p:cNvSpPr/>
          <p:nvPr/>
        </p:nvSpPr>
        <p:spPr>
          <a:xfrm>
            <a:off x="6378844" y="2984271"/>
            <a:ext cx="2933054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9"/>
          <p:cNvSpPr/>
          <p:nvPr/>
        </p:nvSpPr>
        <p:spPr>
          <a:xfrm>
            <a:off x="6378844" y="3311673"/>
            <a:ext cx="3021046" cy="507569"/>
          </a:xfrm>
          <a:prstGeom prst="rect">
            <a:avLst/>
          </a:prstGeom>
          <a:ln/>
        </p:spPr>
        <p:txBody>
          <a:bodyPr wrap="square" lIns="0" tIns="77470" rIns="0" bIns="69723" rtlCol="0" anchor="t"/>
          <a:lstStyle/>
          <a:p>
            <a:pPr marL="0" indent="0" algn="l">
              <a:lnSpc>
                <a:spcPts val="1419"/>
              </a:lnSpc>
              <a:buNone/>
            </a:pPr>
            <a:r>
              <a:rPr lang="en-US" sz="915" dirty="0">
                <a:solidFill>
                  <a:srgbClr val="8C61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– Every CrescoPact builds a track record you can show</a:t>
            </a:r>
            <a:endParaRPr lang="en-US" sz="915" dirty="0"/>
          </a:p>
        </p:txBody>
      </p:sp>
      <p:sp>
        <p:nvSpPr>
          <p:cNvPr id="24" name="Shape 20"/>
          <p:cNvSpPr/>
          <p:nvPr/>
        </p:nvSpPr>
        <p:spPr>
          <a:xfrm>
            <a:off x="6378844" y="3311673"/>
            <a:ext cx="2933054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1"/>
          <p:cNvSpPr/>
          <p:nvPr/>
        </p:nvSpPr>
        <p:spPr>
          <a:xfrm>
            <a:off x="6378844" y="3819242"/>
            <a:ext cx="2933054" cy="327402"/>
          </a:xfrm>
          <a:prstGeom prst="rect">
            <a:avLst/>
          </a:prstGeom>
          <a:ln/>
        </p:spPr>
        <p:txBody>
          <a:bodyPr wrap="none" lIns="0" tIns="77470" rIns="0" bIns="69723" rtlCol="0" anchor="t"/>
          <a:lstStyle/>
          <a:p>
            <a:pPr marL="0" indent="0" algn="l">
              <a:lnSpc>
                <a:spcPts val="1419"/>
              </a:lnSpc>
              <a:buNone/>
            </a:pPr>
            <a:r>
              <a:rPr lang="en-US" sz="915" dirty="0">
                <a:solidFill>
                  <a:srgbClr val="8C61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– If the developer sells, you get first right to buy</a:t>
            </a:r>
            <a:endParaRPr lang="en-US" sz="915" dirty="0"/>
          </a:p>
        </p:txBody>
      </p:sp>
      <p:sp>
        <p:nvSpPr>
          <p:cNvPr id="26" name="Shape 22"/>
          <p:cNvSpPr/>
          <p:nvPr/>
        </p:nvSpPr>
        <p:spPr>
          <a:xfrm>
            <a:off x="6378844" y="3819242"/>
            <a:ext cx="2933054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3"/>
          <p:cNvSpPr/>
          <p:nvPr/>
        </p:nvSpPr>
        <p:spPr>
          <a:xfrm>
            <a:off x="2593383" y="4929309"/>
            <a:ext cx="7005234" cy="1928691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4"/>
          <p:cNvSpPr/>
          <p:nvPr/>
        </p:nvSpPr>
        <p:spPr>
          <a:xfrm>
            <a:off x="2593383" y="4929309"/>
            <a:ext cx="7005234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5"/>
          <p:cNvSpPr txBox="1"/>
          <p:nvPr/>
        </p:nvSpPr>
        <p:spPr>
          <a:xfrm>
            <a:off x="2593383" y="5433003"/>
            <a:ext cx="4959458" cy="144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5"/>
              </a:lnSpc>
              <a:buNone/>
            </a:pPr>
            <a:r>
              <a:rPr lang="en-US" sz="732" kern="0" spc="73" dirty="0">
                <a:solidFill>
                  <a:srgbClr val="8C61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 THIS IS HEADED</a:t>
            </a:r>
            <a:endParaRPr lang="en-US" sz="732" dirty="0"/>
          </a:p>
        </p:txBody>
      </p:sp>
      <p:sp>
        <p:nvSpPr>
          <p:cNvPr id="30" name="Text 26"/>
          <p:cNvSpPr txBox="1"/>
          <p:nvPr/>
        </p:nvSpPr>
        <p:spPr>
          <a:xfrm>
            <a:off x="2593383" y="5654581"/>
            <a:ext cx="4959458" cy="30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16"/>
              </a:lnSpc>
              <a:buNone/>
            </a:pPr>
            <a:r>
              <a:rPr lang="en-US" sz="2197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Free now. Free for you, later too.</a:t>
            </a:r>
            <a:endParaRPr lang="en-US" sz="2197" dirty="0"/>
          </a:p>
        </p:txBody>
      </p:sp>
      <p:sp>
        <p:nvSpPr>
          <p:cNvPr id="31" name="Text 27"/>
          <p:cNvSpPr txBox="1"/>
          <p:nvPr/>
        </p:nvSpPr>
        <p:spPr>
          <a:xfrm>
            <a:off x="2593383" y="6085385"/>
            <a:ext cx="4064020" cy="76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3"/>
              </a:lnSpc>
              <a:buNone/>
            </a:pPr>
            <a:r>
              <a:rPr lang="en-US" sz="976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Crescopus doesn't charge anything today — no fee on listings, matching, or the revenue you split with a partner. That won't be true forever: once there's real traction on both sides, we'll introduce a fee on CrescoPacts formed from that point on.</a:t>
            </a:r>
            <a:endParaRPr lang="en-US" sz="97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CE1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364" y="0"/>
            <a:ext cx="9975273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573482" y="0"/>
            <a:ext cx="7045036" cy="1870972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2573482" y="307709"/>
            <a:ext cx="7045036" cy="794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2"/>
          <p:cNvSpPr/>
          <p:nvPr/>
        </p:nvSpPr>
        <p:spPr>
          <a:xfrm>
            <a:off x="2573482" y="307709"/>
            <a:ext cx="7045036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3"/>
          <p:cNvSpPr/>
          <p:nvPr/>
        </p:nvSpPr>
        <p:spPr>
          <a:xfrm>
            <a:off x="2573482" y="1102613"/>
            <a:ext cx="7045036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4"/>
          <p:cNvSpPr/>
          <p:nvPr/>
        </p:nvSpPr>
        <p:spPr>
          <a:xfrm>
            <a:off x="2573482" y="307709"/>
            <a:ext cx="0" cy="794905"/>
          </a:xfrm>
          <a:prstGeom prst="line">
            <a:avLst/>
          </a:prstGeom>
          <a:noFill/>
          <a:ln w="31115">
            <a:solidFill>
              <a:srgbClr val="B98A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5"/>
          <p:cNvSpPr/>
          <p:nvPr/>
        </p:nvSpPr>
        <p:spPr>
          <a:xfrm>
            <a:off x="9618518" y="307709"/>
            <a:ext cx="0" cy="794905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 txBox="1"/>
          <p:nvPr/>
        </p:nvSpPr>
        <p:spPr>
          <a:xfrm>
            <a:off x="2838450" y="518125"/>
            <a:ext cx="6734634" cy="374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3"/>
              </a:lnSpc>
              <a:buNone/>
            </a:pPr>
            <a:r>
              <a:rPr lang="en-US" sz="982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Join before that happens, and it never applies to you. </a:t>
            </a:r>
            <a:r>
              <a:rPr lang="en-US" sz="982" b="1" dirty="0">
                <a:solidFill>
                  <a:srgbClr val="8C61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Any CrescoPact formed while Crescopus is free stays free for its lifetime</a:t>
            </a:r>
            <a:r>
              <a:rPr lang="en-US" sz="982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— that's not an introductory offer, it's permanent.</a:t>
            </a:r>
            <a:endParaRPr lang="en-US" sz="982" dirty="0"/>
          </a:p>
        </p:txBody>
      </p:sp>
      <p:sp>
        <p:nvSpPr>
          <p:cNvPr id="11" name="Text 7"/>
          <p:cNvSpPr txBox="1"/>
          <p:nvPr/>
        </p:nvSpPr>
        <p:spPr>
          <a:xfrm>
            <a:off x="2573482" y="1227304"/>
            <a:ext cx="7045036" cy="14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1"/>
              </a:lnSpc>
              <a:buNone/>
            </a:pPr>
            <a:r>
              <a:rPr lang="en-US" sz="736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earliest developers and growers also carry a founding member mark on their profile, permanently.</a:t>
            </a:r>
            <a:endParaRPr lang="en-US" sz="736" dirty="0"/>
          </a:p>
        </p:txBody>
      </p:sp>
      <p:sp>
        <p:nvSpPr>
          <p:cNvPr id="12" name="Shape 8"/>
          <p:cNvSpPr/>
          <p:nvPr/>
        </p:nvSpPr>
        <p:spPr>
          <a:xfrm>
            <a:off x="2573482" y="1870972"/>
            <a:ext cx="7045036" cy="3198858"/>
          </a:xfrm>
          <a:prstGeom prst="rect">
            <a:avLst/>
          </a:prstGeom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9"/>
          <p:cNvSpPr/>
          <p:nvPr/>
        </p:nvSpPr>
        <p:spPr>
          <a:xfrm>
            <a:off x="2573482" y="1870972"/>
            <a:ext cx="7045036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0"/>
          <p:cNvSpPr/>
          <p:nvPr/>
        </p:nvSpPr>
        <p:spPr>
          <a:xfrm>
            <a:off x="2573482" y="2377529"/>
            <a:ext cx="7045036" cy="2193537"/>
          </a:xfrm>
          <a:prstGeom prst="rect">
            <a:avLst/>
          </a:prstGeom>
          <a:solidFill>
            <a:srgbClr val="E9ECE1"/>
          </a:solidFill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 txBox="1"/>
          <p:nvPr/>
        </p:nvSpPr>
        <p:spPr>
          <a:xfrm>
            <a:off x="2893002" y="2697050"/>
            <a:ext cx="6405995" cy="14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41"/>
              </a:lnSpc>
              <a:buNone/>
            </a:pPr>
            <a:r>
              <a:rPr lang="en-US" sz="736" kern="0" spc="74" dirty="0">
                <a:solidFill>
                  <a:srgbClr val="8C61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 STARTED</a:t>
            </a:r>
            <a:endParaRPr lang="en-US" sz="736" dirty="0"/>
          </a:p>
        </p:txBody>
      </p:sp>
      <p:sp>
        <p:nvSpPr>
          <p:cNvPr id="16" name="Text 12"/>
          <p:cNvSpPr txBox="1"/>
          <p:nvPr/>
        </p:nvSpPr>
        <p:spPr>
          <a:xfrm>
            <a:off x="2893002" y="2919886"/>
            <a:ext cx="6405995" cy="308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30"/>
              </a:lnSpc>
              <a:buNone/>
            </a:pPr>
            <a:r>
              <a:rPr lang="en-US" sz="2209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Be one of the first</a:t>
            </a:r>
            <a:endParaRPr lang="en-US" sz="2209" dirty="0"/>
          </a:p>
        </p:txBody>
      </p:sp>
      <p:sp>
        <p:nvSpPr>
          <p:cNvPr id="17" name="Text 13"/>
          <p:cNvSpPr txBox="1"/>
          <p:nvPr/>
        </p:nvSpPr>
        <p:spPr>
          <a:xfrm>
            <a:off x="3825749" y="3306379"/>
            <a:ext cx="4676718" cy="41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17"/>
              </a:lnSpc>
              <a:buNone/>
            </a:pPr>
            <a:r>
              <a:rPr lang="en-US" sz="1043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Create an account to list an app, put yourself forward as a grower, or just see what's already on the platform.</a:t>
            </a:r>
            <a:endParaRPr lang="en-US" sz="1043" dirty="0"/>
          </a:p>
        </p:txBody>
      </p:sp>
      <p:sp>
        <p:nvSpPr>
          <p:cNvPr id="18" name="Text 14"/>
          <p:cNvSpPr/>
          <p:nvPr/>
        </p:nvSpPr>
        <p:spPr>
          <a:xfrm>
            <a:off x="5220850" y="3919605"/>
            <a:ext cx="850431" cy="331941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55829" tIns="93472" rIns="155829" bIns="93472" rtlCol="0" anchor="t"/>
          <a:lstStyle/>
          <a:p>
            <a:pPr marL="0" indent="0" algn="ctr">
              <a:lnSpc>
                <a:spcPts val="1141"/>
              </a:lnSpc>
              <a:buNone/>
            </a:pPr>
            <a:r>
              <a:rPr lang="en-US" sz="736" kern="0" spc="2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SIGN UP →</a:t>
            </a:r>
            <a:endParaRPr lang="en-US" sz="736" dirty="0"/>
          </a:p>
        </p:txBody>
      </p:sp>
      <p:sp>
        <p:nvSpPr>
          <p:cNvPr id="19" name="Text 15"/>
          <p:cNvSpPr/>
          <p:nvPr/>
        </p:nvSpPr>
        <p:spPr>
          <a:xfrm>
            <a:off x="6180386" y="3919605"/>
            <a:ext cx="790643" cy="331941"/>
          </a:xfrm>
          <a:prstGeom prst="rect">
            <a:avLst/>
          </a:prstGeom>
          <a:solidFill>
            <a:srgbClr val="17231A"/>
          </a:solidFill>
          <a:ln/>
        </p:spPr>
        <p:txBody>
          <a:bodyPr wrap="none" lIns="155829" tIns="93472" rIns="155829" bIns="93472" rtlCol="0" anchor="t"/>
          <a:lstStyle/>
          <a:p>
            <a:pPr marL="0" indent="0" algn="ctr">
              <a:lnSpc>
                <a:spcPts val="1141"/>
              </a:lnSpc>
              <a:buNone/>
            </a:pPr>
            <a:r>
              <a:rPr lang="en-US" sz="736" kern="0" spc="29" dirty="0">
                <a:solidFill>
                  <a:srgbClr val="F3F4E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IN →</a:t>
            </a:r>
            <a:endParaRPr lang="en-US" sz="736" dirty="0"/>
          </a:p>
        </p:txBody>
      </p:sp>
      <p:sp>
        <p:nvSpPr>
          <p:cNvPr id="20" name="Shape 16"/>
          <p:cNvSpPr/>
          <p:nvPr/>
        </p:nvSpPr>
        <p:spPr>
          <a:xfrm>
            <a:off x="1108364" y="5849148"/>
            <a:ext cx="9975273" cy="1005320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7"/>
          <p:cNvSpPr/>
          <p:nvPr/>
        </p:nvSpPr>
        <p:spPr>
          <a:xfrm>
            <a:off x="1108364" y="5849148"/>
            <a:ext cx="9975273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2" name="Image 1" descr="/home/claude/ex/00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101" y="6137496"/>
            <a:ext cx="428761" cy="43641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2916382" y="6176218"/>
            <a:ext cx="807081" cy="194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2"/>
              </a:lnSpc>
              <a:buNone/>
            </a:pPr>
            <a:r>
              <a:rPr lang="en-US" sz="1227" b="1" kern="0" spc="12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227" dirty="0"/>
          </a:p>
        </p:txBody>
      </p:sp>
      <p:sp>
        <p:nvSpPr>
          <p:cNvPr id="24" name="Text 19"/>
          <p:cNvSpPr txBox="1"/>
          <p:nvPr/>
        </p:nvSpPr>
        <p:spPr>
          <a:xfrm>
            <a:off x="2916382" y="6425600"/>
            <a:ext cx="925927" cy="132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67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675" dirty="0"/>
          </a:p>
        </p:txBody>
      </p:sp>
      <p:sp>
        <p:nvSpPr>
          <p:cNvPr id="25" name="Text 20"/>
          <p:cNvSpPr/>
          <p:nvPr/>
        </p:nvSpPr>
        <p:spPr>
          <a:xfrm>
            <a:off x="4803915" y="6269980"/>
            <a:ext cx="176594" cy="171450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98"/>
              </a:lnSpc>
              <a:buNone/>
            </a:pPr>
            <a:r>
              <a:rPr lang="en-US" sz="798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798" dirty="0"/>
          </a:p>
        </p:txBody>
      </p:sp>
      <p:sp>
        <p:nvSpPr>
          <p:cNvPr id="26" name="Text 21"/>
          <p:cNvSpPr txBox="1"/>
          <p:nvPr/>
        </p:nvSpPr>
        <p:spPr>
          <a:xfrm>
            <a:off x="5053297" y="6289219"/>
            <a:ext cx="1009948" cy="132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675" b="1" kern="0" spc="14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675" dirty="0"/>
          </a:p>
        </p:txBody>
      </p:sp>
      <p:sp>
        <p:nvSpPr>
          <p:cNvPr id="27" name="Text 22"/>
          <p:cNvSpPr txBox="1"/>
          <p:nvPr/>
        </p:nvSpPr>
        <p:spPr>
          <a:xfrm>
            <a:off x="6141176" y="6289219"/>
            <a:ext cx="51508" cy="132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67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675" dirty="0"/>
          </a:p>
        </p:txBody>
      </p:sp>
      <p:sp>
        <p:nvSpPr>
          <p:cNvPr id="28" name="Text 23"/>
          <p:cNvSpPr/>
          <p:nvPr/>
        </p:nvSpPr>
        <p:spPr>
          <a:xfrm>
            <a:off x="6270616" y="6281426"/>
            <a:ext cx="972199" cy="148436"/>
          </a:xfrm>
          <a:prstGeom prst="rect">
            <a:avLst/>
          </a:prstGeom>
          <a:ln/>
        </p:spPr>
        <p:txBody>
          <a:bodyPr wrap="none" lIns="0" tIns="0" rIns="0" bIns="15621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675" kern="0" spc="20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675" dirty="0"/>
          </a:p>
        </p:txBody>
      </p:sp>
      <p:sp>
        <p:nvSpPr>
          <p:cNvPr id="29" name="Shape 24"/>
          <p:cNvSpPr/>
          <p:nvPr/>
        </p:nvSpPr>
        <p:spPr>
          <a:xfrm>
            <a:off x="6270616" y="6429862"/>
            <a:ext cx="972199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5"/>
          <p:cNvSpPr txBox="1"/>
          <p:nvPr/>
        </p:nvSpPr>
        <p:spPr>
          <a:xfrm>
            <a:off x="7320747" y="6289219"/>
            <a:ext cx="51508" cy="132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67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675" dirty="0"/>
          </a:p>
        </p:txBody>
      </p:sp>
      <p:sp>
        <p:nvSpPr>
          <p:cNvPr id="31" name="Text 26"/>
          <p:cNvSpPr/>
          <p:nvPr/>
        </p:nvSpPr>
        <p:spPr>
          <a:xfrm>
            <a:off x="7450187" y="6281426"/>
            <a:ext cx="756182" cy="148436"/>
          </a:xfrm>
          <a:prstGeom prst="rect">
            <a:avLst/>
          </a:prstGeom>
          <a:ln/>
        </p:spPr>
        <p:txBody>
          <a:bodyPr wrap="none" lIns="0" tIns="0" rIns="0" bIns="15621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675" kern="0" spc="20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675" dirty="0"/>
          </a:p>
        </p:txBody>
      </p:sp>
      <p:sp>
        <p:nvSpPr>
          <p:cNvPr id="32" name="Shape 27"/>
          <p:cNvSpPr/>
          <p:nvPr/>
        </p:nvSpPr>
        <p:spPr>
          <a:xfrm>
            <a:off x="7450187" y="6429862"/>
            <a:ext cx="756182" cy="0"/>
          </a:xfrm>
          <a:prstGeom prst="line">
            <a:avLst/>
          </a:prstGeom>
          <a:noFill/>
          <a:ln w="7747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8"/>
          <p:cNvSpPr txBox="1"/>
          <p:nvPr/>
        </p:nvSpPr>
        <p:spPr>
          <a:xfrm>
            <a:off x="9167975" y="6289219"/>
            <a:ext cx="668752" cy="132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675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6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05777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76275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01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152400"/>
            <a:ext cx="361950" cy="36195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23900" y="185738"/>
            <a:ext cx="9864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pic>
        <p:nvPicPr>
          <p:cNvPr id="8" name="Image 2" descr="/home/claude/ex/01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6546" y="214136"/>
            <a:ext cx="247650" cy="23847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353746" y="178147"/>
            <a:ext cx="57388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8137178" y="178147"/>
            <a:ext cx="861864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9208591" y="178147"/>
            <a:ext cx="78983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0207972" y="178147"/>
            <a:ext cx="717947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IN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1135469" y="178147"/>
            <a:ext cx="78983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SIGN UP</a:t>
            </a:r>
            <a:endParaRPr lang="en-US" sz="900" dirty="0"/>
          </a:p>
        </p:txBody>
      </p:sp>
      <p:sp>
        <p:nvSpPr>
          <p:cNvPr id="14" name="Text 8"/>
          <p:cNvSpPr txBox="1"/>
          <p:nvPr/>
        </p:nvSpPr>
        <p:spPr>
          <a:xfrm>
            <a:off x="1790700" y="1123950"/>
            <a:ext cx="432197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790700" y="1491555"/>
            <a:ext cx="8610600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2"/>
              </a:lnSpc>
              <a:buNone/>
            </a:pPr>
            <a:r>
              <a:rPr lang="en-US" sz="3150" b="1" kern="0" spc="-32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Create your account</a:t>
            </a:r>
            <a:endParaRPr lang="en-US" sz="3150" dirty="0"/>
          </a:p>
        </p:txBody>
      </p:sp>
      <p:sp>
        <p:nvSpPr>
          <p:cNvPr id="16" name="Text 10"/>
          <p:cNvSpPr txBox="1"/>
          <p:nvPr/>
        </p:nvSpPr>
        <p:spPr>
          <a:xfrm>
            <a:off x="1790700" y="2114104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FULL NAME</a:t>
            </a:r>
            <a:endParaRPr lang="en-US" sz="825" dirty="0"/>
          </a:p>
        </p:txBody>
      </p:sp>
      <p:sp>
        <p:nvSpPr>
          <p:cNvPr id="17" name="Shape 11"/>
          <p:cNvSpPr/>
          <p:nvPr/>
        </p:nvSpPr>
        <p:spPr>
          <a:xfrm>
            <a:off x="1790700" y="2333625"/>
            <a:ext cx="49530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2"/>
          <p:cNvSpPr txBox="1"/>
          <p:nvPr/>
        </p:nvSpPr>
        <p:spPr>
          <a:xfrm>
            <a:off x="1790700" y="2876550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endParaRPr lang="en-US" sz="825" dirty="0"/>
          </a:p>
        </p:txBody>
      </p:sp>
      <p:sp>
        <p:nvSpPr>
          <p:cNvPr id="19" name="Shape 13"/>
          <p:cNvSpPr/>
          <p:nvPr/>
        </p:nvSpPr>
        <p:spPr>
          <a:xfrm>
            <a:off x="1790700" y="3096071"/>
            <a:ext cx="49530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4"/>
          <p:cNvSpPr txBox="1"/>
          <p:nvPr/>
        </p:nvSpPr>
        <p:spPr>
          <a:xfrm>
            <a:off x="1790700" y="3638996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PASSWORD</a:t>
            </a:r>
            <a:endParaRPr lang="en-US" sz="825" dirty="0"/>
          </a:p>
        </p:txBody>
      </p:sp>
      <p:sp>
        <p:nvSpPr>
          <p:cNvPr id="21" name="Shape 15"/>
          <p:cNvSpPr/>
          <p:nvPr/>
        </p:nvSpPr>
        <p:spPr>
          <a:xfrm>
            <a:off x="1790700" y="3858518"/>
            <a:ext cx="49530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6"/>
          <p:cNvSpPr txBox="1"/>
          <p:nvPr/>
        </p:nvSpPr>
        <p:spPr>
          <a:xfrm>
            <a:off x="1790700" y="4401443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COUNTRY</a:t>
            </a:r>
            <a:endParaRPr lang="en-US" sz="825" dirty="0"/>
          </a:p>
        </p:txBody>
      </p:sp>
      <p:sp>
        <p:nvSpPr>
          <p:cNvPr id="23" name="Text 17"/>
          <p:cNvSpPr/>
          <p:nvPr/>
        </p:nvSpPr>
        <p:spPr>
          <a:xfrm>
            <a:off x="1790700" y="4620964"/>
            <a:ext cx="4953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</a:ln>
        </p:spPr>
        <p:txBody>
          <a:bodyPr wrap="none" lIns="142875" tIns="123825" rIns="142875" bIns="123825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Select your country   ▾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0EC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493395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790700" y="125164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 AM A...</a:t>
            </a:r>
            <a:endParaRPr lang="en-US" sz="825" dirty="0"/>
          </a:p>
        </p:txBody>
      </p:sp>
      <p:sp>
        <p:nvSpPr>
          <p:cNvPr id="5" name="Text 1"/>
          <p:cNvSpPr txBox="1"/>
          <p:nvPr/>
        </p:nvSpPr>
        <p:spPr>
          <a:xfrm>
            <a:off x="2047875" y="365224"/>
            <a:ext cx="49262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kern="0" spc="52" dirty="0">
                <a:solidFill>
                  <a:srgbClr val="1E8A4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Builder</a:t>
            </a:r>
            <a:endParaRPr lang="en-US" sz="1050" dirty="0"/>
          </a:p>
        </p:txBody>
      </p:sp>
      <p:sp>
        <p:nvSpPr>
          <p:cNvPr id="6" name="Shape 2"/>
          <p:cNvSpPr/>
          <p:nvPr/>
        </p:nvSpPr>
        <p:spPr>
          <a:xfrm>
            <a:off x="1838325" y="401836"/>
            <a:ext cx="123825" cy="1238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8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3"/>
          <p:cNvSpPr txBox="1"/>
          <p:nvPr/>
        </p:nvSpPr>
        <p:spPr>
          <a:xfrm>
            <a:off x="2989511" y="365224"/>
            <a:ext cx="49366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050" kern="0" spc="52" dirty="0">
                <a:solidFill>
                  <a:srgbClr val="8C61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Grower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2779961" y="401836"/>
            <a:ext cx="123825" cy="1238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68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 txBox="1"/>
          <p:nvPr/>
        </p:nvSpPr>
        <p:spPr>
          <a:xfrm>
            <a:off x="1790700" y="743248"/>
            <a:ext cx="5101590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ABOUT YOU (OPTIONAL, BUT HELPS THE OTHER SIDE DECIDE WHETHER TO REACH OUT)</a:t>
            </a:r>
            <a:endParaRPr lang="en-US" sz="825" dirty="0"/>
          </a:p>
        </p:txBody>
      </p:sp>
      <p:sp>
        <p:nvSpPr>
          <p:cNvPr id="10" name="Text 6"/>
          <p:cNvSpPr/>
          <p:nvPr/>
        </p:nvSpPr>
        <p:spPr>
          <a:xfrm>
            <a:off x="1790700" y="1125141"/>
            <a:ext cx="510159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</a:ln>
        </p:spPr>
        <p:txBody>
          <a:bodyPr wrap="square" lIns="142875" tIns="123825" rIns="142875" bIns="123825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8A948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 you're good at, what you're drawn to, anything worth knowing about your track record.</a:t>
            </a:r>
            <a:endParaRPr lang="en-US" sz="1125" dirty="0"/>
          </a:p>
        </p:txBody>
      </p:sp>
      <p:sp>
        <p:nvSpPr>
          <p:cNvPr id="11" name="Text 7"/>
          <p:cNvSpPr/>
          <p:nvPr/>
        </p:nvSpPr>
        <p:spPr>
          <a:xfrm>
            <a:off x="1790700" y="2376190"/>
            <a:ext cx="1405235" cy="371475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90500" tIns="114300" rIns="190500" bIns="11430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kern="0" spc="3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CREATE ACCOUNT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0" y="3700165"/>
            <a:ext cx="12192000" cy="1228725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9"/>
          <p:cNvSpPr/>
          <p:nvPr/>
        </p:nvSpPr>
        <p:spPr>
          <a:xfrm>
            <a:off x="0" y="3700165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1" descr="/home/claude/ex/01_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79" y="4052590"/>
            <a:ext cx="524042" cy="5334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209800" y="4099917"/>
            <a:ext cx="9864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2209800" y="4404717"/>
            <a:ext cx="11316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825" dirty="0"/>
          </a:p>
        </p:txBody>
      </p:sp>
      <p:sp>
        <p:nvSpPr>
          <p:cNvPr id="17" name="Text 12"/>
          <p:cNvSpPr/>
          <p:nvPr/>
        </p:nvSpPr>
        <p:spPr>
          <a:xfrm>
            <a:off x="4516785" y="4214515"/>
            <a:ext cx="215836" cy="209550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975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975" dirty="0"/>
          </a:p>
        </p:txBody>
      </p:sp>
      <p:sp>
        <p:nvSpPr>
          <p:cNvPr id="18" name="Text 13"/>
          <p:cNvSpPr txBox="1"/>
          <p:nvPr/>
        </p:nvSpPr>
        <p:spPr>
          <a:xfrm>
            <a:off x="4821585" y="4238030"/>
            <a:ext cx="123438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b="1" kern="0" spc="17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825" dirty="0"/>
          </a:p>
        </p:txBody>
      </p:sp>
      <p:sp>
        <p:nvSpPr>
          <p:cNvPr id="19" name="Text 14"/>
          <p:cNvSpPr txBox="1"/>
          <p:nvPr/>
        </p:nvSpPr>
        <p:spPr>
          <a:xfrm>
            <a:off x="6151215" y="4238030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20" name="Text 15"/>
          <p:cNvSpPr/>
          <p:nvPr/>
        </p:nvSpPr>
        <p:spPr>
          <a:xfrm>
            <a:off x="6309420" y="4228505"/>
            <a:ext cx="1188244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825" dirty="0"/>
          </a:p>
        </p:txBody>
      </p:sp>
      <p:sp>
        <p:nvSpPr>
          <p:cNvPr id="21" name="Shape 16"/>
          <p:cNvSpPr/>
          <p:nvPr/>
        </p:nvSpPr>
        <p:spPr>
          <a:xfrm>
            <a:off x="6309420" y="4409926"/>
            <a:ext cx="1188244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7"/>
          <p:cNvSpPr txBox="1"/>
          <p:nvPr/>
        </p:nvSpPr>
        <p:spPr>
          <a:xfrm>
            <a:off x="7592913" y="4238030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23" name="Text 18"/>
          <p:cNvSpPr/>
          <p:nvPr/>
        </p:nvSpPr>
        <p:spPr>
          <a:xfrm>
            <a:off x="7751118" y="4228505"/>
            <a:ext cx="924223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825" dirty="0"/>
          </a:p>
        </p:txBody>
      </p:sp>
      <p:sp>
        <p:nvSpPr>
          <p:cNvPr id="24" name="Shape 19"/>
          <p:cNvSpPr/>
          <p:nvPr/>
        </p:nvSpPr>
        <p:spPr>
          <a:xfrm>
            <a:off x="7751118" y="4409926"/>
            <a:ext cx="924223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0"/>
          <p:cNvSpPr txBox="1"/>
          <p:nvPr/>
        </p:nvSpPr>
        <p:spPr>
          <a:xfrm>
            <a:off x="9850636" y="4238030"/>
            <a:ext cx="81736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20077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76275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02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152400"/>
            <a:ext cx="361950" cy="36195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23900" y="185738"/>
            <a:ext cx="9864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pic>
        <p:nvPicPr>
          <p:cNvPr id="8" name="Image 2" descr="/home/claude/ex/02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6546" y="214136"/>
            <a:ext cx="247650" cy="23847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353746" y="178147"/>
            <a:ext cx="57388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8137178" y="178147"/>
            <a:ext cx="861864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9208591" y="178147"/>
            <a:ext cx="78983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0207972" y="178147"/>
            <a:ext cx="717947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IN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1135469" y="178147"/>
            <a:ext cx="78983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SIGN UP</a:t>
            </a:r>
            <a:endParaRPr lang="en-US" sz="900" dirty="0"/>
          </a:p>
        </p:txBody>
      </p:sp>
      <p:sp>
        <p:nvSpPr>
          <p:cNvPr id="14" name="Text 8"/>
          <p:cNvSpPr txBox="1"/>
          <p:nvPr/>
        </p:nvSpPr>
        <p:spPr>
          <a:xfrm>
            <a:off x="1790700" y="1123950"/>
            <a:ext cx="432197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790700" y="1491555"/>
            <a:ext cx="8610600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2"/>
              </a:lnSpc>
              <a:buNone/>
            </a:pPr>
            <a:r>
              <a:rPr lang="en-US" sz="3150" b="1" kern="0" spc="-32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Log in</a:t>
            </a:r>
            <a:endParaRPr lang="en-US" sz="3150" dirty="0"/>
          </a:p>
        </p:txBody>
      </p:sp>
      <p:sp>
        <p:nvSpPr>
          <p:cNvPr id="16" name="Text 10"/>
          <p:cNvSpPr txBox="1"/>
          <p:nvPr/>
        </p:nvSpPr>
        <p:spPr>
          <a:xfrm>
            <a:off x="1790700" y="2114104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</a:t>
            </a:r>
            <a:endParaRPr lang="en-US" sz="825" dirty="0"/>
          </a:p>
        </p:txBody>
      </p:sp>
      <p:sp>
        <p:nvSpPr>
          <p:cNvPr id="17" name="Shape 11"/>
          <p:cNvSpPr/>
          <p:nvPr/>
        </p:nvSpPr>
        <p:spPr>
          <a:xfrm>
            <a:off x="1790700" y="2333625"/>
            <a:ext cx="49530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2"/>
          <p:cNvSpPr txBox="1"/>
          <p:nvPr/>
        </p:nvSpPr>
        <p:spPr>
          <a:xfrm>
            <a:off x="1790700" y="2876550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PASSWORD</a:t>
            </a:r>
            <a:endParaRPr lang="en-US" sz="825" dirty="0"/>
          </a:p>
        </p:txBody>
      </p:sp>
      <p:sp>
        <p:nvSpPr>
          <p:cNvPr id="19" name="Shape 13"/>
          <p:cNvSpPr/>
          <p:nvPr/>
        </p:nvSpPr>
        <p:spPr>
          <a:xfrm>
            <a:off x="1790700" y="3096071"/>
            <a:ext cx="49530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4"/>
          <p:cNvSpPr/>
          <p:nvPr/>
        </p:nvSpPr>
        <p:spPr>
          <a:xfrm>
            <a:off x="1790700" y="3638996"/>
            <a:ext cx="820043" cy="371475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90500" tIns="114300" rIns="190500" bIns="11430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kern="0" spc="3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IN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0" y="4962971"/>
            <a:ext cx="12192000" cy="1228725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16"/>
          <p:cNvSpPr/>
          <p:nvPr/>
        </p:nvSpPr>
        <p:spPr>
          <a:xfrm>
            <a:off x="0" y="4962971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3" name="Image 3" descr="/home/claude/ex/02_img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8679" y="5315396"/>
            <a:ext cx="524042" cy="5334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2209800" y="5362724"/>
            <a:ext cx="9864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2209800" y="5667524"/>
            <a:ext cx="11316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825" dirty="0"/>
          </a:p>
        </p:txBody>
      </p:sp>
      <p:sp>
        <p:nvSpPr>
          <p:cNvPr id="26" name="Text 19"/>
          <p:cNvSpPr/>
          <p:nvPr/>
        </p:nvSpPr>
        <p:spPr>
          <a:xfrm>
            <a:off x="4516785" y="5477321"/>
            <a:ext cx="215836" cy="209550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975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975" dirty="0"/>
          </a:p>
        </p:txBody>
      </p:sp>
      <p:sp>
        <p:nvSpPr>
          <p:cNvPr id="27" name="Text 20"/>
          <p:cNvSpPr txBox="1"/>
          <p:nvPr/>
        </p:nvSpPr>
        <p:spPr>
          <a:xfrm>
            <a:off x="4821585" y="5500836"/>
            <a:ext cx="123438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b="1" kern="0" spc="17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825" dirty="0"/>
          </a:p>
        </p:txBody>
      </p:sp>
      <p:sp>
        <p:nvSpPr>
          <p:cNvPr id="28" name="Text 21"/>
          <p:cNvSpPr txBox="1"/>
          <p:nvPr/>
        </p:nvSpPr>
        <p:spPr>
          <a:xfrm>
            <a:off x="6151215" y="5500836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29" name="Text 22"/>
          <p:cNvSpPr/>
          <p:nvPr/>
        </p:nvSpPr>
        <p:spPr>
          <a:xfrm>
            <a:off x="6309420" y="5491311"/>
            <a:ext cx="1188244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825" dirty="0"/>
          </a:p>
        </p:txBody>
      </p:sp>
      <p:sp>
        <p:nvSpPr>
          <p:cNvPr id="30" name="Shape 23"/>
          <p:cNvSpPr/>
          <p:nvPr/>
        </p:nvSpPr>
        <p:spPr>
          <a:xfrm>
            <a:off x="6309420" y="5672733"/>
            <a:ext cx="1188244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4"/>
          <p:cNvSpPr txBox="1"/>
          <p:nvPr/>
        </p:nvSpPr>
        <p:spPr>
          <a:xfrm>
            <a:off x="7592913" y="5500836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32" name="Text 25"/>
          <p:cNvSpPr/>
          <p:nvPr/>
        </p:nvSpPr>
        <p:spPr>
          <a:xfrm>
            <a:off x="7751118" y="5491311"/>
            <a:ext cx="924223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825" dirty="0"/>
          </a:p>
        </p:txBody>
      </p:sp>
      <p:sp>
        <p:nvSpPr>
          <p:cNvPr id="33" name="Shape 26"/>
          <p:cNvSpPr/>
          <p:nvPr/>
        </p:nvSpPr>
        <p:spPr>
          <a:xfrm>
            <a:off x="7751118" y="5672733"/>
            <a:ext cx="924223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27"/>
          <p:cNvSpPr txBox="1"/>
          <p:nvPr/>
        </p:nvSpPr>
        <p:spPr>
          <a:xfrm>
            <a:off x="9850636" y="5500836"/>
            <a:ext cx="81736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4389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76275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03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152400"/>
            <a:ext cx="361950" cy="36195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23900" y="185738"/>
            <a:ext cx="9864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pic>
        <p:nvPicPr>
          <p:cNvPr id="8" name="Image 2" descr="/home/claude/ex/03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950" y="214136"/>
            <a:ext cx="247650" cy="23847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80150" y="178147"/>
            <a:ext cx="57388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7463582" y="178147"/>
            <a:ext cx="861864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8534995" y="178147"/>
            <a:ext cx="78983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9534376" y="254347"/>
            <a:ext cx="72017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0273605" y="251966"/>
            <a:ext cx="152400" cy="152400"/>
          </a:xfrm>
          <a:prstGeom prst="ellipse">
            <a:avLst/>
          </a:prstGeom>
          <a:solidFill>
            <a:srgbClr val="E0632E"/>
          </a:solidFill>
          <a:ln/>
        </p:spPr>
        <p:txBody>
          <a:bodyPr wrap="none" lIns="38100" tIns="0" rIns="38100" bIns="0" rtlCol="0" anchor="ctr"/>
          <a:lstStyle/>
          <a:p>
            <a:pPr marL="0" indent="0" algn="ctr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8"/>
          <p:cNvSpPr txBox="1"/>
          <p:nvPr/>
        </p:nvSpPr>
        <p:spPr>
          <a:xfrm>
            <a:off x="10635555" y="244822"/>
            <a:ext cx="576114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SETTINGS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1421219" y="244822"/>
            <a:ext cx="504081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OUT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1790700" y="1123950"/>
            <a:ext cx="432197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790700" y="1491555"/>
            <a:ext cx="8610600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2"/>
              </a:lnSpc>
              <a:buNone/>
            </a:pPr>
            <a:r>
              <a:rPr lang="en-US" sz="3150" b="1" kern="0" spc="-32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Welcome, Paul J</a:t>
            </a:r>
            <a:endParaRPr lang="en-US" sz="3150" dirty="0"/>
          </a:p>
        </p:txBody>
      </p:sp>
      <p:sp>
        <p:nvSpPr>
          <p:cNvPr id="18" name="Text 12"/>
          <p:cNvSpPr txBox="1"/>
          <p:nvPr/>
        </p:nvSpPr>
        <p:spPr>
          <a:xfrm>
            <a:off x="1790700" y="2304604"/>
            <a:ext cx="8610600" cy="324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Needs your attention</a:t>
            </a:r>
            <a:endParaRPr lang="en-US" sz="1650" dirty="0"/>
          </a:p>
        </p:txBody>
      </p:sp>
      <p:sp>
        <p:nvSpPr>
          <p:cNvPr id="19" name="Shape 13"/>
          <p:cNvSpPr/>
          <p:nvPr/>
        </p:nvSpPr>
        <p:spPr>
          <a:xfrm>
            <a:off x="1790700" y="2781746"/>
            <a:ext cx="8610600" cy="1821954"/>
          </a:xfrm>
          <a:prstGeom prst="rect">
            <a:avLst/>
          </a:prstGeom>
          <a:solidFill>
            <a:srgbClr val="DBDED0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4"/>
          <p:cNvSpPr/>
          <p:nvPr/>
        </p:nvSpPr>
        <p:spPr>
          <a:xfrm>
            <a:off x="1800225" y="2791271"/>
            <a:ext cx="8591550" cy="8533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5"/>
          <p:cNvSpPr txBox="1"/>
          <p:nvPr/>
        </p:nvSpPr>
        <p:spPr>
          <a:xfrm>
            <a:off x="1990725" y="3067496"/>
            <a:ext cx="122589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8C61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CONNECTION REQUEST</a:t>
            </a:r>
            <a:endParaRPr lang="en-US" sz="825" dirty="0"/>
          </a:p>
        </p:txBody>
      </p:sp>
      <p:sp>
        <p:nvSpPr>
          <p:cNvPr id="22" name="Text 16"/>
          <p:cNvSpPr txBox="1"/>
          <p:nvPr/>
        </p:nvSpPr>
        <p:spPr>
          <a:xfrm>
            <a:off x="1990725" y="3232696"/>
            <a:ext cx="8210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 run growth for three word-game apps and think FlipAll5 could do well on TikTok.</a:t>
            </a:r>
            <a:endParaRPr lang="en-US" sz="1125" dirty="0"/>
          </a:p>
        </p:txBody>
      </p:sp>
      <p:sp>
        <p:nvSpPr>
          <p:cNvPr id="23" name="Shape 17"/>
          <p:cNvSpPr/>
          <p:nvPr/>
        </p:nvSpPr>
        <p:spPr>
          <a:xfrm>
            <a:off x="1800225" y="3654177"/>
            <a:ext cx="8591550" cy="9399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 txBox="1"/>
          <p:nvPr/>
        </p:nvSpPr>
        <p:spPr>
          <a:xfrm>
            <a:off x="1990725" y="3930402"/>
            <a:ext cx="122589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1E8A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FORMALISE PROPOSED</a:t>
            </a:r>
            <a:endParaRPr lang="en-US" sz="825" dirty="0"/>
          </a:p>
        </p:txBody>
      </p:sp>
      <p:sp>
        <p:nvSpPr>
          <p:cNvPr id="25" name="Text 19"/>
          <p:cNvSpPr txBox="1"/>
          <p:nvPr/>
        </p:nvSpPr>
        <p:spPr>
          <a:xfrm>
            <a:off x="1990725" y="4095601"/>
            <a:ext cx="821055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FlipAll5</a:t>
            </a:r>
            <a:endParaRPr lang="en-US" sz="1275" dirty="0"/>
          </a:p>
        </p:txBody>
      </p:sp>
      <p:sp>
        <p:nvSpPr>
          <p:cNvPr id="26" name="Text 20"/>
          <p:cNvSpPr txBox="1"/>
          <p:nvPr/>
        </p:nvSpPr>
        <p:spPr>
          <a:xfrm>
            <a:off x="1790700" y="4984700"/>
            <a:ext cx="8610600" cy="324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Your listings</a:t>
            </a:r>
            <a:endParaRPr lang="en-US" sz="1650" dirty="0"/>
          </a:p>
        </p:txBody>
      </p:sp>
      <p:sp>
        <p:nvSpPr>
          <p:cNvPr id="27" name="Text 21"/>
          <p:cNvSpPr/>
          <p:nvPr/>
        </p:nvSpPr>
        <p:spPr>
          <a:xfrm>
            <a:off x="1790700" y="5461843"/>
            <a:ext cx="1185714" cy="371475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90500" tIns="114300" rIns="190500" bIns="11430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kern="0" spc="3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NEW LISTING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1790700" y="5985718"/>
            <a:ext cx="8610600" cy="453182"/>
          </a:xfrm>
          <a:prstGeom prst="rect">
            <a:avLst/>
          </a:prstGeom>
          <a:solidFill>
            <a:srgbClr val="DBDED0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3"/>
          <p:cNvSpPr/>
          <p:nvPr/>
        </p:nvSpPr>
        <p:spPr>
          <a:xfrm>
            <a:off x="1800225" y="5995243"/>
            <a:ext cx="8591550" cy="44365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4"/>
          <p:cNvSpPr txBox="1"/>
          <p:nvPr/>
        </p:nvSpPr>
        <p:spPr>
          <a:xfrm>
            <a:off x="1990725" y="6185743"/>
            <a:ext cx="821055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FlipAll5</a:t>
            </a:r>
            <a:endParaRPr lang="en-US" sz="12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DEC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41032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790700" y="0"/>
            <a:ext cx="8610600" cy="1455390"/>
          </a:xfrm>
          <a:prstGeom prst="rect">
            <a:avLst/>
          </a:prstGeom>
          <a:solidFill>
            <a:srgbClr val="DBDED0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1800225" y="0"/>
            <a:ext cx="8591550" cy="49634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2"/>
          <p:cNvSpPr txBox="1"/>
          <p:nvPr/>
        </p:nvSpPr>
        <p:spPr>
          <a:xfrm>
            <a:off x="1990725" y="83493"/>
            <a:ext cx="80635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Edit listing</a:t>
            </a:r>
            <a:endParaRPr lang="en-US" sz="1275" dirty="0"/>
          </a:p>
        </p:txBody>
      </p:sp>
      <p:sp>
        <p:nvSpPr>
          <p:cNvPr id="7" name="Shape 3"/>
          <p:cNvSpPr/>
          <p:nvPr/>
        </p:nvSpPr>
        <p:spPr>
          <a:xfrm>
            <a:off x="1800225" y="505867"/>
            <a:ext cx="8591550" cy="9399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 txBox="1"/>
          <p:nvPr/>
        </p:nvSpPr>
        <p:spPr>
          <a:xfrm>
            <a:off x="1990725" y="696367"/>
            <a:ext cx="821055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TideLog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1990725" y="1033016"/>
            <a:ext cx="80635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Edit listing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1790700" y="1836390"/>
            <a:ext cx="8610600" cy="324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CrescoPacts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1790700" y="2313533"/>
            <a:ext cx="8610600" cy="1908572"/>
          </a:xfrm>
          <a:prstGeom prst="rect">
            <a:avLst/>
          </a:prstGeom>
          <a:solidFill>
            <a:srgbClr val="DBDED0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8"/>
          <p:cNvSpPr/>
          <p:nvPr/>
        </p:nvSpPr>
        <p:spPr>
          <a:xfrm>
            <a:off x="1800225" y="2323058"/>
            <a:ext cx="8591550" cy="9399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9"/>
          <p:cNvSpPr txBox="1"/>
          <p:nvPr/>
        </p:nvSpPr>
        <p:spPr>
          <a:xfrm>
            <a:off x="1990725" y="2599283"/>
            <a:ext cx="68103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1E8A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FORMALISED</a:t>
            </a:r>
            <a:endParaRPr lang="en-US" sz="825" dirty="0"/>
          </a:p>
        </p:txBody>
      </p:sp>
      <p:sp>
        <p:nvSpPr>
          <p:cNvPr id="14" name="Text 10"/>
          <p:cNvSpPr txBox="1"/>
          <p:nvPr/>
        </p:nvSpPr>
        <p:spPr>
          <a:xfrm>
            <a:off x="1990725" y="2764482"/>
            <a:ext cx="821055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FlipAll5</a:t>
            </a:r>
            <a:endParaRPr lang="en-US" sz="1275" dirty="0"/>
          </a:p>
        </p:txBody>
      </p:sp>
      <p:sp>
        <p:nvSpPr>
          <p:cNvPr id="15" name="Shape 11"/>
          <p:cNvSpPr/>
          <p:nvPr/>
        </p:nvSpPr>
        <p:spPr>
          <a:xfrm>
            <a:off x="1800225" y="3272582"/>
            <a:ext cx="8591550" cy="9399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 txBox="1"/>
          <p:nvPr/>
        </p:nvSpPr>
        <p:spPr>
          <a:xfrm>
            <a:off x="1990725" y="3548807"/>
            <a:ext cx="34051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TRIAL</a:t>
            </a:r>
            <a:endParaRPr lang="en-US" sz="825" dirty="0"/>
          </a:p>
        </p:txBody>
      </p:sp>
      <p:sp>
        <p:nvSpPr>
          <p:cNvPr id="17" name="Text 13"/>
          <p:cNvSpPr txBox="1"/>
          <p:nvPr/>
        </p:nvSpPr>
        <p:spPr>
          <a:xfrm>
            <a:off x="1990725" y="3714006"/>
            <a:ext cx="821055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TideLog</a:t>
            </a:r>
            <a:endParaRPr lang="en-US" sz="1275" dirty="0"/>
          </a:p>
        </p:txBody>
      </p:sp>
      <p:sp>
        <p:nvSpPr>
          <p:cNvPr id="18" name="Shape 14"/>
          <p:cNvSpPr/>
          <p:nvPr/>
        </p:nvSpPr>
        <p:spPr>
          <a:xfrm>
            <a:off x="0" y="5174605"/>
            <a:ext cx="12192000" cy="1228725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0" y="5174605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Image 1" descr="/home/claude/ex/03_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79" y="5527030"/>
            <a:ext cx="524042" cy="5334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2209800" y="5574357"/>
            <a:ext cx="9864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2209800" y="5879157"/>
            <a:ext cx="11316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825" dirty="0"/>
          </a:p>
        </p:txBody>
      </p:sp>
      <p:sp>
        <p:nvSpPr>
          <p:cNvPr id="23" name="Text 18"/>
          <p:cNvSpPr/>
          <p:nvPr/>
        </p:nvSpPr>
        <p:spPr>
          <a:xfrm>
            <a:off x="4516785" y="5688955"/>
            <a:ext cx="215836" cy="209550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975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975" dirty="0"/>
          </a:p>
        </p:txBody>
      </p:sp>
      <p:sp>
        <p:nvSpPr>
          <p:cNvPr id="24" name="Text 19"/>
          <p:cNvSpPr txBox="1"/>
          <p:nvPr/>
        </p:nvSpPr>
        <p:spPr>
          <a:xfrm>
            <a:off x="4821585" y="5712470"/>
            <a:ext cx="123438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b="1" kern="0" spc="17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825" dirty="0"/>
          </a:p>
        </p:txBody>
      </p:sp>
      <p:sp>
        <p:nvSpPr>
          <p:cNvPr id="25" name="Text 20"/>
          <p:cNvSpPr txBox="1"/>
          <p:nvPr/>
        </p:nvSpPr>
        <p:spPr>
          <a:xfrm>
            <a:off x="6151215" y="5712470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26" name="Text 21"/>
          <p:cNvSpPr/>
          <p:nvPr/>
        </p:nvSpPr>
        <p:spPr>
          <a:xfrm>
            <a:off x="6309420" y="5702945"/>
            <a:ext cx="1188244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825" dirty="0"/>
          </a:p>
        </p:txBody>
      </p:sp>
      <p:sp>
        <p:nvSpPr>
          <p:cNvPr id="27" name="Shape 22"/>
          <p:cNvSpPr/>
          <p:nvPr/>
        </p:nvSpPr>
        <p:spPr>
          <a:xfrm>
            <a:off x="6309420" y="5884366"/>
            <a:ext cx="1188244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3"/>
          <p:cNvSpPr txBox="1"/>
          <p:nvPr/>
        </p:nvSpPr>
        <p:spPr>
          <a:xfrm>
            <a:off x="7592913" y="5712470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29" name="Text 24"/>
          <p:cNvSpPr/>
          <p:nvPr/>
        </p:nvSpPr>
        <p:spPr>
          <a:xfrm>
            <a:off x="7751118" y="5702945"/>
            <a:ext cx="924223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825" dirty="0"/>
          </a:p>
        </p:txBody>
      </p:sp>
      <p:sp>
        <p:nvSpPr>
          <p:cNvPr id="30" name="Shape 25"/>
          <p:cNvSpPr/>
          <p:nvPr/>
        </p:nvSpPr>
        <p:spPr>
          <a:xfrm>
            <a:off x="7751118" y="5884366"/>
            <a:ext cx="924223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 txBox="1"/>
          <p:nvPr/>
        </p:nvSpPr>
        <p:spPr>
          <a:xfrm>
            <a:off x="9850636" y="5712470"/>
            <a:ext cx="81736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948" y="0"/>
            <a:ext cx="10538103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26948" y="0"/>
            <a:ext cx="10538103" cy="584535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826948" y="584535"/>
            <a:ext cx="10538103" cy="0"/>
          </a:xfrm>
          <a:prstGeom prst="line">
            <a:avLst/>
          </a:prstGeom>
          <a:noFill/>
          <a:ln w="825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04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469" y="131726"/>
            <a:ext cx="312850" cy="31285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452648" y="160541"/>
            <a:ext cx="852619" cy="255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10"/>
              </a:lnSpc>
              <a:buNone/>
            </a:pPr>
            <a:r>
              <a:rPr lang="en-US" sz="1297" b="1" kern="0" spc="13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297" dirty="0"/>
          </a:p>
        </p:txBody>
      </p:sp>
      <p:pic>
        <p:nvPicPr>
          <p:cNvPr id="8" name="Image 2" descr="/home/claude/ex/04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5729" y="185088"/>
            <a:ext cx="214055" cy="20612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00908" y="153981"/>
            <a:ext cx="496032" cy="268341"/>
          </a:xfrm>
          <a:prstGeom prst="rect">
            <a:avLst/>
          </a:prstGeom>
          <a:ln w="8255">
            <a:solidFill>
              <a:srgbClr val="48533F"/>
            </a:solidFill>
          </a:ln>
        </p:spPr>
        <p:txBody>
          <a:bodyPr wrap="none" lIns="123444" tIns="57658" rIns="123444" bIns="57658" rtlCol="0" anchor="t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778" b="1" kern="0" spc="2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778" dirty="0"/>
          </a:p>
        </p:txBody>
      </p:sp>
      <p:sp>
        <p:nvSpPr>
          <p:cNvPr id="10" name="Text 4"/>
          <p:cNvSpPr/>
          <p:nvPr/>
        </p:nvSpPr>
        <p:spPr>
          <a:xfrm>
            <a:off x="7278063" y="153981"/>
            <a:ext cx="744948" cy="268341"/>
          </a:xfrm>
          <a:prstGeom prst="rect">
            <a:avLst/>
          </a:prstGeom>
          <a:ln w="8255">
            <a:solidFill>
              <a:srgbClr val="48533F"/>
            </a:solidFill>
          </a:ln>
        </p:spPr>
        <p:txBody>
          <a:bodyPr wrap="none" lIns="123444" tIns="57658" rIns="123444" bIns="57658" rtlCol="0" anchor="t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778" b="1" kern="0" spc="2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778" dirty="0"/>
          </a:p>
        </p:txBody>
      </p:sp>
      <p:sp>
        <p:nvSpPr>
          <p:cNvPr id="11" name="Text 5"/>
          <p:cNvSpPr/>
          <p:nvPr/>
        </p:nvSpPr>
        <p:spPr>
          <a:xfrm>
            <a:off x="8204135" y="153981"/>
            <a:ext cx="682687" cy="268341"/>
          </a:xfrm>
          <a:prstGeom prst="rect">
            <a:avLst/>
          </a:prstGeom>
          <a:ln w="8255">
            <a:solidFill>
              <a:srgbClr val="48533F"/>
            </a:solidFill>
          </a:ln>
        </p:spPr>
        <p:txBody>
          <a:bodyPr wrap="none" lIns="123444" tIns="57658" rIns="123444" bIns="57658" rtlCol="0" anchor="t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778" b="1" kern="0" spc="2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778" dirty="0"/>
          </a:p>
        </p:txBody>
      </p:sp>
      <p:sp>
        <p:nvSpPr>
          <p:cNvPr id="12" name="Text 6"/>
          <p:cNvSpPr txBox="1"/>
          <p:nvPr/>
        </p:nvSpPr>
        <p:spPr>
          <a:xfrm>
            <a:off x="9067946" y="219844"/>
            <a:ext cx="622484" cy="1234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11"/>
              </a:lnSpc>
              <a:buNone/>
            </a:pPr>
            <a:r>
              <a:rPr lang="en-US" sz="778" kern="0" spc="2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778" dirty="0"/>
          </a:p>
        </p:txBody>
      </p:sp>
      <p:sp>
        <p:nvSpPr>
          <p:cNvPr id="13" name="Text 7"/>
          <p:cNvSpPr/>
          <p:nvPr/>
        </p:nvSpPr>
        <p:spPr>
          <a:xfrm>
            <a:off x="9706895" y="217786"/>
            <a:ext cx="131726" cy="131726"/>
          </a:xfrm>
          <a:prstGeom prst="ellipse">
            <a:avLst/>
          </a:prstGeom>
          <a:solidFill>
            <a:srgbClr val="E0632E"/>
          </a:solidFill>
          <a:ln/>
        </p:spPr>
        <p:txBody>
          <a:bodyPr wrap="none" lIns="32893" tIns="0" rIns="32893" bIns="0" rtlCol="0" anchor="ctr"/>
          <a:lstStyle/>
          <a:p>
            <a:pPr marL="0" indent="0" algn="ctr">
              <a:lnSpc>
                <a:spcPts val="1005"/>
              </a:lnSpc>
              <a:buNone/>
            </a:pPr>
            <a:r>
              <a:rPr lang="en-US" sz="648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648" dirty="0"/>
          </a:p>
        </p:txBody>
      </p:sp>
      <p:sp>
        <p:nvSpPr>
          <p:cNvPr id="14" name="Text 8"/>
          <p:cNvSpPr txBox="1"/>
          <p:nvPr/>
        </p:nvSpPr>
        <p:spPr>
          <a:xfrm>
            <a:off x="10019745" y="211611"/>
            <a:ext cx="497961" cy="15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778" kern="0" spc="2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SETTINGS</a:t>
            </a:r>
            <a:endParaRPr lang="en-US" sz="778" dirty="0"/>
          </a:p>
        </p:txBody>
      </p:sp>
      <p:sp>
        <p:nvSpPr>
          <p:cNvPr id="15" name="Text 9"/>
          <p:cNvSpPr txBox="1"/>
          <p:nvPr/>
        </p:nvSpPr>
        <p:spPr>
          <a:xfrm>
            <a:off x="10698830" y="211611"/>
            <a:ext cx="435700" cy="15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778" kern="0" spc="2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OUT</a:t>
            </a:r>
            <a:endParaRPr lang="en-US" sz="778" dirty="0"/>
          </a:p>
        </p:txBody>
      </p:sp>
      <p:sp>
        <p:nvSpPr>
          <p:cNvPr id="16" name="Text 10"/>
          <p:cNvSpPr txBox="1"/>
          <p:nvPr/>
        </p:nvSpPr>
        <p:spPr>
          <a:xfrm>
            <a:off x="2374732" y="971481"/>
            <a:ext cx="373568" cy="15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778" kern="0" spc="2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778" dirty="0"/>
          </a:p>
        </p:txBody>
      </p:sp>
      <p:sp>
        <p:nvSpPr>
          <p:cNvPr id="17" name="Text 11"/>
          <p:cNvSpPr txBox="1"/>
          <p:nvPr/>
        </p:nvSpPr>
        <p:spPr>
          <a:xfrm>
            <a:off x="2374732" y="1289220"/>
            <a:ext cx="7442535" cy="373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41"/>
              </a:lnSpc>
              <a:buNone/>
            </a:pPr>
            <a:r>
              <a:rPr lang="en-US" sz="2723" b="1" kern="0" spc="-27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Welcome, Sam Rivers</a:t>
            </a:r>
            <a:endParaRPr lang="en-US" sz="2723" dirty="0"/>
          </a:p>
        </p:txBody>
      </p:sp>
      <p:sp>
        <p:nvSpPr>
          <p:cNvPr id="18" name="Text 12"/>
          <p:cNvSpPr txBox="1"/>
          <p:nvPr/>
        </p:nvSpPr>
        <p:spPr>
          <a:xfrm>
            <a:off x="2374732" y="1991974"/>
            <a:ext cx="7442535" cy="280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11"/>
              </a:lnSpc>
              <a:buNone/>
            </a:pPr>
            <a:r>
              <a:rPr lang="en-US" sz="1426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CrescoPacts</a:t>
            </a:r>
            <a:endParaRPr lang="en-US" sz="1426" dirty="0"/>
          </a:p>
        </p:txBody>
      </p:sp>
      <p:sp>
        <p:nvSpPr>
          <p:cNvPr id="19" name="Shape 13"/>
          <p:cNvSpPr/>
          <p:nvPr/>
        </p:nvSpPr>
        <p:spPr>
          <a:xfrm>
            <a:off x="2374732" y="2404391"/>
            <a:ext cx="7442535" cy="828949"/>
          </a:xfrm>
          <a:prstGeom prst="rect">
            <a:avLst/>
          </a:prstGeom>
          <a:solidFill>
            <a:srgbClr val="DBDED0"/>
          </a:solidFill>
          <a:ln w="825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4"/>
          <p:cNvSpPr/>
          <p:nvPr/>
        </p:nvSpPr>
        <p:spPr>
          <a:xfrm>
            <a:off x="2382965" y="2412624"/>
            <a:ext cx="7426070" cy="8124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5"/>
          <p:cNvSpPr txBox="1"/>
          <p:nvPr/>
        </p:nvSpPr>
        <p:spPr>
          <a:xfrm>
            <a:off x="2547623" y="2651378"/>
            <a:ext cx="588652" cy="115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713" kern="0" spc="36" dirty="0">
                <a:solidFill>
                  <a:srgbClr val="1E8A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FORMALISED</a:t>
            </a:r>
            <a:endParaRPr lang="en-US" sz="713" dirty="0"/>
          </a:p>
        </p:txBody>
      </p:sp>
      <p:sp>
        <p:nvSpPr>
          <p:cNvPr id="22" name="Text 16"/>
          <p:cNvSpPr txBox="1"/>
          <p:nvPr/>
        </p:nvSpPr>
        <p:spPr>
          <a:xfrm>
            <a:off x="2547623" y="2794167"/>
            <a:ext cx="7096754" cy="216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8"/>
              </a:lnSpc>
              <a:buNone/>
            </a:pPr>
            <a:r>
              <a:rPr lang="en-US" sz="1102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FlipAll5</a:t>
            </a:r>
            <a:endParaRPr lang="en-US" sz="1102" dirty="0"/>
          </a:p>
        </p:txBody>
      </p:sp>
      <p:sp>
        <p:nvSpPr>
          <p:cNvPr id="23" name="Text 17"/>
          <p:cNvSpPr txBox="1"/>
          <p:nvPr/>
        </p:nvSpPr>
        <p:spPr>
          <a:xfrm>
            <a:off x="2374732" y="3562656"/>
            <a:ext cx="7442535" cy="280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11"/>
              </a:lnSpc>
              <a:buNone/>
            </a:pPr>
            <a:r>
              <a:rPr lang="en-US" sz="1426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Connection requests you've sent</a:t>
            </a:r>
            <a:endParaRPr lang="en-US" sz="1426" dirty="0"/>
          </a:p>
        </p:txBody>
      </p:sp>
      <p:sp>
        <p:nvSpPr>
          <p:cNvPr id="24" name="Shape 18"/>
          <p:cNvSpPr/>
          <p:nvPr/>
        </p:nvSpPr>
        <p:spPr>
          <a:xfrm>
            <a:off x="2374732" y="3975072"/>
            <a:ext cx="7442535" cy="994894"/>
          </a:xfrm>
          <a:prstGeom prst="rect">
            <a:avLst/>
          </a:prstGeom>
          <a:solidFill>
            <a:srgbClr val="DBDED0"/>
          </a:solidFill>
          <a:ln w="825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19"/>
          <p:cNvSpPr/>
          <p:nvPr/>
        </p:nvSpPr>
        <p:spPr>
          <a:xfrm>
            <a:off x="2382965" y="3983305"/>
            <a:ext cx="7426070" cy="9784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0"/>
          <p:cNvSpPr txBox="1"/>
          <p:nvPr/>
        </p:nvSpPr>
        <p:spPr>
          <a:xfrm>
            <a:off x="2547623" y="4147963"/>
            <a:ext cx="7096754" cy="216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8"/>
              </a:lnSpc>
              <a:buNone/>
            </a:pPr>
            <a:r>
              <a:rPr lang="en-US" sz="1102" b="1" dirty="0">
                <a:solidFill>
                  <a:srgbClr val="8C61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rejected</a:t>
            </a:r>
            <a:endParaRPr lang="en-US" sz="1102" dirty="0"/>
          </a:p>
        </p:txBody>
      </p:sp>
      <p:sp>
        <p:nvSpPr>
          <p:cNvPr id="27" name="Text 21"/>
          <p:cNvSpPr txBox="1"/>
          <p:nvPr/>
        </p:nvSpPr>
        <p:spPr>
          <a:xfrm>
            <a:off x="2547623" y="4414246"/>
            <a:ext cx="7096754" cy="191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7"/>
              </a:lnSpc>
              <a:buNone/>
            </a:pPr>
            <a:r>
              <a:rPr lang="en-US" sz="972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 run growth for three word-game apps and think FlipAll5 could do well on TikTok.</a:t>
            </a:r>
            <a:endParaRPr lang="en-US" sz="972" dirty="0"/>
          </a:p>
        </p:txBody>
      </p:sp>
      <p:sp>
        <p:nvSpPr>
          <p:cNvPr id="28" name="Text 22"/>
          <p:cNvSpPr txBox="1"/>
          <p:nvPr/>
        </p:nvSpPr>
        <p:spPr>
          <a:xfrm>
            <a:off x="2547623" y="4605661"/>
            <a:ext cx="7096754" cy="191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7"/>
              </a:lnSpc>
              <a:buNone/>
            </a:pPr>
            <a:r>
              <a:rPr lang="en-US" sz="972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Reason: Not looking for partners right now</a:t>
            </a:r>
            <a:endParaRPr lang="en-US" sz="972" dirty="0"/>
          </a:p>
        </p:txBody>
      </p:sp>
      <p:sp>
        <p:nvSpPr>
          <p:cNvPr id="29" name="Shape 23"/>
          <p:cNvSpPr/>
          <p:nvPr/>
        </p:nvSpPr>
        <p:spPr>
          <a:xfrm>
            <a:off x="826948" y="5793255"/>
            <a:ext cx="10538103" cy="1062043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4"/>
          <p:cNvSpPr/>
          <p:nvPr/>
        </p:nvSpPr>
        <p:spPr>
          <a:xfrm>
            <a:off x="826948" y="5793255"/>
            <a:ext cx="10538103" cy="0"/>
          </a:xfrm>
          <a:prstGeom prst="line">
            <a:avLst/>
          </a:prstGeom>
          <a:noFill/>
          <a:ln w="825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1" name="Image 3" descr="/home/claude/ex/04_img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8255" y="6097872"/>
            <a:ext cx="452953" cy="46104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2736980" y="6138780"/>
            <a:ext cx="852619" cy="205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10"/>
              </a:lnSpc>
              <a:buNone/>
            </a:pPr>
            <a:r>
              <a:rPr lang="en-US" sz="1297" b="1" kern="0" spc="13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297" dirty="0"/>
          </a:p>
        </p:txBody>
      </p:sp>
      <p:sp>
        <p:nvSpPr>
          <p:cNvPr id="33" name="Text 26"/>
          <p:cNvSpPr txBox="1"/>
          <p:nvPr/>
        </p:nvSpPr>
        <p:spPr>
          <a:xfrm>
            <a:off x="2736980" y="6402232"/>
            <a:ext cx="978171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71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713" dirty="0"/>
          </a:p>
        </p:txBody>
      </p:sp>
      <p:sp>
        <p:nvSpPr>
          <p:cNvPr id="34" name="Text 27"/>
          <p:cNvSpPr/>
          <p:nvPr/>
        </p:nvSpPr>
        <p:spPr>
          <a:xfrm>
            <a:off x="4731012" y="6237832"/>
            <a:ext cx="186557" cy="181124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43"/>
              </a:lnSpc>
              <a:buNone/>
            </a:pPr>
            <a:r>
              <a:rPr lang="en-US" sz="843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843" dirty="0"/>
          </a:p>
        </p:txBody>
      </p:sp>
      <p:sp>
        <p:nvSpPr>
          <p:cNvPr id="35" name="Text 28"/>
          <p:cNvSpPr txBox="1"/>
          <p:nvPr/>
        </p:nvSpPr>
        <p:spPr>
          <a:xfrm>
            <a:off x="4994465" y="6258157"/>
            <a:ext cx="1066931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713" b="1" kern="0" spc="14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713" dirty="0"/>
          </a:p>
        </p:txBody>
      </p:sp>
      <p:sp>
        <p:nvSpPr>
          <p:cNvPr id="36" name="Text 29"/>
          <p:cNvSpPr txBox="1"/>
          <p:nvPr/>
        </p:nvSpPr>
        <p:spPr>
          <a:xfrm>
            <a:off x="6143725" y="6258157"/>
            <a:ext cx="54414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713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13" dirty="0"/>
          </a:p>
        </p:txBody>
      </p:sp>
      <p:sp>
        <p:nvSpPr>
          <p:cNvPr id="37" name="Text 30"/>
          <p:cNvSpPr/>
          <p:nvPr/>
        </p:nvSpPr>
        <p:spPr>
          <a:xfrm>
            <a:off x="6280468" y="6249924"/>
            <a:ext cx="1027053" cy="156811"/>
          </a:xfrm>
          <a:prstGeom prst="rect">
            <a:avLst/>
          </a:prstGeom>
          <a:ln/>
        </p:spPr>
        <p:txBody>
          <a:bodyPr wrap="none" lIns="0" tIns="0" rIns="0" bIns="1651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713" kern="0" spc="2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713" dirty="0"/>
          </a:p>
        </p:txBody>
      </p:sp>
      <p:sp>
        <p:nvSpPr>
          <p:cNvPr id="38" name="Shape 31"/>
          <p:cNvSpPr/>
          <p:nvPr/>
        </p:nvSpPr>
        <p:spPr>
          <a:xfrm>
            <a:off x="6280468" y="6406735"/>
            <a:ext cx="1027053" cy="0"/>
          </a:xfrm>
          <a:prstGeom prst="line">
            <a:avLst/>
          </a:prstGeom>
          <a:noFill/>
          <a:ln w="825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2"/>
          <p:cNvSpPr txBox="1"/>
          <p:nvPr/>
        </p:nvSpPr>
        <p:spPr>
          <a:xfrm>
            <a:off x="7389851" y="6258157"/>
            <a:ext cx="54414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713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13" dirty="0"/>
          </a:p>
        </p:txBody>
      </p:sp>
      <p:sp>
        <p:nvSpPr>
          <p:cNvPr id="40" name="Text 33"/>
          <p:cNvSpPr/>
          <p:nvPr/>
        </p:nvSpPr>
        <p:spPr>
          <a:xfrm>
            <a:off x="7526594" y="6249924"/>
            <a:ext cx="798848" cy="156811"/>
          </a:xfrm>
          <a:prstGeom prst="rect">
            <a:avLst/>
          </a:prstGeom>
          <a:ln/>
        </p:spPr>
        <p:txBody>
          <a:bodyPr wrap="none" lIns="0" tIns="0" rIns="0" bIns="1651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713" kern="0" spc="2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713" dirty="0"/>
          </a:p>
        </p:txBody>
      </p:sp>
      <p:sp>
        <p:nvSpPr>
          <p:cNvPr id="41" name="Shape 34"/>
          <p:cNvSpPr/>
          <p:nvPr/>
        </p:nvSpPr>
        <p:spPr>
          <a:xfrm>
            <a:off x="7526594" y="6406735"/>
            <a:ext cx="798848" cy="0"/>
          </a:xfrm>
          <a:prstGeom prst="line">
            <a:avLst/>
          </a:prstGeom>
          <a:noFill/>
          <a:ln w="825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5"/>
          <p:cNvSpPr txBox="1"/>
          <p:nvPr/>
        </p:nvSpPr>
        <p:spPr>
          <a:xfrm>
            <a:off x="9341304" y="6258157"/>
            <a:ext cx="706485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713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71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485" y="0"/>
            <a:ext cx="965703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267485" y="0"/>
            <a:ext cx="9657030" cy="535663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1267485" y="535663"/>
            <a:ext cx="9657030" cy="0"/>
          </a:xfrm>
          <a:prstGeom prst="line">
            <a:avLst/>
          </a:prstGeom>
          <a:noFill/>
          <a:ln w="7493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05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733" y="120713"/>
            <a:ext cx="286693" cy="286693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840871" y="147119"/>
            <a:ext cx="781333" cy="233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42"/>
              </a:lnSpc>
              <a:buNone/>
            </a:pPr>
            <a:r>
              <a:rPr lang="en-US" sz="1188" b="1" kern="0" spc="12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188" dirty="0"/>
          </a:p>
        </p:txBody>
      </p:sp>
      <p:pic>
        <p:nvPicPr>
          <p:cNvPr id="8" name="Image 2" descr="/home/claude/ex/05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6555" y="169613"/>
            <a:ext cx="196158" cy="18889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558693" y="141107"/>
            <a:ext cx="454559" cy="245905"/>
          </a:xfrm>
          <a:prstGeom prst="rect">
            <a:avLst/>
          </a:prstGeom>
          <a:ln w="7493">
            <a:solidFill>
              <a:srgbClr val="48533F"/>
            </a:solidFill>
          </a:ln>
        </p:spPr>
        <p:txBody>
          <a:bodyPr wrap="none" lIns="113157" tIns="52832" rIns="113157" bIns="52832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713" b="1" kern="0" spc="2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713" dirty="0"/>
          </a:p>
        </p:txBody>
      </p:sp>
      <p:sp>
        <p:nvSpPr>
          <p:cNvPr id="10" name="Text 4"/>
          <p:cNvSpPr/>
          <p:nvPr/>
        </p:nvSpPr>
        <p:spPr>
          <a:xfrm>
            <a:off x="7179233" y="141107"/>
            <a:ext cx="682664" cy="245905"/>
          </a:xfrm>
          <a:prstGeom prst="rect">
            <a:avLst/>
          </a:prstGeom>
          <a:ln w="7493">
            <a:solidFill>
              <a:srgbClr val="48533F"/>
            </a:solidFill>
          </a:ln>
        </p:spPr>
        <p:txBody>
          <a:bodyPr wrap="none" lIns="113157" tIns="52832" rIns="113157" bIns="52832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713" b="1" kern="0" spc="2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713" dirty="0"/>
          </a:p>
        </p:txBody>
      </p:sp>
      <p:sp>
        <p:nvSpPr>
          <p:cNvPr id="11" name="Text 5"/>
          <p:cNvSpPr/>
          <p:nvPr/>
        </p:nvSpPr>
        <p:spPr>
          <a:xfrm>
            <a:off x="8027877" y="141107"/>
            <a:ext cx="625609" cy="245905"/>
          </a:xfrm>
          <a:prstGeom prst="rect">
            <a:avLst/>
          </a:prstGeom>
          <a:ln w="7493">
            <a:solidFill>
              <a:srgbClr val="48533F"/>
            </a:solidFill>
          </a:ln>
        </p:spPr>
        <p:txBody>
          <a:bodyPr wrap="none" lIns="113157" tIns="52832" rIns="113157" bIns="52832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713" b="1" kern="0" spc="2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713" dirty="0"/>
          </a:p>
        </p:txBody>
      </p:sp>
      <p:sp>
        <p:nvSpPr>
          <p:cNvPr id="12" name="Text 6"/>
          <p:cNvSpPr txBox="1"/>
          <p:nvPr/>
        </p:nvSpPr>
        <p:spPr>
          <a:xfrm>
            <a:off x="8819466" y="201463"/>
            <a:ext cx="570439" cy="113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27"/>
              </a:lnSpc>
              <a:buNone/>
            </a:pPr>
            <a:r>
              <a:rPr lang="en-US" sz="713" kern="0" spc="2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713" dirty="0"/>
          </a:p>
        </p:txBody>
      </p:sp>
      <p:sp>
        <p:nvSpPr>
          <p:cNvPr id="13" name="Text 7"/>
          <p:cNvSpPr/>
          <p:nvPr/>
        </p:nvSpPr>
        <p:spPr>
          <a:xfrm>
            <a:off x="9404994" y="199577"/>
            <a:ext cx="120713" cy="120713"/>
          </a:xfrm>
          <a:prstGeom prst="ellipse">
            <a:avLst/>
          </a:prstGeom>
          <a:solidFill>
            <a:srgbClr val="E0632E"/>
          </a:solidFill>
          <a:ln/>
        </p:spPr>
        <p:txBody>
          <a:bodyPr wrap="none" lIns="30226" tIns="0" rIns="30226" bIns="0" rtlCol="0" anchor="ctr"/>
          <a:lstStyle/>
          <a:p>
            <a:pPr marL="0" indent="0" algn="ctr">
              <a:lnSpc>
                <a:spcPts val="921"/>
              </a:lnSpc>
              <a:buNone/>
            </a:pPr>
            <a:r>
              <a:rPr lang="en-US" sz="594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594" dirty="0"/>
          </a:p>
        </p:txBody>
      </p:sp>
      <p:sp>
        <p:nvSpPr>
          <p:cNvPr id="14" name="Text 8"/>
          <p:cNvSpPr txBox="1"/>
          <p:nvPr/>
        </p:nvSpPr>
        <p:spPr>
          <a:xfrm>
            <a:off x="9691688" y="193919"/>
            <a:ext cx="456328" cy="14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713" kern="0" spc="2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SETTINGS</a:t>
            </a:r>
            <a:endParaRPr lang="en-US" sz="713" dirty="0"/>
          </a:p>
        </p:txBody>
      </p:sp>
      <p:sp>
        <p:nvSpPr>
          <p:cNvPr id="15" name="Text 9"/>
          <p:cNvSpPr txBox="1"/>
          <p:nvPr/>
        </p:nvSpPr>
        <p:spPr>
          <a:xfrm>
            <a:off x="10313995" y="193919"/>
            <a:ext cx="399272" cy="14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713" kern="0" spc="2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OUT</a:t>
            </a:r>
            <a:endParaRPr lang="en-US" sz="713" dirty="0"/>
          </a:p>
        </p:txBody>
      </p:sp>
      <p:sp>
        <p:nvSpPr>
          <p:cNvPr id="16" name="Text 10"/>
          <p:cNvSpPr txBox="1"/>
          <p:nvPr/>
        </p:nvSpPr>
        <p:spPr>
          <a:xfrm>
            <a:off x="2685861" y="890257"/>
            <a:ext cx="342334" cy="14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5"/>
              </a:lnSpc>
              <a:buNone/>
            </a:pPr>
            <a:r>
              <a:rPr lang="en-US" sz="713" kern="0" spc="2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713" dirty="0"/>
          </a:p>
        </p:txBody>
      </p:sp>
      <p:sp>
        <p:nvSpPr>
          <p:cNvPr id="17" name="Text 11"/>
          <p:cNvSpPr txBox="1"/>
          <p:nvPr/>
        </p:nvSpPr>
        <p:spPr>
          <a:xfrm>
            <a:off x="2685861" y="1181430"/>
            <a:ext cx="1715915" cy="34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95"/>
              </a:lnSpc>
              <a:buNone/>
            </a:pPr>
            <a:r>
              <a:rPr lang="en-US" sz="2495" b="1" kern="0" spc="-2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Listed apps</a:t>
            </a:r>
            <a:endParaRPr lang="en-US" sz="2495" dirty="0"/>
          </a:p>
        </p:txBody>
      </p:sp>
      <p:sp>
        <p:nvSpPr>
          <p:cNvPr id="18" name="Text 12"/>
          <p:cNvSpPr txBox="1"/>
          <p:nvPr/>
        </p:nvSpPr>
        <p:spPr>
          <a:xfrm>
            <a:off x="2685861" y="1765072"/>
            <a:ext cx="6820277" cy="453734"/>
          </a:xfrm>
          <a:prstGeom prst="rect">
            <a:avLst/>
          </a:prstGeom>
          <a:noFill/>
          <a:ln/>
        </p:spPr>
        <p:txBody>
          <a:bodyPr wrap="none" lIns="0" tIns="150876" rIns="0" bIns="150876" rtlCol="0" anchor="t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772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Listing an app needs a builder account — yours is set up as a grower.</a:t>
            </a:r>
            <a:endParaRPr lang="en-US" sz="772" dirty="0"/>
          </a:p>
        </p:txBody>
      </p:sp>
      <p:sp>
        <p:nvSpPr>
          <p:cNvPr id="19" name="Shape 13"/>
          <p:cNvSpPr/>
          <p:nvPr/>
        </p:nvSpPr>
        <p:spPr>
          <a:xfrm>
            <a:off x="2685861" y="2339519"/>
            <a:ext cx="6820277" cy="2790071"/>
          </a:xfrm>
          <a:prstGeom prst="rect">
            <a:avLst/>
          </a:prstGeom>
          <a:solidFill>
            <a:srgbClr val="DBDED0"/>
          </a:solidFill>
          <a:ln w="7493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4"/>
          <p:cNvSpPr/>
          <p:nvPr/>
        </p:nvSpPr>
        <p:spPr>
          <a:xfrm>
            <a:off x="2693406" y="2347064"/>
            <a:ext cx="6805188" cy="9199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5"/>
          <p:cNvSpPr txBox="1"/>
          <p:nvPr/>
        </p:nvSpPr>
        <p:spPr>
          <a:xfrm>
            <a:off x="2844297" y="2565856"/>
            <a:ext cx="269718" cy="105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53" kern="0" spc="3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GAMES</a:t>
            </a:r>
            <a:endParaRPr lang="en-US" sz="653" dirty="0"/>
          </a:p>
        </p:txBody>
      </p:sp>
      <p:sp>
        <p:nvSpPr>
          <p:cNvPr id="22" name="Text 16"/>
          <p:cNvSpPr txBox="1"/>
          <p:nvPr/>
        </p:nvSpPr>
        <p:spPr>
          <a:xfrm>
            <a:off x="2844297" y="2696707"/>
            <a:ext cx="6503406" cy="198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5"/>
              </a:lnSpc>
              <a:buNone/>
            </a:pPr>
            <a:r>
              <a:rPr lang="en-US" sz="1010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FlipAll5</a:t>
            </a:r>
            <a:endParaRPr lang="en-US" sz="1010" dirty="0"/>
          </a:p>
        </p:txBody>
      </p:sp>
      <p:sp>
        <p:nvSpPr>
          <p:cNvPr id="23" name="Text 17"/>
          <p:cNvSpPr txBox="1"/>
          <p:nvPr/>
        </p:nvSpPr>
        <p:spPr>
          <a:xfrm>
            <a:off x="2844297" y="2940726"/>
            <a:ext cx="6503406" cy="17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81"/>
              </a:lnSpc>
              <a:buNone/>
            </a:pPr>
            <a:r>
              <a:rPr lang="en-US" sz="891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daily five-letter word flip puzzle</a:t>
            </a:r>
            <a:endParaRPr lang="en-US" sz="891" dirty="0"/>
          </a:p>
        </p:txBody>
      </p:sp>
      <p:sp>
        <p:nvSpPr>
          <p:cNvPr id="24" name="Shape 18"/>
          <p:cNvSpPr/>
          <p:nvPr/>
        </p:nvSpPr>
        <p:spPr>
          <a:xfrm>
            <a:off x="2693406" y="3274572"/>
            <a:ext cx="6805188" cy="9199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19"/>
          <p:cNvSpPr txBox="1"/>
          <p:nvPr/>
        </p:nvSpPr>
        <p:spPr>
          <a:xfrm>
            <a:off x="2844297" y="3493364"/>
            <a:ext cx="647417" cy="105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53" kern="0" spc="3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PRODUCTIVITY</a:t>
            </a:r>
            <a:endParaRPr lang="en-US" sz="653" dirty="0"/>
          </a:p>
        </p:txBody>
      </p:sp>
      <p:sp>
        <p:nvSpPr>
          <p:cNvPr id="26" name="Text 20"/>
          <p:cNvSpPr txBox="1"/>
          <p:nvPr/>
        </p:nvSpPr>
        <p:spPr>
          <a:xfrm>
            <a:off x="2844297" y="3624215"/>
            <a:ext cx="6503406" cy="198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5"/>
              </a:lnSpc>
              <a:buNone/>
            </a:pPr>
            <a:r>
              <a:rPr lang="en-US" sz="1010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TideLog</a:t>
            </a:r>
            <a:endParaRPr lang="en-US" sz="1010" dirty="0"/>
          </a:p>
        </p:txBody>
      </p:sp>
      <p:sp>
        <p:nvSpPr>
          <p:cNvPr id="27" name="Text 21"/>
          <p:cNvSpPr txBox="1"/>
          <p:nvPr/>
        </p:nvSpPr>
        <p:spPr>
          <a:xfrm>
            <a:off x="2844297" y="3868235"/>
            <a:ext cx="6503406" cy="17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81"/>
              </a:lnSpc>
              <a:buNone/>
            </a:pPr>
            <a:r>
              <a:rPr lang="en-US" sz="891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Simple habit tracker with tide-style streaks</a:t>
            </a:r>
            <a:endParaRPr lang="en-US" sz="891" dirty="0"/>
          </a:p>
        </p:txBody>
      </p:sp>
      <p:sp>
        <p:nvSpPr>
          <p:cNvPr id="28" name="Shape 22"/>
          <p:cNvSpPr/>
          <p:nvPr/>
        </p:nvSpPr>
        <p:spPr>
          <a:xfrm>
            <a:off x="2693406" y="4202081"/>
            <a:ext cx="6805188" cy="9199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3"/>
          <p:cNvSpPr txBox="1"/>
          <p:nvPr/>
        </p:nvSpPr>
        <p:spPr>
          <a:xfrm>
            <a:off x="2844297" y="4420873"/>
            <a:ext cx="485563" cy="105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53" kern="0" spc="3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LIFESTYLE</a:t>
            </a:r>
            <a:endParaRPr lang="en-US" sz="653" dirty="0"/>
          </a:p>
        </p:txBody>
      </p:sp>
      <p:sp>
        <p:nvSpPr>
          <p:cNvPr id="30" name="Text 24"/>
          <p:cNvSpPr txBox="1"/>
          <p:nvPr/>
        </p:nvSpPr>
        <p:spPr>
          <a:xfrm>
            <a:off x="2844297" y="4551724"/>
            <a:ext cx="6503406" cy="198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65"/>
              </a:lnSpc>
              <a:buNone/>
            </a:pPr>
            <a:r>
              <a:rPr lang="en-US" sz="1010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Recipe Roulette</a:t>
            </a:r>
            <a:endParaRPr lang="en-US" sz="1010" dirty="0"/>
          </a:p>
        </p:txBody>
      </p:sp>
      <p:sp>
        <p:nvSpPr>
          <p:cNvPr id="31" name="Text 25"/>
          <p:cNvSpPr txBox="1"/>
          <p:nvPr/>
        </p:nvSpPr>
        <p:spPr>
          <a:xfrm>
            <a:off x="2844297" y="4795743"/>
            <a:ext cx="6503406" cy="175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81"/>
              </a:lnSpc>
              <a:buNone/>
            </a:pPr>
            <a:r>
              <a:rPr lang="en-US" sz="891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Spin for tonight's dinner</a:t>
            </a:r>
            <a:endParaRPr lang="en-US" sz="891" dirty="0"/>
          </a:p>
        </p:txBody>
      </p:sp>
      <p:sp>
        <p:nvSpPr>
          <p:cNvPr id="32" name="Shape 26"/>
          <p:cNvSpPr/>
          <p:nvPr/>
        </p:nvSpPr>
        <p:spPr>
          <a:xfrm>
            <a:off x="1267485" y="5884045"/>
            <a:ext cx="9657030" cy="973248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27"/>
          <p:cNvSpPr/>
          <p:nvPr/>
        </p:nvSpPr>
        <p:spPr>
          <a:xfrm>
            <a:off x="1267485" y="5884045"/>
            <a:ext cx="9657030" cy="0"/>
          </a:xfrm>
          <a:prstGeom prst="line">
            <a:avLst/>
          </a:prstGeom>
          <a:noFill/>
          <a:ln w="7493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4" name="Image 3" descr="/home/claude/ex/05_img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8320" y="6163194"/>
            <a:ext cx="415082" cy="422495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3017822" y="6200681"/>
            <a:ext cx="781333" cy="18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42"/>
              </a:lnSpc>
              <a:buNone/>
            </a:pPr>
            <a:r>
              <a:rPr lang="en-US" sz="1188" b="1" kern="0" spc="12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188" dirty="0"/>
          </a:p>
        </p:txBody>
      </p:sp>
      <p:sp>
        <p:nvSpPr>
          <p:cNvPr id="36" name="Text 29"/>
          <p:cNvSpPr txBox="1"/>
          <p:nvPr/>
        </p:nvSpPr>
        <p:spPr>
          <a:xfrm>
            <a:off x="3017822" y="6442106"/>
            <a:ext cx="896387" cy="12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5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653" dirty="0"/>
          </a:p>
        </p:txBody>
      </p:sp>
      <p:sp>
        <p:nvSpPr>
          <p:cNvPr id="37" name="Text 30"/>
          <p:cNvSpPr/>
          <p:nvPr/>
        </p:nvSpPr>
        <p:spPr>
          <a:xfrm>
            <a:off x="4845136" y="6291451"/>
            <a:ext cx="170960" cy="165980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72"/>
              </a:lnSpc>
              <a:buNone/>
            </a:pPr>
            <a:r>
              <a:rPr lang="en-US" sz="772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772" dirty="0"/>
          </a:p>
        </p:txBody>
      </p:sp>
      <p:sp>
        <p:nvSpPr>
          <p:cNvPr id="38" name="Text 31"/>
          <p:cNvSpPr txBox="1"/>
          <p:nvPr/>
        </p:nvSpPr>
        <p:spPr>
          <a:xfrm>
            <a:off x="5086562" y="6310077"/>
            <a:ext cx="977727" cy="12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53" b="1" kern="0" spc="13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653" dirty="0"/>
          </a:p>
        </p:txBody>
      </p:sp>
      <p:sp>
        <p:nvSpPr>
          <p:cNvPr id="39" name="Text 32"/>
          <p:cNvSpPr txBox="1"/>
          <p:nvPr/>
        </p:nvSpPr>
        <p:spPr>
          <a:xfrm>
            <a:off x="6139735" y="6310077"/>
            <a:ext cx="49865" cy="12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53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653" dirty="0"/>
          </a:p>
        </p:txBody>
      </p:sp>
      <p:sp>
        <p:nvSpPr>
          <p:cNvPr id="40" name="Text 33"/>
          <p:cNvSpPr/>
          <p:nvPr/>
        </p:nvSpPr>
        <p:spPr>
          <a:xfrm>
            <a:off x="6265045" y="6302532"/>
            <a:ext cx="941183" cy="143700"/>
          </a:xfrm>
          <a:prstGeom prst="rect">
            <a:avLst/>
          </a:prstGeom>
          <a:ln/>
        </p:spPr>
        <p:txBody>
          <a:bodyPr wrap="none" lIns="0" tIns="0" rIns="0" bIns="15113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53" kern="0" spc="20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653" dirty="0"/>
          </a:p>
        </p:txBody>
      </p:sp>
      <p:sp>
        <p:nvSpPr>
          <p:cNvPr id="41" name="Shape 34"/>
          <p:cNvSpPr/>
          <p:nvPr/>
        </p:nvSpPr>
        <p:spPr>
          <a:xfrm>
            <a:off x="6265045" y="6446232"/>
            <a:ext cx="941183" cy="0"/>
          </a:xfrm>
          <a:prstGeom prst="line">
            <a:avLst/>
          </a:prstGeom>
          <a:noFill/>
          <a:ln w="7493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5"/>
          <p:cNvSpPr txBox="1"/>
          <p:nvPr/>
        </p:nvSpPr>
        <p:spPr>
          <a:xfrm>
            <a:off x="7281674" y="6310077"/>
            <a:ext cx="49865" cy="12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53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653" dirty="0"/>
          </a:p>
        </p:txBody>
      </p:sp>
      <p:sp>
        <p:nvSpPr>
          <p:cNvPr id="43" name="Text 36"/>
          <p:cNvSpPr/>
          <p:nvPr/>
        </p:nvSpPr>
        <p:spPr>
          <a:xfrm>
            <a:off x="7406984" y="6302532"/>
            <a:ext cx="732058" cy="143700"/>
          </a:xfrm>
          <a:prstGeom prst="rect">
            <a:avLst/>
          </a:prstGeom>
          <a:ln/>
        </p:spPr>
        <p:txBody>
          <a:bodyPr wrap="none" lIns="0" tIns="0" rIns="0" bIns="15113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53" kern="0" spc="20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653" dirty="0"/>
          </a:p>
        </p:txBody>
      </p:sp>
      <p:sp>
        <p:nvSpPr>
          <p:cNvPr id="44" name="Shape 37"/>
          <p:cNvSpPr/>
          <p:nvPr/>
        </p:nvSpPr>
        <p:spPr>
          <a:xfrm>
            <a:off x="7406984" y="6446232"/>
            <a:ext cx="732058" cy="0"/>
          </a:xfrm>
          <a:prstGeom prst="line">
            <a:avLst/>
          </a:prstGeom>
          <a:noFill/>
          <a:ln w="7493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38"/>
          <p:cNvSpPr txBox="1"/>
          <p:nvPr/>
        </p:nvSpPr>
        <p:spPr>
          <a:xfrm>
            <a:off x="9069969" y="6310077"/>
            <a:ext cx="647417" cy="12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53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65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324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76275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06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152400"/>
            <a:ext cx="361950" cy="36195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23900" y="185738"/>
            <a:ext cx="9864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pic>
        <p:nvPicPr>
          <p:cNvPr id="8" name="Image 2" descr="/home/claude/ex/06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950" y="214136"/>
            <a:ext cx="247650" cy="23847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80150" y="178147"/>
            <a:ext cx="57388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7463582" y="178147"/>
            <a:ext cx="861864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8534995" y="178147"/>
            <a:ext cx="78983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9534376" y="254347"/>
            <a:ext cx="72017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0273605" y="251966"/>
            <a:ext cx="152400" cy="152400"/>
          </a:xfrm>
          <a:prstGeom prst="ellipse">
            <a:avLst/>
          </a:prstGeom>
          <a:solidFill>
            <a:srgbClr val="E0632E"/>
          </a:solidFill>
          <a:ln/>
        </p:spPr>
        <p:txBody>
          <a:bodyPr wrap="none" lIns="38100" tIns="0" rIns="38100" bIns="0" rtlCol="0" anchor="ctr"/>
          <a:lstStyle/>
          <a:p>
            <a:pPr marL="0" indent="0" algn="ctr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8"/>
          <p:cNvSpPr txBox="1"/>
          <p:nvPr/>
        </p:nvSpPr>
        <p:spPr>
          <a:xfrm>
            <a:off x="10635555" y="244822"/>
            <a:ext cx="576114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SETTINGS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1421219" y="244822"/>
            <a:ext cx="504081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OUT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1790700" y="1123950"/>
            <a:ext cx="432197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2262336" y="1143000"/>
            <a:ext cx="34051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GAMES</a:t>
            </a:r>
            <a:endParaRPr lang="en-US" sz="825" dirty="0"/>
          </a:p>
        </p:txBody>
      </p:sp>
      <p:sp>
        <p:nvSpPr>
          <p:cNvPr id="18" name="Text 12"/>
          <p:cNvSpPr txBox="1"/>
          <p:nvPr/>
        </p:nvSpPr>
        <p:spPr>
          <a:xfrm>
            <a:off x="1790700" y="1491555"/>
            <a:ext cx="8610600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2"/>
              </a:lnSpc>
              <a:buNone/>
            </a:pPr>
            <a:r>
              <a:rPr lang="en-US" sz="3150" b="1" kern="0" spc="-32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FlipAll5</a:t>
            </a:r>
            <a:endParaRPr lang="en-US" sz="3150" dirty="0"/>
          </a:p>
        </p:txBody>
      </p:sp>
      <p:sp>
        <p:nvSpPr>
          <p:cNvPr id="19" name="Text 13"/>
          <p:cNvSpPr txBox="1"/>
          <p:nvPr/>
        </p:nvSpPr>
        <p:spPr>
          <a:xfrm>
            <a:off x="1790700" y="2114104"/>
            <a:ext cx="861060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daily five-letter word flip puzzle</a:t>
            </a:r>
            <a:endParaRPr lang="en-US" sz="1275" dirty="0"/>
          </a:p>
        </p:txBody>
      </p:sp>
      <p:sp>
        <p:nvSpPr>
          <p:cNvPr id="20" name="Text 14"/>
          <p:cNvSpPr txBox="1"/>
          <p:nvPr/>
        </p:nvSpPr>
        <p:spPr>
          <a:xfrm>
            <a:off x="1790700" y="2526953"/>
            <a:ext cx="861060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daily word puzzle where you flip tiles to find all five words. Streaks, stats and share cards built in.</a:t>
            </a:r>
            <a:endParaRPr lang="en-US" sz="1275" dirty="0"/>
          </a:p>
        </p:txBody>
      </p:sp>
      <p:sp>
        <p:nvSpPr>
          <p:cNvPr id="21" name="Text 15"/>
          <p:cNvSpPr txBox="1"/>
          <p:nvPr/>
        </p:nvSpPr>
        <p:spPr>
          <a:xfrm>
            <a:off x="1790700" y="2939802"/>
            <a:ext cx="809625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Website →</a:t>
            </a:r>
            <a:endParaRPr lang="en-US" sz="1275" dirty="0"/>
          </a:p>
        </p:txBody>
      </p:sp>
      <p:sp>
        <p:nvSpPr>
          <p:cNvPr id="22" name="Text 16"/>
          <p:cNvSpPr txBox="1"/>
          <p:nvPr/>
        </p:nvSpPr>
        <p:spPr>
          <a:xfrm>
            <a:off x="2790825" y="2939802"/>
            <a:ext cx="957858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 Store →</a:t>
            </a:r>
            <a:endParaRPr lang="en-US" sz="1275" dirty="0"/>
          </a:p>
        </p:txBody>
      </p:sp>
      <p:sp>
        <p:nvSpPr>
          <p:cNvPr id="23" name="Text 17"/>
          <p:cNvSpPr txBox="1"/>
          <p:nvPr/>
        </p:nvSpPr>
        <p:spPr>
          <a:xfrm>
            <a:off x="1790700" y="3352651"/>
            <a:ext cx="861060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View builder profile →</a:t>
            </a:r>
            <a:endParaRPr lang="en-US" sz="1275" dirty="0"/>
          </a:p>
        </p:txBody>
      </p:sp>
      <p:sp>
        <p:nvSpPr>
          <p:cNvPr id="24" name="Text 18"/>
          <p:cNvSpPr/>
          <p:nvPr/>
        </p:nvSpPr>
        <p:spPr>
          <a:xfrm>
            <a:off x="1790700" y="3765500"/>
            <a:ext cx="893118" cy="371475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90500" tIns="114300" rIns="190500" bIns="11430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kern="0" spc="3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CONNECT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0" y="5089475"/>
            <a:ext cx="12192000" cy="1228725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0"/>
          <p:cNvSpPr/>
          <p:nvPr/>
        </p:nvSpPr>
        <p:spPr>
          <a:xfrm>
            <a:off x="0" y="5089475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7" name="Image 3" descr="/home/claude/ex/06_img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8679" y="5441900"/>
            <a:ext cx="524042" cy="5334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2209800" y="5489228"/>
            <a:ext cx="9864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2209800" y="5794028"/>
            <a:ext cx="11316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825" dirty="0"/>
          </a:p>
        </p:txBody>
      </p:sp>
      <p:sp>
        <p:nvSpPr>
          <p:cNvPr id="30" name="Text 23"/>
          <p:cNvSpPr/>
          <p:nvPr/>
        </p:nvSpPr>
        <p:spPr>
          <a:xfrm>
            <a:off x="4516785" y="5603825"/>
            <a:ext cx="215836" cy="209550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975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975" dirty="0"/>
          </a:p>
        </p:txBody>
      </p:sp>
      <p:sp>
        <p:nvSpPr>
          <p:cNvPr id="31" name="Text 24"/>
          <p:cNvSpPr txBox="1"/>
          <p:nvPr/>
        </p:nvSpPr>
        <p:spPr>
          <a:xfrm>
            <a:off x="4821585" y="5627340"/>
            <a:ext cx="123438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b="1" kern="0" spc="17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825" dirty="0"/>
          </a:p>
        </p:txBody>
      </p:sp>
      <p:sp>
        <p:nvSpPr>
          <p:cNvPr id="32" name="Text 25"/>
          <p:cNvSpPr txBox="1"/>
          <p:nvPr/>
        </p:nvSpPr>
        <p:spPr>
          <a:xfrm>
            <a:off x="6151215" y="5627340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33" name="Text 26"/>
          <p:cNvSpPr/>
          <p:nvPr/>
        </p:nvSpPr>
        <p:spPr>
          <a:xfrm>
            <a:off x="6309420" y="5617815"/>
            <a:ext cx="1188244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825" dirty="0"/>
          </a:p>
        </p:txBody>
      </p:sp>
      <p:sp>
        <p:nvSpPr>
          <p:cNvPr id="34" name="Shape 27"/>
          <p:cNvSpPr/>
          <p:nvPr/>
        </p:nvSpPr>
        <p:spPr>
          <a:xfrm>
            <a:off x="6309420" y="5799237"/>
            <a:ext cx="1188244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28"/>
          <p:cNvSpPr txBox="1"/>
          <p:nvPr/>
        </p:nvSpPr>
        <p:spPr>
          <a:xfrm>
            <a:off x="7592913" y="5627340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36" name="Text 29"/>
          <p:cNvSpPr/>
          <p:nvPr/>
        </p:nvSpPr>
        <p:spPr>
          <a:xfrm>
            <a:off x="7751118" y="5617815"/>
            <a:ext cx="924223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825" dirty="0"/>
          </a:p>
        </p:txBody>
      </p:sp>
      <p:sp>
        <p:nvSpPr>
          <p:cNvPr id="37" name="Shape 30"/>
          <p:cNvSpPr/>
          <p:nvPr/>
        </p:nvSpPr>
        <p:spPr>
          <a:xfrm>
            <a:off x="7751118" y="5799237"/>
            <a:ext cx="924223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1"/>
          <p:cNvSpPr txBox="1"/>
          <p:nvPr/>
        </p:nvSpPr>
        <p:spPr>
          <a:xfrm>
            <a:off x="9850636" y="5627340"/>
            <a:ext cx="81736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8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476" y="0"/>
            <a:ext cx="10231049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80476" y="0"/>
            <a:ext cx="10231049" cy="567503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980476" y="567503"/>
            <a:ext cx="10231049" cy="0"/>
          </a:xfrm>
          <a:prstGeom prst="line">
            <a:avLst/>
          </a:prstGeom>
          <a:noFill/>
          <a:ln w="8001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07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280" y="127888"/>
            <a:ext cx="303734" cy="303734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587944" y="155864"/>
            <a:ext cx="827776" cy="24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1"/>
              </a:lnSpc>
              <a:buNone/>
            </a:pPr>
            <a:r>
              <a:rPr lang="en-US" sz="1259" b="1" kern="0" spc="13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259" dirty="0"/>
          </a:p>
        </p:txBody>
      </p:sp>
      <p:pic>
        <p:nvPicPr>
          <p:cNvPr id="8" name="Image 2" descr="/home/claude/ex/07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532" y="179694"/>
            <a:ext cx="207818" cy="20012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586196" y="149494"/>
            <a:ext cx="481579" cy="260522"/>
          </a:xfrm>
          <a:prstGeom prst="rect">
            <a:avLst/>
          </a:prstGeom>
          <a:ln w="8001">
            <a:solidFill>
              <a:srgbClr val="48533F"/>
            </a:solidFill>
          </a:ln>
        </p:spPr>
        <p:txBody>
          <a:bodyPr wrap="none" lIns="119888" tIns="56007" rIns="119888" bIns="56007" rtlCol="0" anchor="t"/>
          <a:lstStyle/>
          <a:p>
            <a:pPr marL="0" indent="0" algn="l">
              <a:lnSpc>
                <a:spcPts val="1171"/>
              </a:lnSpc>
              <a:buNone/>
            </a:pPr>
            <a:r>
              <a:rPr lang="en-US" sz="755" b="1" kern="0" spc="2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755" dirty="0"/>
          </a:p>
        </p:txBody>
      </p:sp>
      <p:sp>
        <p:nvSpPr>
          <p:cNvPr id="10" name="Text 4"/>
          <p:cNvSpPr/>
          <p:nvPr/>
        </p:nvSpPr>
        <p:spPr>
          <a:xfrm>
            <a:off x="7243621" y="149494"/>
            <a:ext cx="723242" cy="260522"/>
          </a:xfrm>
          <a:prstGeom prst="rect">
            <a:avLst/>
          </a:prstGeom>
          <a:ln w="8001">
            <a:solidFill>
              <a:srgbClr val="48533F"/>
            </a:solidFill>
          </a:ln>
        </p:spPr>
        <p:txBody>
          <a:bodyPr wrap="none" lIns="119888" tIns="56007" rIns="119888" bIns="56007" rtlCol="0" anchor="t"/>
          <a:lstStyle/>
          <a:p>
            <a:pPr marL="0" indent="0" algn="l">
              <a:lnSpc>
                <a:spcPts val="1171"/>
              </a:lnSpc>
              <a:buNone/>
            </a:pPr>
            <a:r>
              <a:rPr lang="en-US" sz="755" b="1" kern="0" spc="2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755" dirty="0"/>
          </a:p>
        </p:txBody>
      </p:sp>
      <p:sp>
        <p:nvSpPr>
          <p:cNvPr id="11" name="Text 5"/>
          <p:cNvSpPr/>
          <p:nvPr/>
        </p:nvSpPr>
        <p:spPr>
          <a:xfrm>
            <a:off x="8142709" y="149494"/>
            <a:ext cx="662795" cy="260522"/>
          </a:xfrm>
          <a:prstGeom prst="rect">
            <a:avLst/>
          </a:prstGeom>
          <a:ln w="8001">
            <a:solidFill>
              <a:srgbClr val="48533F"/>
            </a:solidFill>
          </a:ln>
        </p:spPr>
        <p:txBody>
          <a:bodyPr wrap="none" lIns="119888" tIns="56007" rIns="119888" bIns="56007" rtlCol="0" anchor="t"/>
          <a:lstStyle/>
          <a:p>
            <a:pPr marL="0" indent="0" algn="l">
              <a:lnSpc>
                <a:spcPts val="1171"/>
              </a:lnSpc>
              <a:buNone/>
            </a:pPr>
            <a:r>
              <a:rPr lang="en-US" sz="755" b="1" kern="0" spc="2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755" dirty="0"/>
          </a:p>
        </p:txBody>
      </p:sp>
      <p:sp>
        <p:nvSpPr>
          <p:cNvPr id="12" name="Text 6"/>
          <p:cNvSpPr txBox="1"/>
          <p:nvPr/>
        </p:nvSpPr>
        <p:spPr>
          <a:xfrm>
            <a:off x="8981351" y="213438"/>
            <a:ext cx="604346" cy="1198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2"/>
              </a:lnSpc>
              <a:buNone/>
            </a:pPr>
            <a:r>
              <a:rPr lang="en-US" sz="755" kern="0" spc="2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755" dirty="0"/>
          </a:p>
        </p:txBody>
      </p:sp>
      <p:sp>
        <p:nvSpPr>
          <p:cNvPr id="13" name="Text 7"/>
          <p:cNvSpPr/>
          <p:nvPr/>
        </p:nvSpPr>
        <p:spPr>
          <a:xfrm>
            <a:off x="9601683" y="211440"/>
            <a:ext cx="127888" cy="127888"/>
          </a:xfrm>
          <a:prstGeom prst="ellipse">
            <a:avLst/>
          </a:prstGeom>
          <a:solidFill>
            <a:srgbClr val="E0632E"/>
          </a:solidFill>
          <a:ln/>
        </p:spPr>
        <p:txBody>
          <a:bodyPr wrap="none" lIns="32004" tIns="0" rIns="32004" bIns="0" rtlCol="0" anchor="ctr"/>
          <a:lstStyle/>
          <a:p>
            <a:pPr marL="0" indent="0" algn="ctr">
              <a:lnSpc>
                <a:spcPts val="976"/>
              </a:lnSpc>
              <a:buNone/>
            </a:pPr>
            <a:r>
              <a:rPr lang="en-US" sz="629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629" dirty="0"/>
          </a:p>
        </p:txBody>
      </p:sp>
      <p:sp>
        <p:nvSpPr>
          <p:cNvPr id="14" name="Text 8"/>
          <p:cNvSpPr txBox="1"/>
          <p:nvPr/>
        </p:nvSpPr>
        <p:spPr>
          <a:xfrm>
            <a:off x="9905417" y="205445"/>
            <a:ext cx="483452" cy="14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1"/>
              </a:lnSpc>
              <a:buNone/>
            </a:pPr>
            <a:r>
              <a:rPr lang="en-US" sz="755" kern="0" spc="2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SETTINGS</a:t>
            </a:r>
            <a:endParaRPr lang="en-US" sz="755" dirty="0"/>
          </a:p>
        </p:txBody>
      </p:sp>
      <p:sp>
        <p:nvSpPr>
          <p:cNvPr id="15" name="Text 9"/>
          <p:cNvSpPr txBox="1"/>
          <p:nvPr/>
        </p:nvSpPr>
        <p:spPr>
          <a:xfrm>
            <a:off x="10564715" y="205445"/>
            <a:ext cx="423005" cy="14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1"/>
              </a:lnSpc>
              <a:buNone/>
            </a:pPr>
            <a:r>
              <a:rPr lang="en-US" sz="755" kern="0" spc="2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OUT</a:t>
            </a:r>
            <a:endParaRPr lang="en-US" sz="755" dirty="0"/>
          </a:p>
        </p:txBody>
      </p:sp>
      <p:sp>
        <p:nvSpPr>
          <p:cNvPr id="16" name="Text 10"/>
          <p:cNvSpPr txBox="1"/>
          <p:nvPr/>
        </p:nvSpPr>
        <p:spPr>
          <a:xfrm>
            <a:off x="2483161" y="943175"/>
            <a:ext cx="362683" cy="14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1"/>
              </a:lnSpc>
              <a:buNone/>
            </a:pPr>
            <a:r>
              <a:rPr lang="en-US" sz="755" kern="0" spc="2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755" dirty="0"/>
          </a:p>
        </p:txBody>
      </p:sp>
      <p:sp>
        <p:nvSpPr>
          <p:cNvPr id="17" name="Text 11"/>
          <p:cNvSpPr txBox="1"/>
          <p:nvPr/>
        </p:nvSpPr>
        <p:spPr>
          <a:xfrm>
            <a:off x="2878940" y="959161"/>
            <a:ext cx="285750" cy="111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692" kern="0" spc="3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GAMES</a:t>
            </a:r>
            <a:endParaRPr lang="en-US" sz="692" dirty="0"/>
          </a:p>
        </p:txBody>
      </p:sp>
      <p:sp>
        <p:nvSpPr>
          <p:cNvPr id="18" name="Text 12"/>
          <p:cNvSpPr txBox="1"/>
          <p:nvPr/>
        </p:nvSpPr>
        <p:spPr>
          <a:xfrm>
            <a:off x="2483161" y="1251655"/>
            <a:ext cx="7225678" cy="362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5"/>
              </a:lnSpc>
              <a:buNone/>
            </a:pPr>
            <a:r>
              <a:rPr lang="en-US" sz="2643" b="1" kern="0" spc="-26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FlipAll5</a:t>
            </a:r>
            <a:endParaRPr lang="en-US" sz="2643" dirty="0"/>
          </a:p>
        </p:txBody>
      </p:sp>
      <p:sp>
        <p:nvSpPr>
          <p:cNvPr id="19" name="Text 13"/>
          <p:cNvSpPr txBox="1"/>
          <p:nvPr/>
        </p:nvSpPr>
        <p:spPr>
          <a:xfrm>
            <a:off x="2483161" y="1774073"/>
            <a:ext cx="7225678" cy="210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8"/>
              </a:lnSpc>
              <a:buNone/>
            </a:pPr>
            <a:r>
              <a:rPr lang="en-US" sz="1070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daily five-letter word flip puzzle</a:t>
            </a:r>
            <a:endParaRPr lang="en-US" sz="1070" dirty="0"/>
          </a:p>
        </p:txBody>
      </p:sp>
      <p:sp>
        <p:nvSpPr>
          <p:cNvPr id="20" name="Text 14"/>
          <p:cNvSpPr txBox="1"/>
          <p:nvPr/>
        </p:nvSpPr>
        <p:spPr>
          <a:xfrm>
            <a:off x="2483161" y="2120520"/>
            <a:ext cx="7225678" cy="210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8"/>
              </a:lnSpc>
              <a:buNone/>
            </a:pPr>
            <a:r>
              <a:rPr lang="en-US" sz="1070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daily word puzzle where you flip tiles to find all five words. Streaks, stats and share cards built in.</a:t>
            </a:r>
            <a:endParaRPr lang="en-US" sz="1070" dirty="0"/>
          </a:p>
        </p:txBody>
      </p:sp>
      <p:sp>
        <p:nvSpPr>
          <p:cNvPr id="21" name="Text 15"/>
          <p:cNvSpPr txBox="1"/>
          <p:nvPr/>
        </p:nvSpPr>
        <p:spPr>
          <a:xfrm>
            <a:off x="2483161" y="2466967"/>
            <a:ext cx="679406" cy="210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8"/>
              </a:lnSpc>
              <a:buNone/>
            </a:pPr>
            <a:r>
              <a:rPr lang="en-US" sz="1070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Website →</a:t>
            </a:r>
            <a:endParaRPr lang="en-US" sz="1070" dirty="0"/>
          </a:p>
        </p:txBody>
      </p:sp>
      <p:sp>
        <p:nvSpPr>
          <p:cNvPr id="22" name="Text 16"/>
          <p:cNvSpPr txBox="1"/>
          <p:nvPr/>
        </p:nvSpPr>
        <p:spPr>
          <a:xfrm>
            <a:off x="3322427" y="2466967"/>
            <a:ext cx="803797" cy="210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8"/>
              </a:lnSpc>
              <a:buNone/>
            </a:pPr>
            <a:r>
              <a:rPr lang="en-US" sz="1070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 Store →</a:t>
            </a:r>
            <a:endParaRPr lang="en-US" sz="1070" dirty="0"/>
          </a:p>
        </p:txBody>
      </p:sp>
      <p:sp>
        <p:nvSpPr>
          <p:cNvPr id="23" name="Text 17"/>
          <p:cNvSpPr txBox="1"/>
          <p:nvPr/>
        </p:nvSpPr>
        <p:spPr>
          <a:xfrm>
            <a:off x="2483161" y="2813414"/>
            <a:ext cx="7225678" cy="210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8"/>
              </a:lnSpc>
              <a:buNone/>
            </a:pPr>
            <a:r>
              <a:rPr lang="en-US" sz="1070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View builder profile →</a:t>
            </a:r>
            <a:endParaRPr lang="en-US" sz="1070" dirty="0"/>
          </a:p>
        </p:txBody>
      </p:sp>
      <p:sp>
        <p:nvSpPr>
          <p:cNvPr id="24" name="Text 18"/>
          <p:cNvSpPr/>
          <p:nvPr/>
        </p:nvSpPr>
        <p:spPr>
          <a:xfrm>
            <a:off x="2483161" y="3159860"/>
            <a:ext cx="1056451" cy="311727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59893" tIns="95885" rIns="159893" bIns="95885" rtlCol="0" anchor="ctr"/>
          <a:lstStyle/>
          <a:p>
            <a:pPr marL="0" indent="0" algn="ctr">
              <a:lnSpc>
                <a:spcPts val="982"/>
              </a:lnSpc>
              <a:buNone/>
            </a:pPr>
            <a:r>
              <a:rPr lang="en-US" sz="755" kern="0" spc="3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EDIT LISTING</a:t>
            </a:r>
            <a:endParaRPr lang="en-US" sz="755" dirty="0"/>
          </a:p>
        </p:txBody>
      </p:sp>
      <p:sp>
        <p:nvSpPr>
          <p:cNvPr id="25" name="Text 19"/>
          <p:cNvSpPr txBox="1"/>
          <p:nvPr/>
        </p:nvSpPr>
        <p:spPr>
          <a:xfrm>
            <a:off x="2483161" y="3791308"/>
            <a:ext cx="7225678" cy="272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46"/>
              </a:lnSpc>
              <a:buNone/>
            </a:pPr>
            <a:r>
              <a:rPr lang="en-US" sz="1385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Connection requests</a:t>
            </a:r>
            <a:endParaRPr lang="en-US" sz="1385" dirty="0"/>
          </a:p>
        </p:txBody>
      </p:sp>
      <p:sp>
        <p:nvSpPr>
          <p:cNvPr id="26" name="Shape 20"/>
          <p:cNvSpPr/>
          <p:nvPr/>
        </p:nvSpPr>
        <p:spPr>
          <a:xfrm>
            <a:off x="2483161" y="4191708"/>
            <a:ext cx="7225678" cy="833271"/>
          </a:xfrm>
          <a:prstGeom prst="rect">
            <a:avLst/>
          </a:prstGeom>
          <a:solidFill>
            <a:srgbClr val="DBDED0"/>
          </a:solidFill>
          <a:ln w="8001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1"/>
          <p:cNvSpPr/>
          <p:nvPr/>
        </p:nvSpPr>
        <p:spPr>
          <a:xfrm>
            <a:off x="2491154" y="4199701"/>
            <a:ext cx="7209692" cy="8172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2"/>
          <p:cNvSpPr txBox="1"/>
          <p:nvPr/>
        </p:nvSpPr>
        <p:spPr>
          <a:xfrm>
            <a:off x="2651014" y="4359561"/>
            <a:ext cx="6889972" cy="185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44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 run growth for three word-game apps and think FlipAll5 could do well on TikTok.</a:t>
            </a:r>
            <a:endParaRPr lang="en-US" sz="944" dirty="0"/>
          </a:p>
        </p:txBody>
      </p:sp>
      <p:sp>
        <p:nvSpPr>
          <p:cNvPr id="29" name="Text 23"/>
          <p:cNvSpPr/>
          <p:nvPr/>
        </p:nvSpPr>
        <p:spPr>
          <a:xfrm>
            <a:off x="2651014" y="4545398"/>
            <a:ext cx="688148" cy="311727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59893" tIns="95885" rIns="159893" bIns="95885" rtlCol="0" anchor="ctr"/>
          <a:lstStyle/>
          <a:p>
            <a:pPr marL="0" indent="0" algn="ctr">
              <a:lnSpc>
                <a:spcPts val="982"/>
              </a:lnSpc>
              <a:buNone/>
            </a:pPr>
            <a:r>
              <a:rPr lang="en-US" sz="755" kern="0" spc="3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REVIEW</a:t>
            </a:r>
            <a:endParaRPr lang="en-US" sz="755" dirty="0"/>
          </a:p>
        </p:txBody>
      </p:sp>
      <p:sp>
        <p:nvSpPr>
          <p:cNvPr id="30" name="Shape 24"/>
          <p:cNvSpPr/>
          <p:nvPr/>
        </p:nvSpPr>
        <p:spPr>
          <a:xfrm>
            <a:off x="980476" y="5824279"/>
            <a:ext cx="10231049" cy="1031098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5"/>
          <p:cNvSpPr/>
          <p:nvPr/>
        </p:nvSpPr>
        <p:spPr>
          <a:xfrm>
            <a:off x="980476" y="5824279"/>
            <a:ext cx="10231049" cy="0"/>
          </a:xfrm>
          <a:prstGeom prst="line">
            <a:avLst/>
          </a:prstGeom>
          <a:noFill/>
          <a:ln w="8001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2" name="Image 3" descr="/home/claude/ex/07_img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3283" y="6120021"/>
            <a:ext cx="439755" cy="447608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2834853" y="6159736"/>
            <a:ext cx="827776" cy="199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1"/>
              </a:lnSpc>
              <a:buNone/>
            </a:pPr>
            <a:r>
              <a:rPr lang="en-US" sz="1259" b="1" kern="0" spc="13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259" dirty="0"/>
          </a:p>
        </p:txBody>
      </p:sp>
      <p:sp>
        <p:nvSpPr>
          <p:cNvPr id="34" name="Text 27"/>
          <p:cNvSpPr txBox="1"/>
          <p:nvPr/>
        </p:nvSpPr>
        <p:spPr>
          <a:xfrm>
            <a:off x="2834853" y="6415512"/>
            <a:ext cx="949669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692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692" dirty="0"/>
          </a:p>
        </p:txBody>
      </p:sp>
      <p:sp>
        <p:nvSpPr>
          <p:cNvPr id="35" name="Text 28"/>
          <p:cNvSpPr/>
          <p:nvPr/>
        </p:nvSpPr>
        <p:spPr>
          <a:xfrm>
            <a:off x="4770784" y="6255902"/>
            <a:ext cx="181122" cy="175846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18"/>
              </a:lnSpc>
              <a:buNone/>
            </a:pPr>
            <a:r>
              <a:rPr lang="en-US" sz="818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818" dirty="0"/>
          </a:p>
        </p:txBody>
      </p:sp>
      <p:sp>
        <p:nvSpPr>
          <p:cNvPr id="36" name="Text 29"/>
          <p:cNvSpPr txBox="1"/>
          <p:nvPr/>
        </p:nvSpPr>
        <p:spPr>
          <a:xfrm>
            <a:off x="5026561" y="6275635"/>
            <a:ext cx="1035844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692" b="1" kern="0" spc="14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692" dirty="0"/>
          </a:p>
        </p:txBody>
      </p:sp>
      <p:sp>
        <p:nvSpPr>
          <p:cNvPr id="37" name="Text 30"/>
          <p:cNvSpPr txBox="1"/>
          <p:nvPr/>
        </p:nvSpPr>
        <p:spPr>
          <a:xfrm>
            <a:off x="6142334" y="6275635"/>
            <a:ext cx="52829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692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692" dirty="0"/>
          </a:p>
        </p:txBody>
      </p:sp>
      <p:sp>
        <p:nvSpPr>
          <p:cNvPr id="38" name="Text 31"/>
          <p:cNvSpPr/>
          <p:nvPr/>
        </p:nvSpPr>
        <p:spPr>
          <a:xfrm>
            <a:off x="6275093" y="6267641"/>
            <a:ext cx="997128" cy="152242"/>
          </a:xfrm>
          <a:prstGeom prst="rect">
            <a:avLst/>
          </a:prstGeom>
          <a:ln/>
        </p:spPr>
        <p:txBody>
          <a:bodyPr wrap="none" lIns="0" tIns="0" rIns="0" bIns="16002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692" kern="0" spc="2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692" dirty="0"/>
          </a:p>
        </p:txBody>
      </p:sp>
      <p:sp>
        <p:nvSpPr>
          <p:cNvPr id="39" name="Shape 32"/>
          <p:cNvSpPr/>
          <p:nvPr/>
        </p:nvSpPr>
        <p:spPr>
          <a:xfrm>
            <a:off x="6275093" y="6419883"/>
            <a:ext cx="997128" cy="0"/>
          </a:xfrm>
          <a:prstGeom prst="line">
            <a:avLst/>
          </a:prstGeom>
          <a:noFill/>
          <a:ln w="8001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3"/>
          <p:cNvSpPr txBox="1"/>
          <p:nvPr/>
        </p:nvSpPr>
        <p:spPr>
          <a:xfrm>
            <a:off x="7352151" y="6275635"/>
            <a:ext cx="52829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692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692" dirty="0"/>
          </a:p>
        </p:txBody>
      </p:sp>
      <p:sp>
        <p:nvSpPr>
          <p:cNvPr id="41" name="Text 34"/>
          <p:cNvSpPr/>
          <p:nvPr/>
        </p:nvSpPr>
        <p:spPr>
          <a:xfrm>
            <a:off x="7484910" y="6267641"/>
            <a:ext cx="775571" cy="152242"/>
          </a:xfrm>
          <a:prstGeom prst="rect">
            <a:avLst/>
          </a:prstGeom>
          <a:ln/>
        </p:spPr>
        <p:txBody>
          <a:bodyPr wrap="none" lIns="0" tIns="0" rIns="0" bIns="16002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692" kern="0" spc="2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692" dirty="0"/>
          </a:p>
        </p:txBody>
      </p:sp>
      <p:sp>
        <p:nvSpPr>
          <p:cNvPr id="42" name="Shape 35"/>
          <p:cNvSpPr/>
          <p:nvPr/>
        </p:nvSpPr>
        <p:spPr>
          <a:xfrm>
            <a:off x="7484910" y="6419883"/>
            <a:ext cx="775571" cy="0"/>
          </a:xfrm>
          <a:prstGeom prst="line">
            <a:avLst/>
          </a:prstGeom>
          <a:noFill/>
          <a:ln w="8001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36"/>
          <p:cNvSpPr txBox="1"/>
          <p:nvPr/>
        </p:nvSpPr>
        <p:spPr>
          <a:xfrm>
            <a:off x="9246743" y="6275635"/>
            <a:ext cx="685900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3"/>
              </a:lnSpc>
              <a:buNone/>
            </a:pPr>
            <a:r>
              <a:rPr lang="en-US" sz="692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692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7531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76275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08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152400"/>
            <a:ext cx="361950" cy="36195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23900" y="185738"/>
            <a:ext cx="9864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pic>
        <p:nvPicPr>
          <p:cNvPr id="8" name="Image 2" descr="/home/claude/ex/08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950" y="214136"/>
            <a:ext cx="247650" cy="23847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80150" y="178147"/>
            <a:ext cx="57388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7463582" y="178147"/>
            <a:ext cx="861864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8534995" y="178147"/>
            <a:ext cx="78983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9534376" y="254347"/>
            <a:ext cx="72017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0273605" y="251966"/>
            <a:ext cx="152400" cy="152400"/>
          </a:xfrm>
          <a:prstGeom prst="ellipse">
            <a:avLst/>
          </a:prstGeom>
          <a:solidFill>
            <a:srgbClr val="E0632E"/>
          </a:solidFill>
          <a:ln/>
        </p:spPr>
        <p:txBody>
          <a:bodyPr wrap="none" lIns="38100" tIns="0" rIns="38100" bIns="0" rtlCol="0" anchor="ctr"/>
          <a:lstStyle/>
          <a:p>
            <a:pPr marL="0" indent="0" algn="ctr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8"/>
          <p:cNvSpPr txBox="1"/>
          <p:nvPr/>
        </p:nvSpPr>
        <p:spPr>
          <a:xfrm>
            <a:off x="10635555" y="244822"/>
            <a:ext cx="576114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SETTINGS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1421219" y="244822"/>
            <a:ext cx="504081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OUT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1790700" y="1123950"/>
            <a:ext cx="432197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790700" y="1491555"/>
            <a:ext cx="8610600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2"/>
              </a:lnSpc>
              <a:buNone/>
            </a:pPr>
            <a:r>
              <a:rPr lang="en-US" sz="3150" b="1" kern="0" spc="-32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List your app</a:t>
            </a:r>
            <a:endParaRPr lang="en-US" sz="3150" dirty="0"/>
          </a:p>
        </p:txBody>
      </p:sp>
      <p:sp>
        <p:nvSpPr>
          <p:cNvPr id="18" name="Text 12"/>
          <p:cNvSpPr txBox="1"/>
          <p:nvPr/>
        </p:nvSpPr>
        <p:spPr>
          <a:xfrm>
            <a:off x="1790700" y="2114104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TITLE</a:t>
            </a:r>
            <a:endParaRPr lang="en-US" sz="825" dirty="0"/>
          </a:p>
        </p:txBody>
      </p:sp>
      <p:sp>
        <p:nvSpPr>
          <p:cNvPr id="19" name="Shape 13"/>
          <p:cNvSpPr/>
          <p:nvPr/>
        </p:nvSpPr>
        <p:spPr>
          <a:xfrm>
            <a:off x="1790700" y="2333625"/>
            <a:ext cx="49530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4"/>
          <p:cNvSpPr txBox="1"/>
          <p:nvPr/>
        </p:nvSpPr>
        <p:spPr>
          <a:xfrm>
            <a:off x="1790700" y="2876550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TAGLINE</a:t>
            </a:r>
            <a:endParaRPr lang="en-US" sz="825" dirty="0"/>
          </a:p>
        </p:txBody>
      </p:sp>
      <p:sp>
        <p:nvSpPr>
          <p:cNvPr id="21" name="Shape 15"/>
          <p:cNvSpPr/>
          <p:nvPr/>
        </p:nvSpPr>
        <p:spPr>
          <a:xfrm>
            <a:off x="1790700" y="3096071"/>
            <a:ext cx="49530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6"/>
          <p:cNvSpPr txBox="1"/>
          <p:nvPr/>
        </p:nvSpPr>
        <p:spPr>
          <a:xfrm>
            <a:off x="1790700" y="3638996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DESCRIPTION</a:t>
            </a:r>
            <a:endParaRPr lang="en-US" sz="825" dirty="0"/>
          </a:p>
        </p:txBody>
      </p:sp>
      <p:sp>
        <p:nvSpPr>
          <p:cNvPr id="23" name="Shape 17"/>
          <p:cNvSpPr/>
          <p:nvPr/>
        </p:nvSpPr>
        <p:spPr>
          <a:xfrm>
            <a:off x="1790700" y="3858518"/>
            <a:ext cx="49530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 txBox="1"/>
          <p:nvPr/>
        </p:nvSpPr>
        <p:spPr>
          <a:xfrm>
            <a:off x="1790700" y="5109567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825" dirty="0"/>
          </a:p>
        </p:txBody>
      </p:sp>
      <p:sp>
        <p:nvSpPr>
          <p:cNvPr id="25" name="Shape 19"/>
          <p:cNvSpPr/>
          <p:nvPr/>
        </p:nvSpPr>
        <p:spPr>
          <a:xfrm>
            <a:off x="1790700" y="5329089"/>
            <a:ext cx="49530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DEC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74357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790700" y="118914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WEBSITE LINK (OPTIONAL)</a:t>
            </a:r>
            <a:endParaRPr lang="en-US" sz="825" dirty="0"/>
          </a:p>
        </p:txBody>
      </p:sp>
      <p:sp>
        <p:nvSpPr>
          <p:cNvPr id="5" name="Text 1"/>
          <p:cNvSpPr/>
          <p:nvPr/>
        </p:nvSpPr>
        <p:spPr>
          <a:xfrm>
            <a:off x="1790700" y="338435"/>
            <a:ext cx="49530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</a:ln>
        </p:spPr>
        <p:txBody>
          <a:bodyPr wrap="none" lIns="142875" tIns="123825" rIns="142875" bIns="123825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8A948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https://</a:t>
            </a:r>
            <a:endParaRPr lang="en-US" sz="1125" dirty="0"/>
          </a:p>
        </p:txBody>
      </p:sp>
      <p:sp>
        <p:nvSpPr>
          <p:cNvPr id="6" name="Text 2"/>
          <p:cNvSpPr txBox="1"/>
          <p:nvPr/>
        </p:nvSpPr>
        <p:spPr>
          <a:xfrm>
            <a:off x="1790700" y="881360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 STORE LINK (OPTIONAL)</a:t>
            </a:r>
            <a:endParaRPr lang="en-US" sz="825" dirty="0"/>
          </a:p>
        </p:txBody>
      </p:sp>
      <p:sp>
        <p:nvSpPr>
          <p:cNvPr id="7" name="Text 3"/>
          <p:cNvSpPr/>
          <p:nvPr/>
        </p:nvSpPr>
        <p:spPr>
          <a:xfrm>
            <a:off x="1790700" y="1100882"/>
            <a:ext cx="49530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</a:ln>
        </p:spPr>
        <p:txBody>
          <a:bodyPr wrap="none" lIns="142875" tIns="123825" rIns="142875" bIns="123825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8A948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https://apps.apple.com/...</a:t>
            </a:r>
            <a:endParaRPr lang="en-US" sz="1125" dirty="0"/>
          </a:p>
        </p:txBody>
      </p:sp>
      <p:sp>
        <p:nvSpPr>
          <p:cNvPr id="8" name="Text 4"/>
          <p:cNvSpPr txBox="1"/>
          <p:nvPr/>
        </p:nvSpPr>
        <p:spPr>
          <a:xfrm>
            <a:off x="1790700" y="1643807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GOOGLE PLAY LINK (OPTIONAL)</a:t>
            </a:r>
            <a:endParaRPr lang="en-US" sz="825" dirty="0"/>
          </a:p>
        </p:txBody>
      </p:sp>
      <p:sp>
        <p:nvSpPr>
          <p:cNvPr id="9" name="Text 5"/>
          <p:cNvSpPr/>
          <p:nvPr/>
        </p:nvSpPr>
        <p:spPr>
          <a:xfrm>
            <a:off x="1790700" y="1863328"/>
            <a:ext cx="49530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</a:ln>
        </p:spPr>
        <p:txBody>
          <a:bodyPr wrap="none" lIns="142875" tIns="123825" rIns="142875" bIns="123825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8A948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https://play.google.com/...</a:t>
            </a:r>
            <a:endParaRPr lang="en-US" sz="1125" dirty="0"/>
          </a:p>
        </p:txBody>
      </p:sp>
      <p:sp>
        <p:nvSpPr>
          <p:cNvPr id="10" name="Text 6"/>
          <p:cNvSpPr txBox="1"/>
          <p:nvPr/>
        </p:nvSpPr>
        <p:spPr>
          <a:xfrm>
            <a:off x="1790700" y="2406253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PLATFORM</a:t>
            </a:r>
            <a:endParaRPr lang="en-US" sz="825" dirty="0"/>
          </a:p>
        </p:txBody>
      </p:sp>
      <p:sp>
        <p:nvSpPr>
          <p:cNvPr id="11" name="Text 7"/>
          <p:cNvSpPr/>
          <p:nvPr/>
        </p:nvSpPr>
        <p:spPr>
          <a:xfrm>
            <a:off x="1790700" y="2625775"/>
            <a:ext cx="4953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</a:ln>
        </p:spPr>
        <p:txBody>
          <a:bodyPr wrap="none" lIns="142875" tIns="123825" rIns="142875" bIns="123825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Web   ▾</a:t>
            </a:r>
            <a:endParaRPr lang="en-US" sz="1125" dirty="0"/>
          </a:p>
        </p:txBody>
      </p:sp>
      <p:sp>
        <p:nvSpPr>
          <p:cNvPr id="12" name="Text 8"/>
          <p:cNvSpPr/>
          <p:nvPr/>
        </p:nvSpPr>
        <p:spPr>
          <a:xfrm>
            <a:off x="1790700" y="3187750"/>
            <a:ext cx="1478310" cy="371475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90500" tIns="114300" rIns="190500" bIns="11430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kern="0" spc="3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PUBLISH LISTING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0" y="4511725"/>
            <a:ext cx="12192000" cy="1228725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0"/>
          <p:cNvSpPr/>
          <p:nvPr/>
        </p:nvSpPr>
        <p:spPr>
          <a:xfrm>
            <a:off x="0" y="4511725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mage 1" descr="/home/claude/ex/08_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79" y="4864150"/>
            <a:ext cx="524042" cy="5334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209800" y="4911477"/>
            <a:ext cx="9864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2209800" y="5216277"/>
            <a:ext cx="11316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825" dirty="0"/>
          </a:p>
        </p:txBody>
      </p:sp>
      <p:sp>
        <p:nvSpPr>
          <p:cNvPr id="18" name="Text 13"/>
          <p:cNvSpPr/>
          <p:nvPr/>
        </p:nvSpPr>
        <p:spPr>
          <a:xfrm>
            <a:off x="4516785" y="5026075"/>
            <a:ext cx="215836" cy="209550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975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975" dirty="0"/>
          </a:p>
        </p:txBody>
      </p:sp>
      <p:sp>
        <p:nvSpPr>
          <p:cNvPr id="19" name="Text 14"/>
          <p:cNvSpPr txBox="1"/>
          <p:nvPr/>
        </p:nvSpPr>
        <p:spPr>
          <a:xfrm>
            <a:off x="4821585" y="5049589"/>
            <a:ext cx="123438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b="1" kern="0" spc="17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825" dirty="0"/>
          </a:p>
        </p:txBody>
      </p:sp>
      <p:sp>
        <p:nvSpPr>
          <p:cNvPr id="20" name="Text 15"/>
          <p:cNvSpPr txBox="1"/>
          <p:nvPr/>
        </p:nvSpPr>
        <p:spPr>
          <a:xfrm>
            <a:off x="6151215" y="5049589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21" name="Text 16"/>
          <p:cNvSpPr/>
          <p:nvPr/>
        </p:nvSpPr>
        <p:spPr>
          <a:xfrm>
            <a:off x="6309420" y="5040064"/>
            <a:ext cx="1188244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825" dirty="0"/>
          </a:p>
        </p:txBody>
      </p:sp>
      <p:sp>
        <p:nvSpPr>
          <p:cNvPr id="22" name="Shape 17"/>
          <p:cNvSpPr/>
          <p:nvPr/>
        </p:nvSpPr>
        <p:spPr>
          <a:xfrm>
            <a:off x="6309420" y="5221486"/>
            <a:ext cx="1188244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8"/>
          <p:cNvSpPr txBox="1"/>
          <p:nvPr/>
        </p:nvSpPr>
        <p:spPr>
          <a:xfrm>
            <a:off x="7592913" y="5049589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24" name="Text 19"/>
          <p:cNvSpPr/>
          <p:nvPr/>
        </p:nvSpPr>
        <p:spPr>
          <a:xfrm>
            <a:off x="7751118" y="5040064"/>
            <a:ext cx="924223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825" dirty="0"/>
          </a:p>
        </p:txBody>
      </p:sp>
      <p:sp>
        <p:nvSpPr>
          <p:cNvPr id="25" name="Shape 20"/>
          <p:cNvSpPr/>
          <p:nvPr/>
        </p:nvSpPr>
        <p:spPr>
          <a:xfrm>
            <a:off x="7751118" y="5221486"/>
            <a:ext cx="924223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1"/>
          <p:cNvSpPr txBox="1"/>
          <p:nvPr/>
        </p:nvSpPr>
        <p:spPr>
          <a:xfrm>
            <a:off x="9850636" y="5049589"/>
            <a:ext cx="81736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8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50557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76275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09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152400"/>
            <a:ext cx="361950" cy="36195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23900" y="185738"/>
            <a:ext cx="9864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pic>
        <p:nvPicPr>
          <p:cNvPr id="8" name="Image 2" descr="/home/claude/ex/09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950" y="214136"/>
            <a:ext cx="247650" cy="23847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80150" y="178147"/>
            <a:ext cx="57388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7463582" y="178147"/>
            <a:ext cx="861864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8534995" y="178147"/>
            <a:ext cx="78983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9534376" y="254347"/>
            <a:ext cx="72017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0273605" y="251966"/>
            <a:ext cx="152400" cy="152400"/>
          </a:xfrm>
          <a:prstGeom prst="ellipse">
            <a:avLst/>
          </a:prstGeom>
          <a:solidFill>
            <a:srgbClr val="E0632E"/>
          </a:solidFill>
          <a:ln/>
        </p:spPr>
        <p:txBody>
          <a:bodyPr wrap="none" lIns="38100" tIns="0" rIns="38100" bIns="0" rtlCol="0" anchor="ctr"/>
          <a:lstStyle/>
          <a:p>
            <a:pPr marL="0" indent="0" algn="ctr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8"/>
          <p:cNvSpPr txBox="1"/>
          <p:nvPr/>
        </p:nvSpPr>
        <p:spPr>
          <a:xfrm>
            <a:off x="10635555" y="244822"/>
            <a:ext cx="576114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SETTINGS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1421219" y="244822"/>
            <a:ext cx="504081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OUT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1790700" y="1123950"/>
            <a:ext cx="432197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790700" y="1491555"/>
            <a:ext cx="8610600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2"/>
              </a:lnSpc>
              <a:buNone/>
            </a:pPr>
            <a:r>
              <a:rPr lang="en-US" sz="3150" b="1" kern="0" spc="-32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Edit listing</a:t>
            </a:r>
            <a:endParaRPr lang="en-US" sz="3150" dirty="0"/>
          </a:p>
        </p:txBody>
      </p:sp>
      <p:sp>
        <p:nvSpPr>
          <p:cNvPr id="18" name="Text 12"/>
          <p:cNvSpPr txBox="1"/>
          <p:nvPr/>
        </p:nvSpPr>
        <p:spPr>
          <a:xfrm>
            <a:off x="1790700" y="2114104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TITLE</a:t>
            </a:r>
            <a:endParaRPr lang="en-US" sz="825" dirty="0"/>
          </a:p>
        </p:txBody>
      </p:sp>
      <p:sp>
        <p:nvSpPr>
          <p:cNvPr id="19" name="Text 13"/>
          <p:cNvSpPr/>
          <p:nvPr/>
        </p:nvSpPr>
        <p:spPr>
          <a:xfrm>
            <a:off x="1790700" y="2333625"/>
            <a:ext cx="49530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</a:ln>
        </p:spPr>
        <p:txBody>
          <a:bodyPr wrap="none" lIns="142875" tIns="123825" rIns="142875" bIns="123825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FlipAll5</a:t>
            </a:r>
            <a:endParaRPr lang="en-US" sz="1125" dirty="0"/>
          </a:p>
        </p:txBody>
      </p:sp>
      <p:sp>
        <p:nvSpPr>
          <p:cNvPr id="20" name="Text 14"/>
          <p:cNvSpPr txBox="1"/>
          <p:nvPr/>
        </p:nvSpPr>
        <p:spPr>
          <a:xfrm>
            <a:off x="1790700" y="2876550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TAGLINE</a:t>
            </a:r>
            <a:endParaRPr lang="en-US" sz="825" dirty="0"/>
          </a:p>
        </p:txBody>
      </p:sp>
      <p:sp>
        <p:nvSpPr>
          <p:cNvPr id="21" name="Text 15"/>
          <p:cNvSpPr/>
          <p:nvPr/>
        </p:nvSpPr>
        <p:spPr>
          <a:xfrm>
            <a:off x="1790700" y="3096071"/>
            <a:ext cx="49530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</a:ln>
        </p:spPr>
        <p:txBody>
          <a:bodyPr wrap="none" lIns="142875" tIns="123825" rIns="142875" bIns="123825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daily five-letter word flip puzzle</a:t>
            </a:r>
            <a:endParaRPr lang="en-US" sz="1125" dirty="0"/>
          </a:p>
        </p:txBody>
      </p:sp>
      <p:sp>
        <p:nvSpPr>
          <p:cNvPr id="22" name="Text 16"/>
          <p:cNvSpPr txBox="1"/>
          <p:nvPr/>
        </p:nvSpPr>
        <p:spPr>
          <a:xfrm>
            <a:off x="1790700" y="3638996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DESCRIPTION</a:t>
            </a:r>
            <a:endParaRPr lang="en-US" sz="825" dirty="0"/>
          </a:p>
        </p:txBody>
      </p:sp>
      <p:sp>
        <p:nvSpPr>
          <p:cNvPr id="23" name="Text 17"/>
          <p:cNvSpPr/>
          <p:nvPr/>
        </p:nvSpPr>
        <p:spPr>
          <a:xfrm>
            <a:off x="1790700" y="3858518"/>
            <a:ext cx="510159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</a:ln>
        </p:spPr>
        <p:txBody>
          <a:bodyPr wrap="square" lIns="142875" tIns="123825" rIns="142875" bIns="123825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daily word puzzle where you flip tiles to find all five words. Streaks, stats and share cards built in.</a:t>
            </a:r>
            <a:endParaRPr lang="en-US" sz="1125" dirty="0"/>
          </a:p>
        </p:txBody>
      </p:sp>
      <p:sp>
        <p:nvSpPr>
          <p:cNvPr id="24" name="Text 18"/>
          <p:cNvSpPr txBox="1"/>
          <p:nvPr/>
        </p:nvSpPr>
        <p:spPr>
          <a:xfrm>
            <a:off x="1790700" y="5109567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CATEGORY</a:t>
            </a:r>
            <a:endParaRPr lang="en-US" sz="825" dirty="0"/>
          </a:p>
        </p:txBody>
      </p:sp>
      <p:sp>
        <p:nvSpPr>
          <p:cNvPr id="25" name="Text 19"/>
          <p:cNvSpPr/>
          <p:nvPr/>
        </p:nvSpPr>
        <p:spPr>
          <a:xfrm>
            <a:off x="1790700" y="5329089"/>
            <a:ext cx="49530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</a:ln>
        </p:spPr>
        <p:txBody>
          <a:bodyPr wrap="none" lIns="142875" tIns="123825" rIns="142875" bIns="123825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Games</a:t>
            </a:r>
            <a:endParaRPr lang="en-US" sz="1125" dirty="0"/>
          </a:p>
        </p:txBody>
      </p:sp>
      <p:sp>
        <p:nvSpPr>
          <p:cNvPr id="26" name="Text 20"/>
          <p:cNvSpPr txBox="1"/>
          <p:nvPr/>
        </p:nvSpPr>
        <p:spPr>
          <a:xfrm>
            <a:off x="1790700" y="5872014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WEBSITE LINK (OPTIONAL)</a:t>
            </a:r>
            <a:endParaRPr lang="en-US" sz="825" dirty="0"/>
          </a:p>
        </p:txBody>
      </p:sp>
      <p:sp>
        <p:nvSpPr>
          <p:cNvPr id="27" name="Text 21"/>
          <p:cNvSpPr/>
          <p:nvPr/>
        </p:nvSpPr>
        <p:spPr>
          <a:xfrm>
            <a:off x="1790700" y="6091535"/>
            <a:ext cx="49530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</a:ln>
        </p:spPr>
        <p:txBody>
          <a:bodyPr wrap="none" lIns="142875" tIns="123825" rIns="142875" bIns="123825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https://flipall5.com</a:t>
            </a:r>
            <a:endParaRPr lang="en-US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DEC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49605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790700" y="128885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 STORE LINK (OPTIONAL)</a:t>
            </a:r>
            <a:endParaRPr lang="en-US" sz="825" dirty="0"/>
          </a:p>
        </p:txBody>
      </p:sp>
      <p:sp>
        <p:nvSpPr>
          <p:cNvPr id="5" name="Text 1"/>
          <p:cNvSpPr/>
          <p:nvPr/>
        </p:nvSpPr>
        <p:spPr>
          <a:xfrm>
            <a:off x="1790700" y="348407"/>
            <a:ext cx="49530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</a:ln>
        </p:spPr>
        <p:txBody>
          <a:bodyPr wrap="none" lIns="142875" tIns="123825" rIns="142875" bIns="123825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https://apps.apple.com/app/flipall5</a:t>
            </a:r>
            <a:endParaRPr lang="en-US" sz="1125" dirty="0"/>
          </a:p>
        </p:txBody>
      </p:sp>
      <p:sp>
        <p:nvSpPr>
          <p:cNvPr id="6" name="Text 2"/>
          <p:cNvSpPr txBox="1"/>
          <p:nvPr/>
        </p:nvSpPr>
        <p:spPr>
          <a:xfrm>
            <a:off x="1790700" y="891332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GOOGLE PLAY LINK (OPTIONAL)</a:t>
            </a:r>
            <a:endParaRPr lang="en-US" sz="825" dirty="0"/>
          </a:p>
        </p:txBody>
      </p:sp>
      <p:sp>
        <p:nvSpPr>
          <p:cNvPr id="7" name="Text 3"/>
          <p:cNvSpPr/>
          <p:nvPr/>
        </p:nvSpPr>
        <p:spPr>
          <a:xfrm>
            <a:off x="1790700" y="1110853"/>
            <a:ext cx="49530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</a:ln>
        </p:spPr>
        <p:txBody>
          <a:bodyPr wrap="none" lIns="142875" tIns="123825" rIns="142875" bIns="123825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8A948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https://play.google.com/...</a:t>
            </a:r>
            <a:endParaRPr lang="en-US" sz="1125" dirty="0"/>
          </a:p>
        </p:txBody>
      </p:sp>
      <p:sp>
        <p:nvSpPr>
          <p:cNvPr id="8" name="Text 4"/>
          <p:cNvSpPr txBox="1"/>
          <p:nvPr/>
        </p:nvSpPr>
        <p:spPr>
          <a:xfrm>
            <a:off x="1790700" y="1653778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PLATFORM</a:t>
            </a:r>
            <a:endParaRPr lang="en-US" sz="825" dirty="0"/>
          </a:p>
        </p:txBody>
      </p:sp>
      <p:sp>
        <p:nvSpPr>
          <p:cNvPr id="9" name="Text 5"/>
          <p:cNvSpPr/>
          <p:nvPr/>
        </p:nvSpPr>
        <p:spPr>
          <a:xfrm>
            <a:off x="1790700" y="1873300"/>
            <a:ext cx="4953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</a:ln>
        </p:spPr>
        <p:txBody>
          <a:bodyPr wrap="none" lIns="142875" tIns="123825" rIns="142875" bIns="123825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Multiple   ▾</a:t>
            </a:r>
            <a:endParaRPr lang="en-US" sz="1125" dirty="0"/>
          </a:p>
        </p:txBody>
      </p:sp>
      <p:sp>
        <p:nvSpPr>
          <p:cNvPr id="10" name="Text 6"/>
          <p:cNvSpPr txBox="1"/>
          <p:nvPr/>
        </p:nvSpPr>
        <p:spPr>
          <a:xfrm>
            <a:off x="1790700" y="2435275"/>
            <a:ext cx="5101590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REVENUECAT PROJECT KEY (OPTIONAL — ENABLES VERIFIED REVENUE SYNC FOR ANY CRESCOPACT ON THIS APP)</a:t>
            </a:r>
            <a:endParaRPr lang="en-US" sz="825" dirty="0"/>
          </a:p>
        </p:txBody>
      </p:sp>
      <p:sp>
        <p:nvSpPr>
          <p:cNvPr id="11" name="Text 7"/>
          <p:cNvSpPr/>
          <p:nvPr/>
        </p:nvSpPr>
        <p:spPr>
          <a:xfrm>
            <a:off x="1790700" y="2817168"/>
            <a:ext cx="49530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</a:ln>
        </p:spPr>
        <p:txBody>
          <a:bodyPr wrap="none" lIns="142875" tIns="123825" rIns="142875" bIns="123825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proj_123</a:t>
            </a:r>
            <a:endParaRPr lang="en-US" sz="1125" dirty="0"/>
          </a:p>
        </p:txBody>
      </p:sp>
      <p:sp>
        <p:nvSpPr>
          <p:cNvPr id="12" name="Text 8"/>
          <p:cNvSpPr/>
          <p:nvPr/>
        </p:nvSpPr>
        <p:spPr>
          <a:xfrm>
            <a:off x="1790700" y="3360093"/>
            <a:ext cx="1258937" cy="371475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90500" tIns="114300" rIns="190500" bIns="11430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kern="0" spc="3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SAVE CHANGES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790700" y="3893493"/>
            <a:ext cx="861060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Delete this listing</a:t>
            </a:r>
            <a:endParaRPr lang="en-US" sz="1275" dirty="0"/>
          </a:p>
        </p:txBody>
      </p:sp>
      <p:sp>
        <p:nvSpPr>
          <p:cNvPr id="14" name="Shape 10"/>
          <p:cNvSpPr/>
          <p:nvPr/>
        </p:nvSpPr>
        <p:spPr>
          <a:xfrm>
            <a:off x="0" y="5258842"/>
            <a:ext cx="12192000" cy="1228725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0" y="5258842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Image 1" descr="/home/claude/ex/09_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79" y="5611267"/>
            <a:ext cx="524042" cy="5334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209800" y="5658594"/>
            <a:ext cx="9864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2209800" y="5963394"/>
            <a:ext cx="11316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825" dirty="0"/>
          </a:p>
        </p:txBody>
      </p:sp>
      <p:sp>
        <p:nvSpPr>
          <p:cNvPr id="19" name="Text 14"/>
          <p:cNvSpPr/>
          <p:nvPr/>
        </p:nvSpPr>
        <p:spPr>
          <a:xfrm>
            <a:off x="4516785" y="5773192"/>
            <a:ext cx="215836" cy="209550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975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975" dirty="0"/>
          </a:p>
        </p:txBody>
      </p:sp>
      <p:sp>
        <p:nvSpPr>
          <p:cNvPr id="20" name="Text 15"/>
          <p:cNvSpPr txBox="1"/>
          <p:nvPr/>
        </p:nvSpPr>
        <p:spPr>
          <a:xfrm>
            <a:off x="4821585" y="5796707"/>
            <a:ext cx="123438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b="1" kern="0" spc="17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825" dirty="0"/>
          </a:p>
        </p:txBody>
      </p:sp>
      <p:sp>
        <p:nvSpPr>
          <p:cNvPr id="21" name="Text 16"/>
          <p:cNvSpPr txBox="1"/>
          <p:nvPr/>
        </p:nvSpPr>
        <p:spPr>
          <a:xfrm>
            <a:off x="6151215" y="5796707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22" name="Text 17"/>
          <p:cNvSpPr/>
          <p:nvPr/>
        </p:nvSpPr>
        <p:spPr>
          <a:xfrm>
            <a:off x="6309420" y="5787182"/>
            <a:ext cx="1188244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825" dirty="0"/>
          </a:p>
        </p:txBody>
      </p:sp>
      <p:sp>
        <p:nvSpPr>
          <p:cNvPr id="23" name="Shape 18"/>
          <p:cNvSpPr/>
          <p:nvPr/>
        </p:nvSpPr>
        <p:spPr>
          <a:xfrm>
            <a:off x="6309420" y="5968603"/>
            <a:ext cx="1188244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19"/>
          <p:cNvSpPr txBox="1"/>
          <p:nvPr/>
        </p:nvSpPr>
        <p:spPr>
          <a:xfrm>
            <a:off x="7592913" y="5796707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25" name="Text 20"/>
          <p:cNvSpPr/>
          <p:nvPr/>
        </p:nvSpPr>
        <p:spPr>
          <a:xfrm>
            <a:off x="7751118" y="5787182"/>
            <a:ext cx="924223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825" dirty="0"/>
          </a:p>
        </p:txBody>
      </p:sp>
      <p:sp>
        <p:nvSpPr>
          <p:cNvPr id="26" name="Shape 21"/>
          <p:cNvSpPr/>
          <p:nvPr/>
        </p:nvSpPr>
        <p:spPr>
          <a:xfrm>
            <a:off x="7751118" y="5968603"/>
            <a:ext cx="924223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 txBox="1"/>
          <p:nvPr/>
        </p:nvSpPr>
        <p:spPr>
          <a:xfrm>
            <a:off x="9850636" y="5796707"/>
            <a:ext cx="81736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8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68642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76275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10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152400"/>
            <a:ext cx="361950" cy="36195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23900" y="185738"/>
            <a:ext cx="9864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pic>
        <p:nvPicPr>
          <p:cNvPr id="8" name="Image 2" descr="/home/claude/ex/10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950" y="214136"/>
            <a:ext cx="247650" cy="23847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80150" y="178147"/>
            <a:ext cx="57388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7463582" y="178147"/>
            <a:ext cx="861864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8534995" y="178147"/>
            <a:ext cx="78983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9534376" y="254347"/>
            <a:ext cx="72017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0273605" y="251966"/>
            <a:ext cx="152400" cy="152400"/>
          </a:xfrm>
          <a:prstGeom prst="ellipse">
            <a:avLst/>
          </a:prstGeom>
          <a:solidFill>
            <a:srgbClr val="E0632E"/>
          </a:solidFill>
          <a:ln/>
        </p:spPr>
        <p:txBody>
          <a:bodyPr wrap="none" lIns="38100" tIns="0" rIns="38100" bIns="0" rtlCol="0" anchor="ctr"/>
          <a:lstStyle/>
          <a:p>
            <a:pPr marL="0" indent="0" algn="ctr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8"/>
          <p:cNvSpPr txBox="1"/>
          <p:nvPr/>
        </p:nvSpPr>
        <p:spPr>
          <a:xfrm>
            <a:off x="10635555" y="244822"/>
            <a:ext cx="576114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SETTINGS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1421219" y="244822"/>
            <a:ext cx="504081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OUT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1790700" y="1123950"/>
            <a:ext cx="432197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790700" y="1491555"/>
            <a:ext cx="8610600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2"/>
              </a:lnSpc>
              <a:buNone/>
            </a:pPr>
            <a:r>
              <a:rPr lang="en-US" sz="3150" b="1" kern="0" spc="-32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Delete this listing?</a:t>
            </a:r>
            <a:endParaRPr lang="en-US" sz="3150" dirty="0"/>
          </a:p>
        </p:txBody>
      </p:sp>
      <p:sp>
        <p:nvSpPr>
          <p:cNvPr id="18" name="Text 12"/>
          <p:cNvSpPr txBox="1"/>
          <p:nvPr/>
        </p:nvSpPr>
        <p:spPr>
          <a:xfrm>
            <a:off x="1790700" y="2114104"/>
            <a:ext cx="861060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This permanently removes FlipAll5 and any revenue streams attached to it. This can't be undone.</a:t>
            </a:r>
            <a:endParaRPr lang="en-US" sz="1275" dirty="0"/>
          </a:p>
        </p:txBody>
      </p:sp>
      <p:sp>
        <p:nvSpPr>
          <p:cNvPr id="19" name="Text 13"/>
          <p:cNvSpPr/>
          <p:nvPr/>
        </p:nvSpPr>
        <p:spPr>
          <a:xfrm>
            <a:off x="1790700" y="2555528"/>
            <a:ext cx="1405235" cy="371475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90500" tIns="114300" rIns="190500" bIns="11430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kern="0" spc="3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DELETE LISTING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1790700" y="3088928"/>
            <a:ext cx="861060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Cancel</a:t>
            </a:r>
            <a:endParaRPr lang="en-US" sz="1275" dirty="0"/>
          </a:p>
        </p:txBody>
      </p:sp>
      <p:sp>
        <p:nvSpPr>
          <p:cNvPr id="21" name="Shape 15"/>
          <p:cNvSpPr/>
          <p:nvPr/>
        </p:nvSpPr>
        <p:spPr>
          <a:xfrm>
            <a:off x="0" y="4454277"/>
            <a:ext cx="12192000" cy="1228725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16"/>
          <p:cNvSpPr/>
          <p:nvPr/>
        </p:nvSpPr>
        <p:spPr>
          <a:xfrm>
            <a:off x="0" y="4454277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3" name="Image 3" descr="/home/claude/ex/10_img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8679" y="4806702"/>
            <a:ext cx="524042" cy="5334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2209800" y="4854029"/>
            <a:ext cx="9864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2209800" y="5158829"/>
            <a:ext cx="11316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825" dirty="0"/>
          </a:p>
        </p:txBody>
      </p:sp>
      <p:sp>
        <p:nvSpPr>
          <p:cNvPr id="26" name="Text 19"/>
          <p:cNvSpPr/>
          <p:nvPr/>
        </p:nvSpPr>
        <p:spPr>
          <a:xfrm>
            <a:off x="4516785" y="4968627"/>
            <a:ext cx="215836" cy="209550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975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975" dirty="0"/>
          </a:p>
        </p:txBody>
      </p:sp>
      <p:sp>
        <p:nvSpPr>
          <p:cNvPr id="27" name="Text 20"/>
          <p:cNvSpPr txBox="1"/>
          <p:nvPr/>
        </p:nvSpPr>
        <p:spPr>
          <a:xfrm>
            <a:off x="4821585" y="4992142"/>
            <a:ext cx="123438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b="1" kern="0" spc="17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825" dirty="0"/>
          </a:p>
        </p:txBody>
      </p:sp>
      <p:sp>
        <p:nvSpPr>
          <p:cNvPr id="28" name="Text 21"/>
          <p:cNvSpPr txBox="1"/>
          <p:nvPr/>
        </p:nvSpPr>
        <p:spPr>
          <a:xfrm>
            <a:off x="6151215" y="4992142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29" name="Text 22"/>
          <p:cNvSpPr/>
          <p:nvPr/>
        </p:nvSpPr>
        <p:spPr>
          <a:xfrm>
            <a:off x="6309420" y="4982617"/>
            <a:ext cx="1188244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825" dirty="0"/>
          </a:p>
        </p:txBody>
      </p:sp>
      <p:sp>
        <p:nvSpPr>
          <p:cNvPr id="30" name="Shape 23"/>
          <p:cNvSpPr/>
          <p:nvPr/>
        </p:nvSpPr>
        <p:spPr>
          <a:xfrm>
            <a:off x="6309420" y="5164038"/>
            <a:ext cx="1188244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4"/>
          <p:cNvSpPr txBox="1"/>
          <p:nvPr/>
        </p:nvSpPr>
        <p:spPr>
          <a:xfrm>
            <a:off x="7592913" y="4992142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32" name="Text 25"/>
          <p:cNvSpPr/>
          <p:nvPr/>
        </p:nvSpPr>
        <p:spPr>
          <a:xfrm>
            <a:off x="7751118" y="4982617"/>
            <a:ext cx="924223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825" dirty="0"/>
          </a:p>
        </p:txBody>
      </p:sp>
      <p:sp>
        <p:nvSpPr>
          <p:cNvPr id="33" name="Shape 26"/>
          <p:cNvSpPr/>
          <p:nvPr/>
        </p:nvSpPr>
        <p:spPr>
          <a:xfrm>
            <a:off x="7751118" y="5164038"/>
            <a:ext cx="924223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27"/>
          <p:cNvSpPr txBox="1"/>
          <p:nvPr/>
        </p:nvSpPr>
        <p:spPr>
          <a:xfrm>
            <a:off x="9850636" y="4992142"/>
            <a:ext cx="81736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8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1531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76275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11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152400"/>
            <a:ext cx="361950" cy="36195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23900" y="185738"/>
            <a:ext cx="9864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pic>
        <p:nvPicPr>
          <p:cNvPr id="8" name="Image 2" descr="/home/claude/ex/11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950" y="214136"/>
            <a:ext cx="247650" cy="23847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80150" y="178147"/>
            <a:ext cx="57388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7463582" y="178147"/>
            <a:ext cx="861864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8534995" y="178147"/>
            <a:ext cx="78983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9534376" y="254347"/>
            <a:ext cx="72017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0273605" y="251966"/>
            <a:ext cx="152400" cy="152400"/>
          </a:xfrm>
          <a:prstGeom prst="ellipse">
            <a:avLst/>
          </a:prstGeom>
          <a:solidFill>
            <a:srgbClr val="E0632E"/>
          </a:solidFill>
          <a:ln/>
        </p:spPr>
        <p:txBody>
          <a:bodyPr wrap="none" lIns="38100" tIns="0" rIns="38100" bIns="0" rtlCol="0" anchor="ctr"/>
          <a:lstStyle/>
          <a:p>
            <a:pPr marL="0" indent="0" algn="ctr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8"/>
          <p:cNvSpPr txBox="1"/>
          <p:nvPr/>
        </p:nvSpPr>
        <p:spPr>
          <a:xfrm>
            <a:off x="10635555" y="244822"/>
            <a:ext cx="576114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SETTINGS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1421219" y="244822"/>
            <a:ext cx="504081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OUT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1790700" y="1123950"/>
            <a:ext cx="432197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790700" y="1491555"/>
            <a:ext cx="8610600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2"/>
              </a:lnSpc>
              <a:buNone/>
            </a:pPr>
            <a:r>
              <a:rPr lang="en-US" sz="3150" b="1" kern="0" spc="-32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Growers</a:t>
            </a:r>
            <a:endParaRPr lang="en-US" sz="3150" dirty="0"/>
          </a:p>
        </p:txBody>
      </p:sp>
      <p:sp>
        <p:nvSpPr>
          <p:cNvPr id="18" name="Shape 12"/>
          <p:cNvSpPr/>
          <p:nvPr/>
        </p:nvSpPr>
        <p:spPr>
          <a:xfrm>
            <a:off x="1790700" y="2114104"/>
            <a:ext cx="8610600" cy="1849636"/>
          </a:xfrm>
          <a:prstGeom prst="rect">
            <a:avLst/>
          </a:prstGeom>
          <a:solidFill>
            <a:srgbClr val="DBDED0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3"/>
          <p:cNvSpPr/>
          <p:nvPr/>
        </p:nvSpPr>
        <p:spPr>
          <a:xfrm>
            <a:off x="1800225" y="2123629"/>
            <a:ext cx="8591550" cy="9105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4"/>
          <p:cNvSpPr txBox="1"/>
          <p:nvPr/>
        </p:nvSpPr>
        <p:spPr>
          <a:xfrm>
            <a:off x="1990725" y="2314129"/>
            <a:ext cx="821055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8C61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Sam Rivers</a:t>
            </a:r>
            <a:endParaRPr lang="en-US" sz="1275" dirty="0"/>
          </a:p>
        </p:txBody>
      </p:sp>
      <p:sp>
        <p:nvSpPr>
          <p:cNvPr id="21" name="Text 15"/>
          <p:cNvSpPr txBox="1"/>
          <p:nvPr/>
        </p:nvSpPr>
        <p:spPr>
          <a:xfrm>
            <a:off x="1990725" y="2622203"/>
            <a:ext cx="8210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Growth marketer — ASO, TikTok campaigns and partnerships for indie apps.</a:t>
            </a:r>
            <a:endParaRPr lang="en-US" sz="1125" dirty="0"/>
          </a:p>
        </p:txBody>
      </p:sp>
      <p:sp>
        <p:nvSpPr>
          <p:cNvPr id="22" name="Shape 16"/>
          <p:cNvSpPr/>
          <p:nvPr/>
        </p:nvSpPr>
        <p:spPr>
          <a:xfrm>
            <a:off x="1800225" y="3043684"/>
            <a:ext cx="8591550" cy="9105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17"/>
          <p:cNvSpPr txBox="1"/>
          <p:nvPr/>
        </p:nvSpPr>
        <p:spPr>
          <a:xfrm>
            <a:off x="1990725" y="3234184"/>
            <a:ext cx="821055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8C6118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Priya Shah</a:t>
            </a:r>
            <a:endParaRPr lang="en-US" sz="1275" dirty="0"/>
          </a:p>
        </p:txBody>
      </p:sp>
      <p:sp>
        <p:nvSpPr>
          <p:cNvPr id="24" name="Text 18"/>
          <p:cNvSpPr txBox="1"/>
          <p:nvPr/>
        </p:nvSpPr>
        <p:spPr>
          <a:xfrm>
            <a:off x="1990725" y="3542258"/>
            <a:ext cx="8210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Paid social and influencer outreach.</a:t>
            </a:r>
            <a:endParaRPr lang="en-US" sz="1125" dirty="0"/>
          </a:p>
        </p:txBody>
      </p:sp>
      <p:sp>
        <p:nvSpPr>
          <p:cNvPr id="25" name="Shape 19"/>
          <p:cNvSpPr/>
          <p:nvPr/>
        </p:nvSpPr>
        <p:spPr>
          <a:xfrm>
            <a:off x="0" y="4916239"/>
            <a:ext cx="12192000" cy="1228725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0"/>
          <p:cNvSpPr/>
          <p:nvPr/>
        </p:nvSpPr>
        <p:spPr>
          <a:xfrm>
            <a:off x="0" y="4916239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7" name="Image 3" descr="/home/claude/ex/11_img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8679" y="5268664"/>
            <a:ext cx="524042" cy="5334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2209800" y="5315992"/>
            <a:ext cx="9864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2209800" y="5620792"/>
            <a:ext cx="11316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825" dirty="0"/>
          </a:p>
        </p:txBody>
      </p:sp>
      <p:sp>
        <p:nvSpPr>
          <p:cNvPr id="30" name="Text 23"/>
          <p:cNvSpPr/>
          <p:nvPr/>
        </p:nvSpPr>
        <p:spPr>
          <a:xfrm>
            <a:off x="4516785" y="5430589"/>
            <a:ext cx="215836" cy="209550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975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975" dirty="0"/>
          </a:p>
        </p:txBody>
      </p:sp>
      <p:sp>
        <p:nvSpPr>
          <p:cNvPr id="31" name="Text 24"/>
          <p:cNvSpPr txBox="1"/>
          <p:nvPr/>
        </p:nvSpPr>
        <p:spPr>
          <a:xfrm>
            <a:off x="4821585" y="5454104"/>
            <a:ext cx="123438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b="1" kern="0" spc="17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825" dirty="0"/>
          </a:p>
        </p:txBody>
      </p:sp>
      <p:sp>
        <p:nvSpPr>
          <p:cNvPr id="32" name="Text 25"/>
          <p:cNvSpPr txBox="1"/>
          <p:nvPr/>
        </p:nvSpPr>
        <p:spPr>
          <a:xfrm>
            <a:off x="6151215" y="5454104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33" name="Text 26"/>
          <p:cNvSpPr/>
          <p:nvPr/>
        </p:nvSpPr>
        <p:spPr>
          <a:xfrm>
            <a:off x="6309420" y="5444579"/>
            <a:ext cx="1188244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825" dirty="0"/>
          </a:p>
        </p:txBody>
      </p:sp>
      <p:sp>
        <p:nvSpPr>
          <p:cNvPr id="34" name="Shape 27"/>
          <p:cNvSpPr/>
          <p:nvPr/>
        </p:nvSpPr>
        <p:spPr>
          <a:xfrm>
            <a:off x="6309420" y="5626001"/>
            <a:ext cx="1188244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28"/>
          <p:cNvSpPr txBox="1"/>
          <p:nvPr/>
        </p:nvSpPr>
        <p:spPr>
          <a:xfrm>
            <a:off x="7592913" y="5454104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36" name="Text 29"/>
          <p:cNvSpPr/>
          <p:nvPr/>
        </p:nvSpPr>
        <p:spPr>
          <a:xfrm>
            <a:off x="7751118" y="5444579"/>
            <a:ext cx="924223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825" dirty="0"/>
          </a:p>
        </p:txBody>
      </p:sp>
      <p:sp>
        <p:nvSpPr>
          <p:cNvPr id="37" name="Shape 30"/>
          <p:cNvSpPr/>
          <p:nvPr/>
        </p:nvSpPr>
        <p:spPr>
          <a:xfrm>
            <a:off x="7751118" y="5626001"/>
            <a:ext cx="924223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1"/>
          <p:cNvSpPr txBox="1"/>
          <p:nvPr/>
        </p:nvSpPr>
        <p:spPr>
          <a:xfrm>
            <a:off x="9850636" y="5454104"/>
            <a:ext cx="81736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8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199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76275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12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152400"/>
            <a:ext cx="361950" cy="36195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23900" y="185738"/>
            <a:ext cx="9864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pic>
        <p:nvPicPr>
          <p:cNvPr id="8" name="Image 2" descr="/home/claude/ex/12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950" y="214136"/>
            <a:ext cx="247650" cy="23847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80150" y="178147"/>
            <a:ext cx="57388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7463582" y="178147"/>
            <a:ext cx="861864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8534995" y="178147"/>
            <a:ext cx="78983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9534376" y="254347"/>
            <a:ext cx="72017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0273605" y="251966"/>
            <a:ext cx="152400" cy="152400"/>
          </a:xfrm>
          <a:prstGeom prst="ellipse">
            <a:avLst/>
          </a:prstGeom>
          <a:solidFill>
            <a:srgbClr val="E0632E"/>
          </a:solidFill>
          <a:ln/>
        </p:spPr>
        <p:txBody>
          <a:bodyPr wrap="none" lIns="38100" tIns="0" rIns="38100" bIns="0" rtlCol="0" anchor="ctr"/>
          <a:lstStyle/>
          <a:p>
            <a:pPr marL="0" indent="0" algn="ctr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8"/>
          <p:cNvSpPr txBox="1"/>
          <p:nvPr/>
        </p:nvSpPr>
        <p:spPr>
          <a:xfrm>
            <a:off x="10635555" y="244822"/>
            <a:ext cx="576114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SETTINGS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1421219" y="244822"/>
            <a:ext cx="504081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OUT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1790700" y="1123950"/>
            <a:ext cx="432197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2262336" y="1143000"/>
            <a:ext cx="40868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8C611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</a:t>
            </a:r>
            <a:endParaRPr lang="en-US" sz="825" dirty="0"/>
          </a:p>
        </p:txBody>
      </p:sp>
      <p:sp>
        <p:nvSpPr>
          <p:cNvPr id="18" name="Text 12"/>
          <p:cNvSpPr txBox="1"/>
          <p:nvPr/>
        </p:nvSpPr>
        <p:spPr>
          <a:xfrm>
            <a:off x="1790700" y="1491555"/>
            <a:ext cx="8610600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2"/>
              </a:lnSpc>
              <a:buNone/>
            </a:pPr>
            <a:r>
              <a:rPr lang="en-US" sz="3150" b="1" kern="0" spc="-32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Sam Rivers</a:t>
            </a:r>
            <a:endParaRPr lang="en-US" sz="3150" dirty="0"/>
          </a:p>
        </p:txBody>
      </p:sp>
      <p:sp>
        <p:nvSpPr>
          <p:cNvPr id="19" name="Text 13"/>
          <p:cNvSpPr txBox="1"/>
          <p:nvPr/>
        </p:nvSpPr>
        <p:spPr>
          <a:xfrm>
            <a:off x="1790700" y="2114104"/>
            <a:ext cx="861060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Growth marketer — ASO, TikTok campaigns and partnerships for indie apps.</a:t>
            </a:r>
            <a:endParaRPr lang="en-US" sz="1275" dirty="0"/>
          </a:p>
        </p:txBody>
      </p:sp>
      <p:sp>
        <p:nvSpPr>
          <p:cNvPr id="20" name="Text 14"/>
          <p:cNvSpPr txBox="1"/>
          <p:nvPr/>
        </p:nvSpPr>
        <p:spPr>
          <a:xfrm>
            <a:off x="1790700" y="2746028"/>
            <a:ext cx="8610600" cy="324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Connect on one of your listings</a:t>
            </a:r>
            <a:endParaRPr lang="en-US" sz="1650" dirty="0"/>
          </a:p>
        </p:txBody>
      </p:sp>
      <p:sp>
        <p:nvSpPr>
          <p:cNvPr id="21" name="Shape 15"/>
          <p:cNvSpPr/>
          <p:nvPr/>
        </p:nvSpPr>
        <p:spPr>
          <a:xfrm>
            <a:off x="1790700" y="3223171"/>
            <a:ext cx="8610600" cy="1406723"/>
          </a:xfrm>
          <a:prstGeom prst="rect">
            <a:avLst/>
          </a:prstGeom>
          <a:solidFill>
            <a:srgbClr val="DBDED0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6"/>
          <p:cNvSpPr/>
          <p:nvPr/>
        </p:nvSpPr>
        <p:spPr>
          <a:xfrm>
            <a:off x="1800225" y="3232696"/>
            <a:ext cx="8591550" cy="68907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17"/>
          <p:cNvSpPr txBox="1"/>
          <p:nvPr/>
        </p:nvSpPr>
        <p:spPr>
          <a:xfrm>
            <a:off x="1990725" y="3423196"/>
            <a:ext cx="821055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FlipAll5</a:t>
            </a:r>
            <a:endParaRPr lang="en-US" sz="1275" dirty="0"/>
          </a:p>
        </p:txBody>
      </p:sp>
      <p:sp>
        <p:nvSpPr>
          <p:cNvPr id="24" name="Shape 18"/>
          <p:cNvSpPr/>
          <p:nvPr/>
        </p:nvSpPr>
        <p:spPr>
          <a:xfrm>
            <a:off x="1800225" y="3931295"/>
            <a:ext cx="8591550" cy="68907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19"/>
          <p:cNvSpPr txBox="1"/>
          <p:nvPr/>
        </p:nvSpPr>
        <p:spPr>
          <a:xfrm>
            <a:off x="1990725" y="4121795"/>
            <a:ext cx="821055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TideLog</a:t>
            </a:r>
            <a:endParaRPr lang="en-US" sz="1275" dirty="0"/>
          </a:p>
        </p:txBody>
      </p:sp>
      <p:sp>
        <p:nvSpPr>
          <p:cNvPr id="26" name="Shape 20"/>
          <p:cNvSpPr/>
          <p:nvPr/>
        </p:nvSpPr>
        <p:spPr>
          <a:xfrm>
            <a:off x="0" y="5582394"/>
            <a:ext cx="12192000" cy="1228725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1"/>
          <p:cNvSpPr/>
          <p:nvPr/>
        </p:nvSpPr>
        <p:spPr>
          <a:xfrm>
            <a:off x="0" y="5582394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8" name="Image 3" descr="/home/claude/ex/12_img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8679" y="5934819"/>
            <a:ext cx="524042" cy="5334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2209800" y="5982146"/>
            <a:ext cx="9864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2209800" y="6286946"/>
            <a:ext cx="11316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825" dirty="0"/>
          </a:p>
        </p:txBody>
      </p:sp>
      <p:sp>
        <p:nvSpPr>
          <p:cNvPr id="31" name="Text 24"/>
          <p:cNvSpPr/>
          <p:nvPr/>
        </p:nvSpPr>
        <p:spPr>
          <a:xfrm>
            <a:off x="4516785" y="6096744"/>
            <a:ext cx="215836" cy="209550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975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975" dirty="0"/>
          </a:p>
        </p:txBody>
      </p:sp>
      <p:sp>
        <p:nvSpPr>
          <p:cNvPr id="32" name="Text 25"/>
          <p:cNvSpPr txBox="1"/>
          <p:nvPr/>
        </p:nvSpPr>
        <p:spPr>
          <a:xfrm>
            <a:off x="4821585" y="6120259"/>
            <a:ext cx="123438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b="1" kern="0" spc="17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825" dirty="0"/>
          </a:p>
        </p:txBody>
      </p:sp>
      <p:sp>
        <p:nvSpPr>
          <p:cNvPr id="33" name="Text 26"/>
          <p:cNvSpPr txBox="1"/>
          <p:nvPr/>
        </p:nvSpPr>
        <p:spPr>
          <a:xfrm>
            <a:off x="6151215" y="6120259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34" name="Text 27"/>
          <p:cNvSpPr/>
          <p:nvPr/>
        </p:nvSpPr>
        <p:spPr>
          <a:xfrm>
            <a:off x="6309420" y="6110734"/>
            <a:ext cx="1188244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825" dirty="0"/>
          </a:p>
        </p:txBody>
      </p:sp>
      <p:sp>
        <p:nvSpPr>
          <p:cNvPr id="35" name="Shape 28"/>
          <p:cNvSpPr/>
          <p:nvPr/>
        </p:nvSpPr>
        <p:spPr>
          <a:xfrm>
            <a:off x="6309420" y="6292155"/>
            <a:ext cx="1188244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29"/>
          <p:cNvSpPr txBox="1"/>
          <p:nvPr/>
        </p:nvSpPr>
        <p:spPr>
          <a:xfrm>
            <a:off x="7592913" y="6120259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37" name="Text 30"/>
          <p:cNvSpPr/>
          <p:nvPr/>
        </p:nvSpPr>
        <p:spPr>
          <a:xfrm>
            <a:off x="7751118" y="6110734"/>
            <a:ext cx="924223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825" dirty="0"/>
          </a:p>
        </p:txBody>
      </p:sp>
      <p:sp>
        <p:nvSpPr>
          <p:cNvPr id="38" name="Shape 31"/>
          <p:cNvSpPr/>
          <p:nvPr/>
        </p:nvSpPr>
        <p:spPr>
          <a:xfrm>
            <a:off x="7751118" y="6292155"/>
            <a:ext cx="924223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2"/>
          <p:cNvSpPr txBox="1"/>
          <p:nvPr/>
        </p:nvSpPr>
        <p:spPr>
          <a:xfrm>
            <a:off x="9850636" y="6120259"/>
            <a:ext cx="81736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8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1531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76275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13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152400"/>
            <a:ext cx="361950" cy="36195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23900" y="185738"/>
            <a:ext cx="9864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pic>
        <p:nvPicPr>
          <p:cNvPr id="8" name="Image 2" descr="/home/claude/ex/13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950" y="214136"/>
            <a:ext cx="247650" cy="23847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80150" y="178147"/>
            <a:ext cx="57388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7463582" y="178147"/>
            <a:ext cx="861864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8534995" y="178147"/>
            <a:ext cx="78983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9534376" y="254347"/>
            <a:ext cx="72017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0273605" y="251966"/>
            <a:ext cx="152400" cy="152400"/>
          </a:xfrm>
          <a:prstGeom prst="ellipse">
            <a:avLst/>
          </a:prstGeom>
          <a:solidFill>
            <a:srgbClr val="E0632E"/>
          </a:solidFill>
          <a:ln/>
        </p:spPr>
        <p:txBody>
          <a:bodyPr wrap="none" lIns="38100" tIns="0" rIns="38100" bIns="0" rtlCol="0" anchor="ctr"/>
          <a:lstStyle/>
          <a:p>
            <a:pPr marL="0" indent="0" algn="ctr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8"/>
          <p:cNvSpPr txBox="1"/>
          <p:nvPr/>
        </p:nvSpPr>
        <p:spPr>
          <a:xfrm>
            <a:off x="10635555" y="244822"/>
            <a:ext cx="576114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SETTINGS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1421219" y="244822"/>
            <a:ext cx="504081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OUT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1790700" y="1123950"/>
            <a:ext cx="432197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790700" y="1491555"/>
            <a:ext cx="8610600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2"/>
              </a:lnSpc>
              <a:buNone/>
            </a:pPr>
            <a:r>
              <a:rPr lang="en-US" sz="3150" b="1" kern="0" spc="-32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Builders</a:t>
            </a:r>
            <a:endParaRPr lang="en-US" sz="3150" dirty="0"/>
          </a:p>
        </p:txBody>
      </p:sp>
      <p:sp>
        <p:nvSpPr>
          <p:cNvPr id="18" name="Shape 12"/>
          <p:cNvSpPr/>
          <p:nvPr/>
        </p:nvSpPr>
        <p:spPr>
          <a:xfrm>
            <a:off x="1790700" y="2114104"/>
            <a:ext cx="8610600" cy="1849636"/>
          </a:xfrm>
          <a:prstGeom prst="rect">
            <a:avLst/>
          </a:prstGeom>
          <a:solidFill>
            <a:srgbClr val="DBDED0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3"/>
          <p:cNvSpPr/>
          <p:nvPr/>
        </p:nvSpPr>
        <p:spPr>
          <a:xfrm>
            <a:off x="1800225" y="2123629"/>
            <a:ext cx="8591550" cy="9105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4"/>
          <p:cNvSpPr txBox="1"/>
          <p:nvPr/>
        </p:nvSpPr>
        <p:spPr>
          <a:xfrm>
            <a:off x="1990725" y="2314129"/>
            <a:ext cx="821055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1E8A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Paul J</a:t>
            </a:r>
            <a:endParaRPr lang="en-US" sz="1275" dirty="0"/>
          </a:p>
        </p:txBody>
      </p:sp>
      <p:sp>
        <p:nvSpPr>
          <p:cNvPr id="21" name="Text 15"/>
          <p:cNvSpPr txBox="1"/>
          <p:nvPr/>
        </p:nvSpPr>
        <p:spPr>
          <a:xfrm>
            <a:off x="1990725" y="2622203"/>
            <a:ext cx="8210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Independent developer building word games and productivity tools.</a:t>
            </a:r>
            <a:endParaRPr lang="en-US" sz="1125" dirty="0"/>
          </a:p>
        </p:txBody>
      </p:sp>
      <p:sp>
        <p:nvSpPr>
          <p:cNvPr id="22" name="Shape 16"/>
          <p:cNvSpPr/>
          <p:nvPr/>
        </p:nvSpPr>
        <p:spPr>
          <a:xfrm>
            <a:off x="1800225" y="3043684"/>
            <a:ext cx="8591550" cy="9105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17"/>
          <p:cNvSpPr txBox="1"/>
          <p:nvPr/>
        </p:nvSpPr>
        <p:spPr>
          <a:xfrm>
            <a:off x="1990725" y="3234184"/>
            <a:ext cx="821055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1E8A4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Alex Moore</a:t>
            </a:r>
            <a:endParaRPr lang="en-US" sz="1275" dirty="0"/>
          </a:p>
        </p:txBody>
      </p:sp>
      <p:sp>
        <p:nvSpPr>
          <p:cNvPr id="24" name="Text 18"/>
          <p:cNvSpPr txBox="1"/>
          <p:nvPr/>
        </p:nvSpPr>
        <p:spPr>
          <a:xfrm>
            <a:off x="1990725" y="3542258"/>
            <a:ext cx="8210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iOS developer, fitness apps.</a:t>
            </a:r>
            <a:endParaRPr lang="en-US" sz="1125" dirty="0"/>
          </a:p>
        </p:txBody>
      </p:sp>
      <p:sp>
        <p:nvSpPr>
          <p:cNvPr id="25" name="Shape 19"/>
          <p:cNvSpPr/>
          <p:nvPr/>
        </p:nvSpPr>
        <p:spPr>
          <a:xfrm>
            <a:off x="0" y="4916239"/>
            <a:ext cx="12192000" cy="1228725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0"/>
          <p:cNvSpPr/>
          <p:nvPr/>
        </p:nvSpPr>
        <p:spPr>
          <a:xfrm>
            <a:off x="0" y="4916239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7" name="Image 3" descr="/home/claude/ex/13_img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8679" y="5268664"/>
            <a:ext cx="524042" cy="5334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2209800" y="5315992"/>
            <a:ext cx="9864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2209800" y="5620792"/>
            <a:ext cx="11316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825" dirty="0"/>
          </a:p>
        </p:txBody>
      </p:sp>
      <p:sp>
        <p:nvSpPr>
          <p:cNvPr id="30" name="Text 23"/>
          <p:cNvSpPr/>
          <p:nvPr/>
        </p:nvSpPr>
        <p:spPr>
          <a:xfrm>
            <a:off x="4516785" y="5430589"/>
            <a:ext cx="215836" cy="209550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975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975" dirty="0"/>
          </a:p>
        </p:txBody>
      </p:sp>
      <p:sp>
        <p:nvSpPr>
          <p:cNvPr id="31" name="Text 24"/>
          <p:cNvSpPr txBox="1"/>
          <p:nvPr/>
        </p:nvSpPr>
        <p:spPr>
          <a:xfrm>
            <a:off x="4821585" y="5454104"/>
            <a:ext cx="123438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b="1" kern="0" spc="17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825" dirty="0"/>
          </a:p>
        </p:txBody>
      </p:sp>
      <p:sp>
        <p:nvSpPr>
          <p:cNvPr id="32" name="Text 25"/>
          <p:cNvSpPr txBox="1"/>
          <p:nvPr/>
        </p:nvSpPr>
        <p:spPr>
          <a:xfrm>
            <a:off x="6151215" y="5454104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33" name="Text 26"/>
          <p:cNvSpPr/>
          <p:nvPr/>
        </p:nvSpPr>
        <p:spPr>
          <a:xfrm>
            <a:off x="6309420" y="5444579"/>
            <a:ext cx="1188244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825" dirty="0"/>
          </a:p>
        </p:txBody>
      </p:sp>
      <p:sp>
        <p:nvSpPr>
          <p:cNvPr id="34" name="Shape 27"/>
          <p:cNvSpPr/>
          <p:nvPr/>
        </p:nvSpPr>
        <p:spPr>
          <a:xfrm>
            <a:off x="6309420" y="5626001"/>
            <a:ext cx="1188244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28"/>
          <p:cNvSpPr txBox="1"/>
          <p:nvPr/>
        </p:nvSpPr>
        <p:spPr>
          <a:xfrm>
            <a:off x="7592913" y="5454104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36" name="Text 29"/>
          <p:cNvSpPr/>
          <p:nvPr/>
        </p:nvSpPr>
        <p:spPr>
          <a:xfrm>
            <a:off x="7751118" y="5444579"/>
            <a:ext cx="924223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825" dirty="0"/>
          </a:p>
        </p:txBody>
      </p:sp>
      <p:sp>
        <p:nvSpPr>
          <p:cNvPr id="37" name="Shape 30"/>
          <p:cNvSpPr/>
          <p:nvPr/>
        </p:nvSpPr>
        <p:spPr>
          <a:xfrm>
            <a:off x="7751118" y="5626001"/>
            <a:ext cx="924223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1"/>
          <p:cNvSpPr txBox="1"/>
          <p:nvPr/>
        </p:nvSpPr>
        <p:spPr>
          <a:xfrm>
            <a:off x="9850636" y="5454104"/>
            <a:ext cx="81736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8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77" y="0"/>
            <a:ext cx="10770847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10577" y="0"/>
            <a:ext cx="10770847" cy="597445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710577" y="597445"/>
            <a:ext cx="10770847" cy="0"/>
          </a:xfrm>
          <a:prstGeom prst="line">
            <a:avLst/>
          </a:prstGeom>
          <a:noFill/>
          <a:ln w="8382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14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189" y="134636"/>
            <a:ext cx="319760" cy="31976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350096" y="164087"/>
            <a:ext cx="871450" cy="260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4"/>
              </a:lnSpc>
              <a:buNone/>
            </a:pPr>
            <a:r>
              <a:rPr lang="en-US" sz="1325" b="1" kern="0" spc="13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325" dirty="0"/>
          </a:p>
        </p:txBody>
      </p:sp>
      <p:pic>
        <p:nvPicPr>
          <p:cNvPr id="8" name="Image 2" descr="/home/claude/ex/14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152" y="189176"/>
            <a:ext cx="218783" cy="210679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12059" y="157382"/>
            <a:ext cx="506987" cy="274267"/>
          </a:xfrm>
          <a:prstGeom prst="rect">
            <a:avLst/>
          </a:prstGeom>
          <a:ln w="8382">
            <a:solidFill>
              <a:srgbClr val="48533F"/>
            </a:solidFill>
          </a:ln>
        </p:spPr>
        <p:txBody>
          <a:bodyPr wrap="none" lIns="126238" tIns="58928" rIns="126238" bIns="58928" rtlCol="0" anchor="t"/>
          <a:lstStyle/>
          <a:p>
            <a:pPr marL="0" indent="0" algn="l">
              <a:lnSpc>
                <a:spcPts val="1232"/>
              </a:lnSpc>
              <a:buNone/>
            </a:pPr>
            <a:r>
              <a:rPr lang="en-US" sz="795" b="1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795" dirty="0"/>
          </a:p>
        </p:txBody>
      </p:sp>
      <p:sp>
        <p:nvSpPr>
          <p:cNvPr id="10" name="Text 4"/>
          <p:cNvSpPr/>
          <p:nvPr/>
        </p:nvSpPr>
        <p:spPr>
          <a:xfrm>
            <a:off x="7304170" y="157382"/>
            <a:ext cx="761401" cy="274267"/>
          </a:xfrm>
          <a:prstGeom prst="rect">
            <a:avLst/>
          </a:prstGeom>
          <a:ln w="8382">
            <a:solidFill>
              <a:srgbClr val="48533F"/>
            </a:solidFill>
          </a:ln>
        </p:spPr>
        <p:txBody>
          <a:bodyPr wrap="none" lIns="126238" tIns="58928" rIns="126238" bIns="58928" rtlCol="0" anchor="t"/>
          <a:lstStyle/>
          <a:p>
            <a:pPr marL="0" indent="0" algn="l">
              <a:lnSpc>
                <a:spcPts val="1232"/>
              </a:lnSpc>
              <a:buNone/>
            </a:pPr>
            <a:r>
              <a:rPr lang="en-US" sz="795" b="1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795" dirty="0"/>
          </a:p>
        </p:txBody>
      </p:sp>
      <p:sp>
        <p:nvSpPr>
          <p:cNvPr id="11" name="Text 5"/>
          <p:cNvSpPr/>
          <p:nvPr/>
        </p:nvSpPr>
        <p:spPr>
          <a:xfrm>
            <a:off x="8250695" y="157382"/>
            <a:ext cx="697765" cy="274267"/>
          </a:xfrm>
          <a:prstGeom prst="rect">
            <a:avLst/>
          </a:prstGeom>
          <a:ln w="8382">
            <a:solidFill>
              <a:srgbClr val="48533F"/>
            </a:solidFill>
          </a:ln>
        </p:spPr>
        <p:txBody>
          <a:bodyPr wrap="none" lIns="126238" tIns="58928" rIns="126238" bIns="58928" rtlCol="0" anchor="t"/>
          <a:lstStyle/>
          <a:p>
            <a:pPr marL="0" indent="0" algn="l">
              <a:lnSpc>
                <a:spcPts val="1232"/>
              </a:lnSpc>
              <a:buNone/>
            </a:pPr>
            <a:r>
              <a:rPr lang="en-US" sz="795" b="1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795" dirty="0"/>
          </a:p>
        </p:txBody>
      </p:sp>
      <p:sp>
        <p:nvSpPr>
          <p:cNvPr id="12" name="Text 6"/>
          <p:cNvSpPr txBox="1"/>
          <p:nvPr/>
        </p:nvSpPr>
        <p:spPr>
          <a:xfrm>
            <a:off x="9133584" y="224699"/>
            <a:ext cx="636232" cy="1262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34"/>
              </a:lnSpc>
              <a:buNone/>
            </a:pPr>
            <a:r>
              <a:rPr lang="en-US" sz="795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795" dirty="0"/>
          </a:p>
        </p:txBody>
      </p:sp>
      <p:sp>
        <p:nvSpPr>
          <p:cNvPr id="13" name="Text 7"/>
          <p:cNvSpPr/>
          <p:nvPr/>
        </p:nvSpPr>
        <p:spPr>
          <a:xfrm>
            <a:off x="9786645" y="222596"/>
            <a:ext cx="134636" cy="134636"/>
          </a:xfrm>
          <a:prstGeom prst="ellipse">
            <a:avLst/>
          </a:prstGeom>
          <a:solidFill>
            <a:srgbClr val="E0632E"/>
          </a:solidFill>
          <a:ln/>
        </p:spPr>
        <p:txBody>
          <a:bodyPr wrap="none" lIns="33655" tIns="0" rIns="33655" bIns="0" rtlCol="0" anchor="ctr"/>
          <a:lstStyle/>
          <a:p>
            <a:pPr marL="0" indent="0" algn="ctr">
              <a:lnSpc>
                <a:spcPts val="1027"/>
              </a:lnSpc>
              <a:buNone/>
            </a:pPr>
            <a:r>
              <a:rPr lang="en-US" sz="663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663" dirty="0"/>
          </a:p>
        </p:txBody>
      </p:sp>
      <p:sp>
        <p:nvSpPr>
          <p:cNvPr id="14" name="Text 8"/>
          <p:cNvSpPr txBox="1"/>
          <p:nvPr/>
        </p:nvSpPr>
        <p:spPr>
          <a:xfrm>
            <a:off x="10106405" y="216285"/>
            <a:ext cx="508959" cy="156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2"/>
              </a:lnSpc>
              <a:buNone/>
            </a:pPr>
            <a:r>
              <a:rPr lang="en-US" sz="795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SETTINGS</a:t>
            </a:r>
            <a:endParaRPr lang="en-US" sz="795" dirty="0"/>
          </a:p>
        </p:txBody>
      </p:sp>
      <p:sp>
        <p:nvSpPr>
          <p:cNvPr id="15" name="Text 9"/>
          <p:cNvSpPr txBox="1"/>
          <p:nvPr/>
        </p:nvSpPr>
        <p:spPr>
          <a:xfrm>
            <a:off x="10800488" y="216285"/>
            <a:ext cx="445323" cy="156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2"/>
              </a:lnSpc>
              <a:buNone/>
            </a:pPr>
            <a:r>
              <a:rPr lang="en-US" sz="795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OUT</a:t>
            </a:r>
            <a:endParaRPr lang="en-US" sz="795" dirty="0"/>
          </a:p>
        </p:txBody>
      </p:sp>
      <p:sp>
        <p:nvSpPr>
          <p:cNvPr id="16" name="Text 10"/>
          <p:cNvSpPr txBox="1"/>
          <p:nvPr/>
        </p:nvSpPr>
        <p:spPr>
          <a:xfrm>
            <a:off x="2292545" y="992937"/>
            <a:ext cx="381818" cy="156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2"/>
              </a:lnSpc>
              <a:buNone/>
            </a:pPr>
            <a:r>
              <a:rPr lang="en-US" sz="795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795" dirty="0"/>
          </a:p>
        </p:txBody>
      </p:sp>
      <p:sp>
        <p:nvSpPr>
          <p:cNvPr id="17" name="Text 11"/>
          <p:cNvSpPr txBox="1"/>
          <p:nvPr/>
        </p:nvSpPr>
        <p:spPr>
          <a:xfrm>
            <a:off x="2709205" y="1009767"/>
            <a:ext cx="421262" cy="11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0"/>
              </a:lnSpc>
              <a:buNone/>
            </a:pPr>
            <a:r>
              <a:rPr lang="en-US" sz="729" kern="0" spc="36" dirty="0">
                <a:solidFill>
                  <a:srgbClr val="1E8A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</a:t>
            </a:r>
            <a:endParaRPr lang="en-US" sz="729" dirty="0"/>
          </a:p>
        </p:txBody>
      </p:sp>
      <p:sp>
        <p:nvSpPr>
          <p:cNvPr id="18" name="Text 12"/>
          <p:cNvSpPr txBox="1"/>
          <p:nvPr/>
        </p:nvSpPr>
        <p:spPr>
          <a:xfrm>
            <a:off x="2292545" y="1317693"/>
            <a:ext cx="7606910" cy="381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5"/>
              </a:lnSpc>
              <a:buNone/>
            </a:pPr>
            <a:r>
              <a:rPr lang="en-US" sz="2783" b="1" kern="0" spc="-28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Paul J</a:t>
            </a:r>
            <a:endParaRPr lang="en-US" sz="2783" dirty="0"/>
          </a:p>
        </p:txBody>
      </p:sp>
      <p:sp>
        <p:nvSpPr>
          <p:cNvPr id="19" name="Text 13"/>
          <p:cNvSpPr txBox="1"/>
          <p:nvPr/>
        </p:nvSpPr>
        <p:spPr>
          <a:xfrm>
            <a:off x="2292545" y="1867674"/>
            <a:ext cx="7606910" cy="221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6"/>
              </a:lnSpc>
              <a:buNone/>
            </a:pPr>
            <a:r>
              <a:rPr lang="en-US" sz="1126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Independent developer building word games and productivity tools.</a:t>
            </a:r>
            <a:endParaRPr lang="en-US" sz="1126" dirty="0"/>
          </a:p>
        </p:txBody>
      </p:sp>
      <p:sp>
        <p:nvSpPr>
          <p:cNvPr id="20" name="Text 14"/>
          <p:cNvSpPr txBox="1"/>
          <p:nvPr/>
        </p:nvSpPr>
        <p:spPr>
          <a:xfrm>
            <a:off x="2292545" y="2425939"/>
            <a:ext cx="7606910" cy="286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9"/>
              </a:lnSpc>
              <a:buNone/>
            </a:pPr>
            <a:r>
              <a:rPr lang="en-US" sz="1458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Listings</a:t>
            </a:r>
            <a:endParaRPr lang="en-US" sz="1458" dirty="0"/>
          </a:p>
        </p:txBody>
      </p:sp>
      <p:sp>
        <p:nvSpPr>
          <p:cNvPr id="21" name="Shape 15"/>
          <p:cNvSpPr/>
          <p:nvPr/>
        </p:nvSpPr>
        <p:spPr>
          <a:xfrm>
            <a:off x="2292545" y="2847464"/>
            <a:ext cx="7606910" cy="2077385"/>
          </a:xfrm>
          <a:prstGeom prst="rect">
            <a:avLst/>
          </a:prstGeom>
          <a:solidFill>
            <a:srgbClr val="DBDED0"/>
          </a:solidFill>
          <a:ln w="8382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6"/>
          <p:cNvSpPr/>
          <p:nvPr/>
        </p:nvSpPr>
        <p:spPr>
          <a:xfrm>
            <a:off x="2300960" y="2855878"/>
            <a:ext cx="7590081" cy="102607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17"/>
          <p:cNvSpPr txBox="1"/>
          <p:nvPr/>
        </p:nvSpPr>
        <p:spPr>
          <a:xfrm>
            <a:off x="2469254" y="3099905"/>
            <a:ext cx="300826" cy="11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0"/>
              </a:lnSpc>
              <a:buNone/>
            </a:pPr>
            <a:r>
              <a:rPr lang="en-US" sz="729" kern="0" spc="36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GAMES</a:t>
            </a:r>
            <a:endParaRPr lang="en-US" sz="729" dirty="0"/>
          </a:p>
        </p:txBody>
      </p:sp>
      <p:sp>
        <p:nvSpPr>
          <p:cNvPr id="24" name="Text 18"/>
          <p:cNvSpPr txBox="1"/>
          <p:nvPr/>
        </p:nvSpPr>
        <p:spPr>
          <a:xfrm>
            <a:off x="2469254" y="3245848"/>
            <a:ext cx="7253492" cy="221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6"/>
              </a:lnSpc>
              <a:buNone/>
            </a:pPr>
            <a:r>
              <a:rPr lang="en-US" sz="1126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FlipAll5</a:t>
            </a:r>
            <a:endParaRPr lang="en-US" sz="1126" dirty="0"/>
          </a:p>
        </p:txBody>
      </p:sp>
      <p:sp>
        <p:nvSpPr>
          <p:cNvPr id="25" name="Text 19"/>
          <p:cNvSpPr txBox="1"/>
          <p:nvPr/>
        </p:nvSpPr>
        <p:spPr>
          <a:xfrm>
            <a:off x="2469254" y="3518012"/>
            <a:ext cx="7253492" cy="195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994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daily five-letter word flip puzzle</a:t>
            </a:r>
            <a:endParaRPr lang="en-US" sz="994" dirty="0"/>
          </a:p>
        </p:txBody>
      </p:sp>
      <p:sp>
        <p:nvSpPr>
          <p:cNvPr id="26" name="Shape 20"/>
          <p:cNvSpPr/>
          <p:nvPr/>
        </p:nvSpPr>
        <p:spPr>
          <a:xfrm>
            <a:off x="2300960" y="3890364"/>
            <a:ext cx="7590081" cy="102607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1"/>
          <p:cNvSpPr txBox="1"/>
          <p:nvPr/>
        </p:nvSpPr>
        <p:spPr>
          <a:xfrm>
            <a:off x="2469254" y="4134391"/>
            <a:ext cx="722088" cy="11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0"/>
              </a:lnSpc>
              <a:buNone/>
            </a:pPr>
            <a:r>
              <a:rPr lang="en-US" sz="729" kern="0" spc="36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PRODUCTIVITY</a:t>
            </a:r>
            <a:endParaRPr lang="en-US" sz="729" dirty="0"/>
          </a:p>
        </p:txBody>
      </p:sp>
      <p:sp>
        <p:nvSpPr>
          <p:cNvPr id="28" name="Text 22"/>
          <p:cNvSpPr txBox="1"/>
          <p:nvPr/>
        </p:nvSpPr>
        <p:spPr>
          <a:xfrm>
            <a:off x="2469254" y="4280333"/>
            <a:ext cx="7253492" cy="221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6"/>
              </a:lnSpc>
              <a:buNone/>
            </a:pPr>
            <a:r>
              <a:rPr lang="en-US" sz="1126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TideLog</a:t>
            </a:r>
            <a:endParaRPr lang="en-US" sz="1126" dirty="0"/>
          </a:p>
        </p:txBody>
      </p:sp>
      <p:sp>
        <p:nvSpPr>
          <p:cNvPr id="29" name="Text 23"/>
          <p:cNvSpPr txBox="1"/>
          <p:nvPr/>
        </p:nvSpPr>
        <p:spPr>
          <a:xfrm>
            <a:off x="2469254" y="4552497"/>
            <a:ext cx="7253492" cy="195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994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Simple habit tracker with tide-style streaks</a:t>
            </a:r>
            <a:endParaRPr lang="en-US" sz="994" dirty="0"/>
          </a:p>
        </p:txBody>
      </p:sp>
      <p:sp>
        <p:nvSpPr>
          <p:cNvPr id="30" name="Shape 24"/>
          <p:cNvSpPr/>
          <p:nvPr/>
        </p:nvSpPr>
        <p:spPr>
          <a:xfrm>
            <a:off x="710577" y="5766321"/>
            <a:ext cx="10770847" cy="1085499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5"/>
          <p:cNvSpPr/>
          <p:nvPr/>
        </p:nvSpPr>
        <p:spPr>
          <a:xfrm>
            <a:off x="710577" y="5766321"/>
            <a:ext cx="10770847" cy="0"/>
          </a:xfrm>
          <a:prstGeom prst="line">
            <a:avLst/>
          </a:prstGeom>
          <a:noFill/>
          <a:ln w="8382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2" name="Image 3" descr="/home/claude/ex/14_img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1067" y="6077666"/>
            <a:ext cx="462957" cy="47122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2662793" y="6119476"/>
            <a:ext cx="871450" cy="210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4"/>
              </a:lnSpc>
              <a:buNone/>
            </a:pPr>
            <a:r>
              <a:rPr lang="en-US" sz="1325" b="1" kern="0" spc="13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325" dirty="0"/>
          </a:p>
        </p:txBody>
      </p:sp>
      <p:sp>
        <p:nvSpPr>
          <p:cNvPr id="34" name="Text 27"/>
          <p:cNvSpPr txBox="1"/>
          <p:nvPr/>
        </p:nvSpPr>
        <p:spPr>
          <a:xfrm>
            <a:off x="2662793" y="6388748"/>
            <a:ext cx="999774" cy="14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0"/>
              </a:lnSpc>
              <a:buNone/>
            </a:pPr>
            <a:r>
              <a:rPr lang="en-US" sz="729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729" dirty="0"/>
          </a:p>
        </p:txBody>
      </p:sp>
      <p:sp>
        <p:nvSpPr>
          <p:cNvPr id="35" name="Text 28"/>
          <p:cNvSpPr/>
          <p:nvPr/>
        </p:nvSpPr>
        <p:spPr>
          <a:xfrm>
            <a:off x="4700865" y="6220716"/>
            <a:ext cx="190678" cy="185124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61"/>
              </a:lnSpc>
              <a:buNone/>
            </a:pPr>
            <a:r>
              <a:rPr lang="en-US" sz="861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861" dirty="0"/>
          </a:p>
        </p:txBody>
      </p:sp>
      <p:sp>
        <p:nvSpPr>
          <p:cNvPr id="36" name="Text 29"/>
          <p:cNvSpPr txBox="1"/>
          <p:nvPr/>
        </p:nvSpPr>
        <p:spPr>
          <a:xfrm>
            <a:off x="4970136" y="6241490"/>
            <a:ext cx="1090496" cy="14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0"/>
              </a:lnSpc>
              <a:buNone/>
            </a:pPr>
            <a:r>
              <a:rPr lang="en-US" sz="729" b="1" kern="0" spc="15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729" dirty="0"/>
          </a:p>
        </p:txBody>
      </p:sp>
      <p:sp>
        <p:nvSpPr>
          <p:cNvPr id="37" name="Text 30"/>
          <p:cNvSpPr txBox="1"/>
          <p:nvPr/>
        </p:nvSpPr>
        <p:spPr>
          <a:xfrm>
            <a:off x="6144779" y="6241490"/>
            <a:ext cx="55616" cy="14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0"/>
              </a:lnSpc>
              <a:buNone/>
            </a:pPr>
            <a:r>
              <a:rPr lang="en-US" sz="729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29" dirty="0"/>
          </a:p>
        </p:txBody>
      </p:sp>
      <p:sp>
        <p:nvSpPr>
          <p:cNvPr id="38" name="Text 31"/>
          <p:cNvSpPr/>
          <p:nvPr/>
        </p:nvSpPr>
        <p:spPr>
          <a:xfrm>
            <a:off x="6284542" y="6233075"/>
            <a:ext cx="1049737" cy="160274"/>
          </a:xfrm>
          <a:prstGeom prst="rect">
            <a:avLst/>
          </a:prstGeom>
          <a:ln/>
        </p:spPr>
        <p:txBody>
          <a:bodyPr wrap="none" lIns="0" tIns="0" rIns="0" bIns="16891" rtlCol="0" anchor="t"/>
          <a:lstStyle/>
          <a:p>
            <a:pPr marL="0" indent="0" algn="l">
              <a:lnSpc>
                <a:spcPts val="1130"/>
              </a:lnSpc>
              <a:buNone/>
            </a:pPr>
            <a:r>
              <a:rPr lang="en-US" sz="729" kern="0" spc="22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729" dirty="0"/>
          </a:p>
        </p:txBody>
      </p:sp>
      <p:sp>
        <p:nvSpPr>
          <p:cNvPr id="39" name="Shape 32"/>
          <p:cNvSpPr/>
          <p:nvPr/>
        </p:nvSpPr>
        <p:spPr>
          <a:xfrm>
            <a:off x="6284542" y="6393349"/>
            <a:ext cx="1049737" cy="0"/>
          </a:xfrm>
          <a:prstGeom prst="line">
            <a:avLst/>
          </a:prstGeom>
          <a:noFill/>
          <a:ln w="8382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3"/>
          <p:cNvSpPr txBox="1"/>
          <p:nvPr/>
        </p:nvSpPr>
        <p:spPr>
          <a:xfrm>
            <a:off x="7418426" y="6241490"/>
            <a:ext cx="55616" cy="14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0"/>
              </a:lnSpc>
              <a:buNone/>
            </a:pPr>
            <a:r>
              <a:rPr lang="en-US" sz="729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29" dirty="0"/>
          </a:p>
        </p:txBody>
      </p:sp>
      <p:sp>
        <p:nvSpPr>
          <p:cNvPr id="41" name="Text 34"/>
          <p:cNvSpPr/>
          <p:nvPr/>
        </p:nvSpPr>
        <p:spPr>
          <a:xfrm>
            <a:off x="7558190" y="6233075"/>
            <a:ext cx="816491" cy="160274"/>
          </a:xfrm>
          <a:prstGeom prst="rect">
            <a:avLst/>
          </a:prstGeom>
          <a:ln/>
        </p:spPr>
        <p:txBody>
          <a:bodyPr wrap="none" lIns="0" tIns="0" rIns="0" bIns="16891" rtlCol="0" anchor="t"/>
          <a:lstStyle/>
          <a:p>
            <a:pPr marL="0" indent="0" algn="l">
              <a:lnSpc>
                <a:spcPts val="1130"/>
              </a:lnSpc>
              <a:buNone/>
            </a:pPr>
            <a:r>
              <a:rPr lang="en-US" sz="729" kern="0" spc="22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729" dirty="0"/>
          </a:p>
        </p:txBody>
      </p:sp>
      <p:sp>
        <p:nvSpPr>
          <p:cNvPr id="42" name="Shape 35"/>
          <p:cNvSpPr/>
          <p:nvPr/>
        </p:nvSpPr>
        <p:spPr>
          <a:xfrm>
            <a:off x="7558190" y="6393349"/>
            <a:ext cx="816491" cy="0"/>
          </a:xfrm>
          <a:prstGeom prst="line">
            <a:avLst/>
          </a:prstGeom>
          <a:noFill/>
          <a:ln w="8382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36"/>
          <p:cNvSpPr txBox="1"/>
          <p:nvPr/>
        </p:nvSpPr>
        <p:spPr>
          <a:xfrm>
            <a:off x="9412979" y="6241490"/>
            <a:ext cx="722088" cy="14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0"/>
              </a:lnSpc>
              <a:buNone/>
            </a:pPr>
            <a:r>
              <a:rPr lang="en-US" sz="729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729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49" y="0"/>
            <a:ext cx="10959101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16449" y="0"/>
            <a:ext cx="10959101" cy="607888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616449" y="607888"/>
            <a:ext cx="10959101" cy="0"/>
          </a:xfrm>
          <a:prstGeom prst="line">
            <a:avLst/>
          </a:prstGeom>
          <a:noFill/>
          <a:ln w="8509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15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80" y="136989"/>
            <a:ext cx="325348" cy="325348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267146" y="166955"/>
            <a:ext cx="886681" cy="26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348" b="1" kern="0" spc="13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348" dirty="0"/>
          </a:p>
        </p:txBody>
      </p:sp>
      <p:pic>
        <p:nvPicPr>
          <p:cNvPr id="8" name="Image 2" descr="/home/claude/ex/15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113" y="192482"/>
            <a:ext cx="222607" cy="21436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21079" y="160132"/>
            <a:ext cx="515848" cy="279061"/>
          </a:xfrm>
          <a:prstGeom prst="rect">
            <a:avLst/>
          </a:prstGeom>
          <a:ln w="8509">
            <a:solidFill>
              <a:srgbClr val="48533F"/>
            </a:solidFill>
          </a:ln>
        </p:spPr>
        <p:txBody>
          <a:bodyPr wrap="none" lIns="128397" tIns="59944" rIns="128397" bIns="59944" rtlCol="0" anchor="t"/>
          <a:lstStyle/>
          <a:p>
            <a:pPr marL="0" indent="0" algn="l">
              <a:lnSpc>
                <a:spcPts val="1254"/>
              </a:lnSpc>
              <a:buNone/>
            </a:pPr>
            <a:r>
              <a:rPr lang="en-US" sz="809" b="1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809" dirty="0"/>
          </a:p>
        </p:txBody>
      </p:sp>
      <p:sp>
        <p:nvSpPr>
          <p:cNvPr id="10" name="Text 4"/>
          <p:cNvSpPr/>
          <p:nvPr/>
        </p:nvSpPr>
        <p:spPr>
          <a:xfrm>
            <a:off x="7325287" y="160132"/>
            <a:ext cx="774709" cy="279061"/>
          </a:xfrm>
          <a:prstGeom prst="rect">
            <a:avLst/>
          </a:prstGeom>
          <a:ln w="8509">
            <a:solidFill>
              <a:srgbClr val="48533F"/>
            </a:solidFill>
          </a:ln>
        </p:spPr>
        <p:txBody>
          <a:bodyPr wrap="none" lIns="128397" tIns="59944" rIns="128397" bIns="59944" rtlCol="0" anchor="t"/>
          <a:lstStyle/>
          <a:p>
            <a:pPr marL="0" indent="0" algn="l">
              <a:lnSpc>
                <a:spcPts val="1254"/>
              </a:lnSpc>
              <a:buNone/>
            </a:pPr>
            <a:r>
              <a:rPr lang="en-US" sz="809" b="1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809" dirty="0"/>
          </a:p>
        </p:txBody>
      </p:sp>
      <p:sp>
        <p:nvSpPr>
          <p:cNvPr id="11" name="Text 5"/>
          <p:cNvSpPr/>
          <p:nvPr/>
        </p:nvSpPr>
        <p:spPr>
          <a:xfrm>
            <a:off x="8288355" y="160132"/>
            <a:ext cx="709960" cy="279061"/>
          </a:xfrm>
          <a:prstGeom prst="rect">
            <a:avLst/>
          </a:prstGeom>
          <a:ln w="8509">
            <a:solidFill>
              <a:srgbClr val="48533F"/>
            </a:solidFill>
          </a:ln>
        </p:spPr>
        <p:txBody>
          <a:bodyPr wrap="none" lIns="128397" tIns="59944" rIns="128397" bIns="59944" rtlCol="0" anchor="t"/>
          <a:lstStyle/>
          <a:p>
            <a:pPr marL="0" indent="0" algn="l">
              <a:lnSpc>
                <a:spcPts val="1254"/>
              </a:lnSpc>
              <a:buNone/>
            </a:pPr>
            <a:r>
              <a:rPr lang="en-US" sz="809" b="1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809" dirty="0"/>
          </a:p>
        </p:txBody>
      </p:sp>
      <p:sp>
        <p:nvSpPr>
          <p:cNvPr id="12" name="Text 6"/>
          <p:cNvSpPr txBox="1"/>
          <p:nvPr/>
        </p:nvSpPr>
        <p:spPr>
          <a:xfrm>
            <a:off x="9186675" y="228627"/>
            <a:ext cx="647352" cy="128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2"/>
              </a:lnSpc>
              <a:buNone/>
            </a:pPr>
            <a:r>
              <a:rPr lang="en-US" sz="809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809" dirty="0"/>
          </a:p>
        </p:txBody>
      </p:sp>
      <p:sp>
        <p:nvSpPr>
          <p:cNvPr id="13" name="Text 7"/>
          <p:cNvSpPr/>
          <p:nvPr/>
        </p:nvSpPr>
        <p:spPr>
          <a:xfrm>
            <a:off x="9851151" y="226486"/>
            <a:ext cx="136989" cy="136989"/>
          </a:xfrm>
          <a:prstGeom prst="ellipse">
            <a:avLst/>
          </a:prstGeom>
          <a:solidFill>
            <a:srgbClr val="E0632E"/>
          </a:solidFill>
          <a:ln/>
        </p:spPr>
        <p:txBody>
          <a:bodyPr wrap="none" lIns="34290" tIns="0" rIns="34290" bIns="0" rtlCol="0" anchor="ctr"/>
          <a:lstStyle/>
          <a:p>
            <a:pPr marL="0" indent="0" algn="ctr">
              <a:lnSpc>
                <a:spcPts val="1045"/>
              </a:lnSpc>
              <a:buNone/>
            </a:pPr>
            <a:r>
              <a:rPr lang="en-US" sz="674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674" dirty="0"/>
          </a:p>
        </p:txBody>
      </p:sp>
      <p:sp>
        <p:nvSpPr>
          <p:cNvPr id="14" name="Text 8"/>
          <p:cNvSpPr txBox="1"/>
          <p:nvPr/>
        </p:nvSpPr>
        <p:spPr>
          <a:xfrm>
            <a:off x="10176499" y="220065"/>
            <a:ext cx="517855" cy="159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4"/>
              </a:lnSpc>
              <a:buNone/>
            </a:pPr>
            <a:r>
              <a:rPr lang="en-US" sz="809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SETTINGS</a:t>
            </a:r>
            <a:endParaRPr lang="en-US" sz="809" dirty="0"/>
          </a:p>
        </p:txBody>
      </p:sp>
      <p:sp>
        <p:nvSpPr>
          <p:cNvPr id="15" name="Text 9"/>
          <p:cNvSpPr txBox="1"/>
          <p:nvPr/>
        </p:nvSpPr>
        <p:spPr>
          <a:xfrm>
            <a:off x="10882714" y="220065"/>
            <a:ext cx="453106" cy="159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4"/>
              </a:lnSpc>
              <a:buNone/>
            </a:pPr>
            <a:r>
              <a:rPr lang="en-US" sz="809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OUT</a:t>
            </a:r>
            <a:endParaRPr lang="en-US" sz="809" dirty="0"/>
          </a:p>
        </p:txBody>
      </p:sp>
      <p:sp>
        <p:nvSpPr>
          <p:cNvPr id="16" name="Text 10"/>
          <p:cNvSpPr txBox="1"/>
          <p:nvPr/>
        </p:nvSpPr>
        <p:spPr>
          <a:xfrm>
            <a:off x="2226067" y="1010292"/>
            <a:ext cx="388492" cy="159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4"/>
              </a:lnSpc>
              <a:buNone/>
            </a:pPr>
            <a:r>
              <a:rPr lang="en-US" sz="809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809" dirty="0"/>
          </a:p>
        </p:txBody>
      </p:sp>
      <p:sp>
        <p:nvSpPr>
          <p:cNvPr id="17" name="Text 11"/>
          <p:cNvSpPr txBox="1"/>
          <p:nvPr/>
        </p:nvSpPr>
        <p:spPr>
          <a:xfrm>
            <a:off x="2226067" y="1340724"/>
            <a:ext cx="7739865" cy="38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8"/>
              </a:lnSpc>
              <a:buNone/>
            </a:pPr>
            <a:r>
              <a:rPr lang="en-US" sz="2831" b="1" kern="0" spc="-28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Send a connection request</a:t>
            </a:r>
            <a:endParaRPr lang="en-US" sz="2831" dirty="0"/>
          </a:p>
        </p:txBody>
      </p:sp>
      <p:sp>
        <p:nvSpPr>
          <p:cNvPr id="18" name="Text 12"/>
          <p:cNvSpPr txBox="1"/>
          <p:nvPr/>
        </p:nvSpPr>
        <p:spPr>
          <a:xfrm>
            <a:off x="2226067" y="1900318"/>
            <a:ext cx="7739865" cy="225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76"/>
              </a:lnSpc>
              <a:buNone/>
            </a:pPr>
            <a:r>
              <a:rPr lang="en-US" sz="1146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To the developer of FlipAll5</a:t>
            </a:r>
            <a:endParaRPr lang="en-US" sz="1146" dirty="0"/>
          </a:p>
        </p:txBody>
      </p:sp>
      <p:sp>
        <p:nvSpPr>
          <p:cNvPr id="19" name="Text 13"/>
          <p:cNvSpPr txBox="1"/>
          <p:nvPr/>
        </p:nvSpPr>
        <p:spPr>
          <a:xfrm>
            <a:off x="2226067" y="2297104"/>
            <a:ext cx="4452135" cy="145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9"/>
              </a:lnSpc>
              <a:buNone/>
            </a:pPr>
            <a:r>
              <a:rPr lang="en-US" sz="742" kern="0" spc="3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YOUR MESSAGE</a:t>
            </a:r>
            <a:endParaRPr lang="en-US" sz="742" dirty="0"/>
          </a:p>
        </p:txBody>
      </p:sp>
      <p:sp>
        <p:nvSpPr>
          <p:cNvPr id="20" name="Text 14"/>
          <p:cNvSpPr/>
          <p:nvPr/>
        </p:nvSpPr>
        <p:spPr>
          <a:xfrm>
            <a:off x="2226067" y="2494426"/>
            <a:ext cx="4585699" cy="1095910"/>
          </a:xfrm>
          <a:prstGeom prst="rect">
            <a:avLst/>
          </a:prstGeom>
          <a:solidFill>
            <a:srgbClr val="FFFFFF"/>
          </a:solidFill>
          <a:ln w="8509">
            <a:solidFill>
              <a:srgbClr val="DBDED0"/>
            </a:solidFill>
          </a:ln>
        </p:spPr>
        <p:txBody>
          <a:bodyPr wrap="square" lIns="128397" tIns="111252" rIns="128397" bIns="111252" rtlCol="0" anchor="t"/>
          <a:lstStyle/>
          <a:p>
            <a:pPr marL="0" indent="0" algn="l">
              <a:lnSpc>
                <a:spcPts val="1315"/>
              </a:lnSpc>
              <a:buNone/>
            </a:pPr>
            <a:r>
              <a:rPr lang="en-US" sz="1011" dirty="0">
                <a:solidFill>
                  <a:srgbClr val="8A948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good intro usually covers: what drew you to this, anything relevant you've done before, and roughly how you'd approach it. You don't need all three — just enough for the other side to picture working with you.</a:t>
            </a:r>
            <a:endParaRPr lang="en-US" sz="1011" dirty="0"/>
          </a:p>
        </p:txBody>
      </p:sp>
      <p:sp>
        <p:nvSpPr>
          <p:cNvPr id="21" name="Shape 15"/>
          <p:cNvSpPr/>
          <p:nvPr/>
        </p:nvSpPr>
        <p:spPr>
          <a:xfrm>
            <a:off x="2260315" y="3935751"/>
            <a:ext cx="111303" cy="111303"/>
          </a:xfrm>
          <a:prstGeom prst="rect">
            <a:avLst/>
          </a:prstGeom>
          <a:solidFill>
            <a:srgbClr val="FFFFFF"/>
          </a:solidFill>
          <a:ln w="8509">
            <a:solidFill>
              <a:srgbClr val="5C68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6"/>
          <p:cNvSpPr txBox="1"/>
          <p:nvPr/>
        </p:nvSpPr>
        <p:spPr>
          <a:xfrm>
            <a:off x="2465798" y="3910066"/>
            <a:ext cx="4338777" cy="3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8"/>
              </a:lnSpc>
              <a:buNone/>
            </a:pPr>
            <a:r>
              <a:rPr lang="en-US" sz="876" kern="0" spc="44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 understand Crescopus doesn't broker, manage, or guarantee any relationship formed here, and is not a party to it.</a:t>
            </a:r>
            <a:endParaRPr lang="en-US" sz="876" dirty="0"/>
          </a:p>
        </p:txBody>
      </p:sp>
      <p:sp>
        <p:nvSpPr>
          <p:cNvPr id="23" name="Text 17"/>
          <p:cNvSpPr/>
          <p:nvPr/>
        </p:nvSpPr>
        <p:spPr>
          <a:xfrm>
            <a:off x="2226067" y="4563171"/>
            <a:ext cx="605613" cy="333910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71196" tIns="102743" rIns="171196" bIns="102743" rtlCol="0" anchor="ctr"/>
          <a:lstStyle/>
          <a:p>
            <a:pPr marL="0" indent="0" algn="ctr">
              <a:lnSpc>
                <a:spcPts val="1052"/>
              </a:lnSpc>
              <a:buNone/>
            </a:pPr>
            <a:r>
              <a:rPr lang="en-US" sz="809" kern="0" spc="3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SEND</a:t>
            </a:r>
            <a:endParaRPr lang="en-US" sz="809" dirty="0"/>
          </a:p>
        </p:txBody>
      </p:sp>
      <p:sp>
        <p:nvSpPr>
          <p:cNvPr id="24" name="Shape 18"/>
          <p:cNvSpPr/>
          <p:nvPr/>
        </p:nvSpPr>
        <p:spPr>
          <a:xfrm>
            <a:off x="616449" y="5753261"/>
            <a:ext cx="10959101" cy="1104472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19"/>
          <p:cNvSpPr/>
          <p:nvPr/>
        </p:nvSpPr>
        <p:spPr>
          <a:xfrm>
            <a:off x="616449" y="5753261"/>
            <a:ext cx="10959101" cy="0"/>
          </a:xfrm>
          <a:prstGeom prst="line">
            <a:avLst/>
          </a:prstGeom>
          <a:noFill/>
          <a:ln w="8509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" name="Image 3" descr="/home/claude/ex/15_img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543" y="6070047"/>
            <a:ext cx="471049" cy="47946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602787" y="6112588"/>
            <a:ext cx="886681" cy="214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348" b="1" kern="0" spc="13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348" dirty="0"/>
          </a:p>
        </p:txBody>
      </p:sp>
      <p:sp>
        <p:nvSpPr>
          <p:cNvPr id="28" name="Text 21"/>
          <p:cNvSpPr txBox="1"/>
          <p:nvPr/>
        </p:nvSpPr>
        <p:spPr>
          <a:xfrm>
            <a:off x="2602787" y="6386566"/>
            <a:ext cx="1017249" cy="145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9"/>
              </a:lnSpc>
              <a:buNone/>
            </a:pPr>
            <a:r>
              <a:rPr lang="en-US" sz="742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742" dirty="0"/>
          </a:p>
        </p:txBody>
      </p:sp>
      <p:sp>
        <p:nvSpPr>
          <p:cNvPr id="29" name="Text 22"/>
          <p:cNvSpPr/>
          <p:nvPr/>
        </p:nvSpPr>
        <p:spPr>
          <a:xfrm>
            <a:off x="4676481" y="6215598"/>
            <a:ext cx="194010" cy="188360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76"/>
              </a:lnSpc>
              <a:buNone/>
            </a:pPr>
            <a:r>
              <a:rPr lang="en-US" sz="876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876" dirty="0"/>
          </a:p>
        </p:txBody>
      </p:sp>
      <p:sp>
        <p:nvSpPr>
          <p:cNvPr id="30" name="Text 23"/>
          <p:cNvSpPr txBox="1"/>
          <p:nvPr/>
        </p:nvSpPr>
        <p:spPr>
          <a:xfrm>
            <a:off x="4950458" y="6236735"/>
            <a:ext cx="1109555" cy="145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9"/>
              </a:lnSpc>
              <a:buNone/>
            </a:pPr>
            <a:r>
              <a:rPr lang="en-US" sz="742" b="1" kern="0" spc="15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742" dirty="0"/>
          </a:p>
        </p:txBody>
      </p:sp>
      <p:sp>
        <p:nvSpPr>
          <p:cNvPr id="31" name="Text 24"/>
          <p:cNvSpPr txBox="1"/>
          <p:nvPr/>
        </p:nvSpPr>
        <p:spPr>
          <a:xfrm>
            <a:off x="6145632" y="6236735"/>
            <a:ext cx="56588" cy="145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9"/>
              </a:lnSpc>
              <a:buNone/>
            </a:pPr>
            <a:r>
              <a:rPr lang="en-US" sz="742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42" dirty="0"/>
          </a:p>
        </p:txBody>
      </p:sp>
      <p:sp>
        <p:nvSpPr>
          <p:cNvPr id="32" name="Text 25"/>
          <p:cNvSpPr/>
          <p:nvPr/>
        </p:nvSpPr>
        <p:spPr>
          <a:xfrm>
            <a:off x="6287838" y="6228173"/>
            <a:ext cx="1068084" cy="163075"/>
          </a:xfrm>
          <a:prstGeom prst="rect">
            <a:avLst/>
          </a:prstGeom>
          <a:ln/>
        </p:spPr>
        <p:txBody>
          <a:bodyPr wrap="none" lIns="0" tIns="0" rIns="0" bIns="17145" rtlCol="0" anchor="t"/>
          <a:lstStyle/>
          <a:p>
            <a:pPr marL="0" indent="0" algn="l">
              <a:lnSpc>
                <a:spcPts val="1149"/>
              </a:lnSpc>
              <a:buNone/>
            </a:pPr>
            <a:r>
              <a:rPr lang="en-US" sz="742" kern="0" spc="22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742" dirty="0"/>
          </a:p>
        </p:txBody>
      </p:sp>
      <p:sp>
        <p:nvSpPr>
          <p:cNvPr id="33" name="Shape 26"/>
          <p:cNvSpPr/>
          <p:nvPr/>
        </p:nvSpPr>
        <p:spPr>
          <a:xfrm>
            <a:off x="6287838" y="6391248"/>
            <a:ext cx="1068084" cy="0"/>
          </a:xfrm>
          <a:prstGeom prst="line">
            <a:avLst/>
          </a:prstGeom>
          <a:noFill/>
          <a:ln w="8509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27"/>
          <p:cNvSpPr txBox="1"/>
          <p:nvPr/>
        </p:nvSpPr>
        <p:spPr>
          <a:xfrm>
            <a:off x="7441540" y="6236735"/>
            <a:ext cx="56588" cy="145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9"/>
              </a:lnSpc>
              <a:buNone/>
            </a:pPr>
            <a:r>
              <a:rPr lang="en-US" sz="742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42" dirty="0"/>
          </a:p>
        </p:txBody>
      </p:sp>
      <p:sp>
        <p:nvSpPr>
          <p:cNvPr id="35" name="Text 28"/>
          <p:cNvSpPr/>
          <p:nvPr/>
        </p:nvSpPr>
        <p:spPr>
          <a:xfrm>
            <a:off x="7583746" y="6228173"/>
            <a:ext cx="830762" cy="163075"/>
          </a:xfrm>
          <a:prstGeom prst="rect">
            <a:avLst/>
          </a:prstGeom>
          <a:ln/>
        </p:spPr>
        <p:txBody>
          <a:bodyPr wrap="none" lIns="0" tIns="0" rIns="0" bIns="17145" rtlCol="0" anchor="t"/>
          <a:lstStyle/>
          <a:p>
            <a:pPr marL="0" indent="0" algn="l">
              <a:lnSpc>
                <a:spcPts val="1149"/>
              </a:lnSpc>
              <a:buNone/>
            </a:pPr>
            <a:r>
              <a:rPr lang="en-US" sz="742" kern="0" spc="22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742" dirty="0"/>
          </a:p>
        </p:txBody>
      </p:sp>
      <p:sp>
        <p:nvSpPr>
          <p:cNvPr id="36" name="Shape 29"/>
          <p:cNvSpPr/>
          <p:nvPr/>
        </p:nvSpPr>
        <p:spPr>
          <a:xfrm>
            <a:off x="7583746" y="6391248"/>
            <a:ext cx="830762" cy="0"/>
          </a:xfrm>
          <a:prstGeom prst="line">
            <a:avLst/>
          </a:prstGeom>
          <a:noFill/>
          <a:ln w="8509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0"/>
          <p:cNvSpPr txBox="1"/>
          <p:nvPr/>
        </p:nvSpPr>
        <p:spPr>
          <a:xfrm>
            <a:off x="9470954" y="6236735"/>
            <a:ext cx="734709" cy="145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9"/>
              </a:lnSpc>
              <a:buNone/>
            </a:pPr>
            <a:r>
              <a:rPr lang="en-US" sz="742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742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53402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76275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16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152400"/>
            <a:ext cx="361950" cy="36195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23900" y="185738"/>
            <a:ext cx="9864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pic>
        <p:nvPicPr>
          <p:cNvPr id="8" name="Image 2" descr="/home/claude/ex/16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950" y="214136"/>
            <a:ext cx="247650" cy="23847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80150" y="178147"/>
            <a:ext cx="57388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7463582" y="178147"/>
            <a:ext cx="861864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8534995" y="178147"/>
            <a:ext cx="78983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9534376" y="254347"/>
            <a:ext cx="72017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0273605" y="251966"/>
            <a:ext cx="152400" cy="152400"/>
          </a:xfrm>
          <a:prstGeom prst="ellipse">
            <a:avLst/>
          </a:prstGeom>
          <a:solidFill>
            <a:srgbClr val="E0632E"/>
          </a:solidFill>
          <a:ln/>
        </p:spPr>
        <p:txBody>
          <a:bodyPr wrap="none" lIns="38100" tIns="0" rIns="38100" bIns="0" rtlCol="0" anchor="ctr"/>
          <a:lstStyle/>
          <a:p>
            <a:pPr marL="0" indent="0" algn="ctr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8"/>
          <p:cNvSpPr txBox="1"/>
          <p:nvPr/>
        </p:nvSpPr>
        <p:spPr>
          <a:xfrm>
            <a:off x="10635555" y="244822"/>
            <a:ext cx="576114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SETTINGS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1421219" y="244822"/>
            <a:ext cx="504081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OUT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1790700" y="1123950"/>
            <a:ext cx="432197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790700" y="1491555"/>
            <a:ext cx="8610600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2"/>
              </a:lnSpc>
              <a:buNone/>
            </a:pPr>
            <a:r>
              <a:rPr lang="en-US" sz="3150" b="1" kern="0" spc="-32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Connection request</a:t>
            </a:r>
            <a:endParaRPr lang="en-US" sz="3150" dirty="0"/>
          </a:p>
        </p:txBody>
      </p:sp>
      <p:sp>
        <p:nvSpPr>
          <p:cNvPr id="18" name="Text 12"/>
          <p:cNvSpPr txBox="1"/>
          <p:nvPr/>
        </p:nvSpPr>
        <p:spPr>
          <a:xfrm>
            <a:off x="1790700" y="2114104"/>
            <a:ext cx="861060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From </a:t>
            </a:r>
            <a:r>
              <a:rPr lang="en-US" sz="1275" dirty="0">
                <a:solidFill>
                  <a:srgbClr val="8C61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Sam Rivers</a:t>
            </a:r>
            <a:r>
              <a:rPr lang="en-US" sz="127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FlipAll5</a:t>
            </a:r>
            <a:endParaRPr lang="en-US" sz="1275" dirty="0"/>
          </a:p>
        </p:txBody>
      </p:sp>
      <p:sp>
        <p:nvSpPr>
          <p:cNvPr id="19" name="Text 13"/>
          <p:cNvSpPr txBox="1"/>
          <p:nvPr/>
        </p:nvSpPr>
        <p:spPr>
          <a:xfrm>
            <a:off x="1790700" y="2526953"/>
            <a:ext cx="861060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 run growth for three word-game apps and think FlipAll5 could do well on TikTok.</a:t>
            </a:r>
            <a:endParaRPr lang="en-US" sz="1275" dirty="0"/>
          </a:p>
        </p:txBody>
      </p:sp>
      <p:sp>
        <p:nvSpPr>
          <p:cNvPr id="20" name="Text 14"/>
          <p:cNvSpPr/>
          <p:nvPr/>
        </p:nvSpPr>
        <p:spPr>
          <a:xfrm>
            <a:off x="1790700" y="2968377"/>
            <a:ext cx="1551533" cy="371475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90500" tIns="114300" rIns="190500" bIns="11430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kern="0" spc="3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ACCEPT &amp; CONNECT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3457873" y="2939802"/>
            <a:ext cx="19621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</a:ln>
        </p:spPr>
        <p:txBody>
          <a:bodyPr wrap="none" lIns="142875" tIns="123825" rIns="142875" bIns="123825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8A948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Reason (optional)</a:t>
            </a:r>
            <a:endParaRPr lang="en-US" sz="1125" dirty="0"/>
          </a:p>
        </p:txBody>
      </p:sp>
      <p:sp>
        <p:nvSpPr>
          <p:cNvPr id="22" name="Text 16"/>
          <p:cNvSpPr/>
          <p:nvPr/>
        </p:nvSpPr>
        <p:spPr>
          <a:xfrm>
            <a:off x="5459462" y="2968377"/>
            <a:ext cx="893118" cy="371475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90500" tIns="114300" rIns="190500" bIns="11430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kern="0" spc="3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DECLINE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0" y="4301877"/>
            <a:ext cx="12192000" cy="1228725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18"/>
          <p:cNvSpPr/>
          <p:nvPr/>
        </p:nvSpPr>
        <p:spPr>
          <a:xfrm>
            <a:off x="0" y="4301877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Image 3" descr="/home/claude/ex/16_img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8679" y="4654302"/>
            <a:ext cx="524042" cy="5334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2209800" y="4701629"/>
            <a:ext cx="9864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2209800" y="5006429"/>
            <a:ext cx="11316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825" dirty="0"/>
          </a:p>
        </p:txBody>
      </p:sp>
      <p:sp>
        <p:nvSpPr>
          <p:cNvPr id="28" name="Text 21"/>
          <p:cNvSpPr/>
          <p:nvPr/>
        </p:nvSpPr>
        <p:spPr>
          <a:xfrm>
            <a:off x="4516785" y="4816227"/>
            <a:ext cx="215836" cy="209550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975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975" dirty="0"/>
          </a:p>
        </p:txBody>
      </p:sp>
      <p:sp>
        <p:nvSpPr>
          <p:cNvPr id="29" name="Text 22"/>
          <p:cNvSpPr txBox="1"/>
          <p:nvPr/>
        </p:nvSpPr>
        <p:spPr>
          <a:xfrm>
            <a:off x="4821585" y="4839742"/>
            <a:ext cx="123438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b="1" kern="0" spc="17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825" dirty="0"/>
          </a:p>
        </p:txBody>
      </p:sp>
      <p:sp>
        <p:nvSpPr>
          <p:cNvPr id="30" name="Text 23"/>
          <p:cNvSpPr txBox="1"/>
          <p:nvPr/>
        </p:nvSpPr>
        <p:spPr>
          <a:xfrm>
            <a:off x="6151215" y="4839742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31" name="Text 24"/>
          <p:cNvSpPr/>
          <p:nvPr/>
        </p:nvSpPr>
        <p:spPr>
          <a:xfrm>
            <a:off x="6309420" y="4830217"/>
            <a:ext cx="1188244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825" dirty="0"/>
          </a:p>
        </p:txBody>
      </p:sp>
      <p:sp>
        <p:nvSpPr>
          <p:cNvPr id="32" name="Shape 25"/>
          <p:cNvSpPr/>
          <p:nvPr/>
        </p:nvSpPr>
        <p:spPr>
          <a:xfrm>
            <a:off x="6309420" y="5011638"/>
            <a:ext cx="1188244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26"/>
          <p:cNvSpPr txBox="1"/>
          <p:nvPr/>
        </p:nvSpPr>
        <p:spPr>
          <a:xfrm>
            <a:off x="7592913" y="4839742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34" name="Text 27"/>
          <p:cNvSpPr/>
          <p:nvPr/>
        </p:nvSpPr>
        <p:spPr>
          <a:xfrm>
            <a:off x="7751118" y="4830217"/>
            <a:ext cx="924223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825" dirty="0"/>
          </a:p>
        </p:txBody>
      </p:sp>
      <p:sp>
        <p:nvSpPr>
          <p:cNvPr id="35" name="Shape 28"/>
          <p:cNvSpPr/>
          <p:nvPr/>
        </p:nvSpPr>
        <p:spPr>
          <a:xfrm>
            <a:off x="7751118" y="5011638"/>
            <a:ext cx="924223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29"/>
          <p:cNvSpPr txBox="1"/>
          <p:nvPr/>
        </p:nvSpPr>
        <p:spPr>
          <a:xfrm>
            <a:off x="9850636" y="4839742"/>
            <a:ext cx="81736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8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972" y="0"/>
            <a:ext cx="9830056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80972" y="0"/>
            <a:ext cx="9830056" cy="545261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1180972" y="545261"/>
            <a:ext cx="9830056" cy="0"/>
          </a:xfrm>
          <a:prstGeom prst="line">
            <a:avLst/>
          </a:prstGeom>
          <a:noFill/>
          <a:ln w="7620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17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6004" y="122876"/>
            <a:ext cx="291830" cy="29183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764632" y="149755"/>
            <a:ext cx="795332" cy="238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09" b="1" kern="0" spc="12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209" dirty="0"/>
          </a:p>
        </p:txBody>
      </p:sp>
      <p:pic>
        <p:nvPicPr>
          <p:cNvPr id="8" name="Image 2" descr="/home/claude/ex/17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8356" y="172652"/>
            <a:ext cx="199673" cy="19227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566984" y="143635"/>
            <a:ext cx="462704" cy="250311"/>
          </a:xfrm>
          <a:prstGeom prst="rect">
            <a:avLst/>
          </a:prstGeom>
          <a:ln w="7620">
            <a:solidFill>
              <a:srgbClr val="48533F"/>
            </a:solidFill>
          </a:ln>
        </p:spPr>
        <p:txBody>
          <a:bodyPr wrap="none" lIns="115189" tIns="53721" rIns="115189" bIns="53721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26" b="1" kern="0" spc="22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726" dirty="0"/>
          </a:p>
        </p:txBody>
      </p:sp>
      <p:sp>
        <p:nvSpPr>
          <p:cNvPr id="10" name="Text 4"/>
          <p:cNvSpPr/>
          <p:nvPr/>
        </p:nvSpPr>
        <p:spPr>
          <a:xfrm>
            <a:off x="7198641" y="143635"/>
            <a:ext cx="694896" cy="250311"/>
          </a:xfrm>
          <a:prstGeom prst="rect">
            <a:avLst/>
          </a:prstGeom>
          <a:ln w="7620">
            <a:solidFill>
              <a:srgbClr val="48533F"/>
            </a:solidFill>
          </a:ln>
        </p:spPr>
        <p:txBody>
          <a:bodyPr wrap="none" lIns="115189" tIns="53721" rIns="115189" bIns="53721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26" b="1" kern="0" spc="22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726" dirty="0"/>
          </a:p>
        </p:txBody>
      </p:sp>
      <p:sp>
        <p:nvSpPr>
          <p:cNvPr id="11" name="Text 5"/>
          <p:cNvSpPr/>
          <p:nvPr/>
        </p:nvSpPr>
        <p:spPr>
          <a:xfrm>
            <a:off x="8062491" y="143635"/>
            <a:ext cx="636818" cy="250311"/>
          </a:xfrm>
          <a:prstGeom prst="rect">
            <a:avLst/>
          </a:prstGeom>
          <a:ln w="7620">
            <a:solidFill>
              <a:srgbClr val="48533F"/>
            </a:solidFill>
          </a:ln>
        </p:spPr>
        <p:txBody>
          <a:bodyPr wrap="none" lIns="115189" tIns="53721" rIns="115189" bIns="53721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26" b="1" kern="0" spc="22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726" dirty="0"/>
          </a:p>
        </p:txBody>
      </p:sp>
      <p:sp>
        <p:nvSpPr>
          <p:cNvPr id="12" name="Text 6"/>
          <p:cNvSpPr txBox="1"/>
          <p:nvPr/>
        </p:nvSpPr>
        <p:spPr>
          <a:xfrm>
            <a:off x="8868263" y="205073"/>
            <a:ext cx="580660" cy="1151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3"/>
              </a:lnSpc>
              <a:buNone/>
            </a:pPr>
            <a:r>
              <a:rPr lang="en-US" sz="726" kern="0" spc="22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726" dirty="0"/>
          </a:p>
        </p:txBody>
      </p:sp>
      <p:sp>
        <p:nvSpPr>
          <p:cNvPr id="13" name="Text 7"/>
          <p:cNvSpPr/>
          <p:nvPr/>
        </p:nvSpPr>
        <p:spPr>
          <a:xfrm>
            <a:off x="9464282" y="203153"/>
            <a:ext cx="122876" cy="122876"/>
          </a:xfrm>
          <a:prstGeom prst="ellipse">
            <a:avLst/>
          </a:prstGeom>
          <a:solidFill>
            <a:srgbClr val="E0632E"/>
          </a:solidFill>
          <a:ln/>
        </p:spPr>
        <p:txBody>
          <a:bodyPr wrap="none" lIns="30734" tIns="0" rIns="30734" bIns="0" rtlCol="0" anchor="ctr"/>
          <a:lstStyle/>
          <a:p>
            <a:pPr marL="0" indent="0" algn="ctr">
              <a:lnSpc>
                <a:spcPts val="937"/>
              </a:lnSpc>
              <a:buNone/>
            </a:pPr>
            <a:r>
              <a:rPr lang="en-US" sz="605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605" dirty="0"/>
          </a:p>
        </p:txBody>
      </p:sp>
      <p:sp>
        <p:nvSpPr>
          <p:cNvPr id="14" name="Text 8"/>
          <p:cNvSpPr txBox="1"/>
          <p:nvPr/>
        </p:nvSpPr>
        <p:spPr>
          <a:xfrm>
            <a:off x="9756112" y="197393"/>
            <a:ext cx="464504" cy="14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26" kern="0" spc="22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SETTINGS</a:t>
            </a:r>
            <a:endParaRPr lang="en-US" sz="726" dirty="0"/>
          </a:p>
        </p:txBody>
      </p:sp>
      <p:sp>
        <p:nvSpPr>
          <p:cNvPr id="15" name="Text 9"/>
          <p:cNvSpPr txBox="1"/>
          <p:nvPr/>
        </p:nvSpPr>
        <p:spPr>
          <a:xfrm>
            <a:off x="10389570" y="197393"/>
            <a:ext cx="406426" cy="14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26" kern="0" spc="22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OUT</a:t>
            </a:r>
            <a:endParaRPr lang="en-US" sz="726" dirty="0"/>
          </a:p>
        </p:txBody>
      </p:sp>
      <p:sp>
        <p:nvSpPr>
          <p:cNvPr id="16" name="Text 10"/>
          <p:cNvSpPr txBox="1"/>
          <p:nvPr/>
        </p:nvSpPr>
        <p:spPr>
          <a:xfrm>
            <a:off x="2624761" y="906208"/>
            <a:ext cx="348468" cy="14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26" kern="0" spc="22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726" dirty="0"/>
          </a:p>
        </p:txBody>
      </p:sp>
      <p:sp>
        <p:nvSpPr>
          <p:cNvPr id="17" name="Text 11"/>
          <p:cNvSpPr txBox="1"/>
          <p:nvPr/>
        </p:nvSpPr>
        <p:spPr>
          <a:xfrm>
            <a:off x="3005028" y="921568"/>
            <a:ext cx="274550" cy="107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665" kern="0" spc="3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TRIAL</a:t>
            </a:r>
            <a:endParaRPr lang="en-US" sz="665" dirty="0"/>
          </a:p>
        </p:txBody>
      </p:sp>
      <p:sp>
        <p:nvSpPr>
          <p:cNvPr id="18" name="Text 12"/>
          <p:cNvSpPr txBox="1"/>
          <p:nvPr/>
        </p:nvSpPr>
        <p:spPr>
          <a:xfrm>
            <a:off x="2624761" y="1202598"/>
            <a:ext cx="6942477" cy="348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43"/>
              </a:lnSpc>
              <a:buNone/>
            </a:pPr>
            <a:r>
              <a:rPr lang="en-US" sz="2540" b="1" kern="0" spc="-2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FlipAll5</a:t>
            </a:r>
            <a:endParaRPr lang="en-US" sz="2540" dirty="0"/>
          </a:p>
        </p:txBody>
      </p:sp>
      <p:sp>
        <p:nvSpPr>
          <p:cNvPr id="19" name="Text 13"/>
          <p:cNvSpPr/>
          <p:nvPr/>
        </p:nvSpPr>
        <p:spPr>
          <a:xfrm>
            <a:off x="2624761" y="1704540"/>
            <a:ext cx="1427830" cy="299510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53543" tIns="92202" rIns="153543" bIns="92202" rtlCol="0" anchor="ctr"/>
          <a:lstStyle/>
          <a:p>
            <a:pPr marL="0" indent="0" algn="ctr">
              <a:lnSpc>
                <a:spcPts val="943"/>
              </a:lnSpc>
              <a:buNone/>
            </a:pPr>
            <a:r>
              <a:rPr lang="en-US" sz="726" kern="0" spc="2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PROPOSE FORMALISING</a:t>
            </a:r>
            <a:endParaRPr lang="en-US" sz="726" dirty="0"/>
          </a:p>
        </p:txBody>
      </p:sp>
      <p:sp>
        <p:nvSpPr>
          <p:cNvPr id="20" name="Text 14"/>
          <p:cNvSpPr/>
          <p:nvPr/>
        </p:nvSpPr>
        <p:spPr>
          <a:xfrm>
            <a:off x="4084390" y="1704540"/>
            <a:ext cx="897089" cy="299510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53543" tIns="92202" rIns="153543" bIns="92202" rtlCol="0" anchor="ctr"/>
          <a:lstStyle/>
          <a:p>
            <a:pPr marL="0" indent="0" algn="ctr">
              <a:lnSpc>
                <a:spcPts val="943"/>
              </a:lnSpc>
              <a:buNone/>
            </a:pPr>
            <a:r>
              <a:rPr lang="en-US" sz="726" kern="0" spc="2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DISCONNECT</a:t>
            </a:r>
            <a:endParaRPr lang="en-US" sz="726" dirty="0"/>
          </a:p>
        </p:txBody>
      </p:sp>
      <p:sp>
        <p:nvSpPr>
          <p:cNvPr id="21" name="Text 15"/>
          <p:cNvSpPr txBox="1"/>
          <p:nvPr/>
        </p:nvSpPr>
        <p:spPr>
          <a:xfrm>
            <a:off x="2624761" y="2311239"/>
            <a:ext cx="6942477" cy="261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62"/>
              </a:lnSpc>
              <a:buNone/>
            </a:pPr>
            <a:r>
              <a:rPr lang="en-US" sz="1330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Messages</a:t>
            </a:r>
            <a:endParaRPr lang="en-US" sz="1330" dirty="0"/>
          </a:p>
        </p:txBody>
      </p:sp>
      <p:sp>
        <p:nvSpPr>
          <p:cNvPr id="22" name="Shape 16"/>
          <p:cNvSpPr/>
          <p:nvPr/>
        </p:nvSpPr>
        <p:spPr>
          <a:xfrm>
            <a:off x="2624761" y="2695946"/>
            <a:ext cx="6942477" cy="994525"/>
          </a:xfrm>
          <a:prstGeom prst="rect">
            <a:avLst/>
          </a:prstGeom>
          <a:solidFill>
            <a:srgbClr val="DBDED0"/>
          </a:solidFill>
          <a:ln w="7620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2632441" y="2703625"/>
            <a:ext cx="6927118" cy="48574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 txBox="1"/>
          <p:nvPr/>
        </p:nvSpPr>
        <p:spPr>
          <a:xfrm>
            <a:off x="2786036" y="2857220"/>
            <a:ext cx="6619928" cy="178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907" dirty="0">
                <a:solidFill>
                  <a:srgbClr val="8C61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 Paul — love FlipAll5. I've got a TikTok plan I'd like to run past you.</a:t>
            </a:r>
            <a:endParaRPr lang="en-US" sz="907" dirty="0"/>
          </a:p>
        </p:txBody>
      </p:sp>
      <p:sp>
        <p:nvSpPr>
          <p:cNvPr id="25" name="Shape 19"/>
          <p:cNvSpPr/>
          <p:nvPr/>
        </p:nvSpPr>
        <p:spPr>
          <a:xfrm>
            <a:off x="2632441" y="3197048"/>
            <a:ext cx="6927118" cy="48574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0"/>
          <p:cNvSpPr txBox="1"/>
          <p:nvPr/>
        </p:nvSpPr>
        <p:spPr>
          <a:xfrm>
            <a:off x="2786036" y="3350643"/>
            <a:ext cx="6619928" cy="178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907" dirty="0">
                <a:solidFill>
                  <a:srgbClr val="1E8A4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Thanks Sam, happy to chat. What sort of budget are you thinking?</a:t>
            </a:r>
            <a:endParaRPr lang="en-US" sz="907" dirty="0"/>
          </a:p>
        </p:txBody>
      </p:sp>
      <p:sp>
        <p:nvSpPr>
          <p:cNvPr id="27" name="Text 21"/>
          <p:cNvSpPr/>
          <p:nvPr/>
        </p:nvSpPr>
        <p:spPr>
          <a:xfrm>
            <a:off x="2624761" y="3844065"/>
            <a:ext cx="4113264" cy="844770"/>
          </a:xfrm>
          <a:prstGeom prst="rect">
            <a:avLst/>
          </a:prstGeom>
          <a:solidFill>
            <a:srgbClr val="FFFFFF"/>
          </a:solidFill>
          <a:ln w="7620">
            <a:solidFill>
              <a:srgbClr val="DBDED0"/>
            </a:solidFill>
          </a:ln>
        </p:spPr>
        <p:txBody>
          <a:bodyPr wrap="square" lIns="115189" tIns="99822" rIns="115189" bIns="99822" rtlCol="0" anchor="t"/>
          <a:lstStyle/>
          <a:p>
            <a:pPr marL="0" indent="0" algn="l">
              <a:lnSpc>
                <a:spcPts val="1179"/>
              </a:lnSpc>
              <a:buNone/>
            </a:pPr>
            <a:r>
              <a:rPr lang="en-US" sz="907" dirty="0">
                <a:solidFill>
                  <a:srgbClr val="8A948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Write a message...</a:t>
            </a:r>
            <a:endParaRPr lang="en-US" sz="907" dirty="0"/>
          </a:p>
        </p:txBody>
      </p:sp>
      <p:sp>
        <p:nvSpPr>
          <p:cNvPr id="28" name="Text 22"/>
          <p:cNvSpPr/>
          <p:nvPr/>
        </p:nvSpPr>
        <p:spPr>
          <a:xfrm>
            <a:off x="2624761" y="4796352"/>
            <a:ext cx="543221" cy="299510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53543" tIns="92202" rIns="153543" bIns="92202" rtlCol="0" anchor="ctr"/>
          <a:lstStyle/>
          <a:p>
            <a:pPr marL="0" indent="0" algn="ctr">
              <a:lnSpc>
                <a:spcPts val="943"/>
              </a:lnSpc>
              <a:buNone/>
            </a:pPr>
            <a:r>
              <a:rPr lang="en-US" sz="726" kern="0" spc="2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SEND</a:t>
            </a:r>
            <a:endParaRPr lang="en-US" sz="726" dirty="0"/>
          </a:p>
        </p:txBody>
      </p:sp>
      <p:sp>
        <p:nvSpPr>
          <p:cNvPr id="29" name="Shape 23"/>
          <p:cNvSpPr/>
          <p:nvPr/>
        </p:nvSpPr>
        <p:spPr>
          <a:xfrm>
            <a:off x="1180972" y="5863835"/>
            <a:ext cx="9830056" cy="990685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4"/>
          <p:cNvSpPr/>
          <p:nvPr/>
        </p:nvSpPr>
        <p:spPr>
          <a:xfrm>
            <a:off x="1180972" y="5863835"/>
            <a:ext cx="9830056" cy="0"/>
          </a:xfrm>
          <a:prstGeom prst="line">
            <a:avLst/>
          </a:prstGeom>
          <a:noFill/>
          <a:ln w="7620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1" name="Image 3" descr="/home/claude/ex/17_img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3501" y="6147985"/>
            <a:ext cx="422520" cy="43006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2962670" y="6186144"/>
            <a:ext cx="795332" cy="19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09" b="1" kern="0" spc="12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209" dirty="0"/>
          </a:p>
        </p:txBody>
      </p:sp>
      <p:sp>
        <p:nvSpPr>
          <p:cNvPr id="33" name="Text 26"/>
          <p:cNvSpPr txBox="1"/>
          <p:nvPr/>
        </p:nvSpPr>
        <p:spPr>
          <a:xfrm>
            <a:off x="2962670" y="6431895"/>
            <a:ext cx="912448" cy="130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66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665" dirty="0"/>
          </a:p>
        </p:txBody>
      </p:sp>
      <p:sp>
        <p:nvSpPr>
          <p:cNvPr id="34" name="Text 27"/>
          <p:cNvSpPr/>
          <p:nvPr/>
        </p:nvSpPr>
        <p:spPr>
          <a:xfrm>
            <a:off x="4822725" y="6278540"/>
            <a:ext cx="174023" cy="168954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86"/>
              </a:lnSpc>
              <a:buNone/>
            </a:pPr>
            <a:r>
              <a:rPr lang="en-US" sz="786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786" dirty="0"/>
          </a:p>
        </p:txBody>
      </p:sp>
      <p:sp>
        <p:nvSpPr>
          <p:cNvPr id="35" name="Text 28"/>
          <p:cNvSpPr txBox="1"/>
          <p:nvPr/>
        </p:nvSpPr>
        <p:spPr>
          <a:xfrm>
            <a:off x="5068476" y="6297500"/>
            <a:ext cx="995245" cy="130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665" b="1" kern="0" spc="13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665" dirty="0"/>
          </a:p>
        </p:txBody>
      </p:sp>
      <p:sp>
        <p:nvSpPr>
          <p:cNvPr id="36" name="Text 29"/>
          <p:cNvSpPr txBox="1"/>
          <p:nvPr/>
        </p:nvSpPr>
        <p:spPr>
          <a:xfrm>
            <a:off x="6140518" y="6297500"/>
            <a:ext cx="50758" cy="130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66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665" dirty="0"/>
          </a:p>
        </p:txBody>
      </p:sp>
      <p:sp>
        <p:nvSpPr>
          <p:cNvPr id="37" name="Text 30"/>
          <p:cNvSpPr/>
          <p:nvPr/>
        </p:nvSpPr>
        <p:spPr>
          <a:xfrm>
            <a:off x="6268074" y="6289820"/>
            <a:ext cx="958046" cy="146275"/>
          </a:xfrm>
          <a:prstGeom prst="rect">
            <a:avLst/>
          </a:prstGeom>
          <a:ln/>
        </p:spPr>
        <p:txBody>
          <a:bodyPr wrap="none" lIns="0" tIns="0" rIns="0" bIns="15367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665" kern="0" spc="20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665" dirty="0"/>
          </a:p>
        </p:txBody>
      </p:sp>
      <p:sp>
        <p:nvSpPr>
          <p:cNvPr id="38" name="Shape 31"/>
          <p:cNvSpPr/>
          <p:nvPr/>
        </p:nvSpPr>
        <p:spPr>
          <a:xfrm>
            <a:off x="6268074" y="6436095"/>
            <a:ext cx="958046" cy="0"/>
          </a:xfrm>
          <a:prstGeom prst="line">
            <a:avLst/>
          </a:prstGeom>
          <a:noFill/>
          <a:ln w="7620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2"/>
          <p:cNvSpPr txBox="1"/>
          <p:nvPr/>
        </p:nvSpPr>
        <p:spPr>
          <a:xfrm>
            <a:off x="7302918" y="6297500"/>
            <a:ext cx="50758" cy="130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66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665" dirty="0"/>
          </a:p>
        </p:txBody>
      </p:sp>
      <p:sp>
        <p:nvSpPr>
          <p:cNvPr id="40" name="Text 33"/>
          <p:cNvSpPr/>
          <p:nvPr/>
        </p:nvSpPr>
        <p:spPr>
          <a:xfrm>
            <a:off x="7430473" y="6289820"/>
            <a:ext cx="745174" cy="146275"/>
          </a:xfrm>
          <a:prstGeom prst="rect">
            <a:avLst/>
          </a:prstGeom>
          <a:ln/>
        </p:spPr>
        <p:txBody>
          <a:bodyPr wrap="none" lIns="0" tIns="0" rIns="0" bIns="15367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665" kern="0" spc="20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665" dirty="0"/>
          </a:p>
        </p:txBody>
      </p:sp>
      <p:sp>
        <p:nvSpPr>
          <p:cNvPr id="41" name="Shape 34"/>
          <p:cNvSpPr/>
          <p:nvPr/>
        </p:nvSpPr>
        <p:spPr>
          <a:xfrm>
            <a:off x="7430473" y="6436095"/>
            <a:ext cx="745174" cy="0"/>
          </a:xfrm>
          <a:prstGeom prst="line">
            <a:avLst/>
          </a:prstGeom>
          <a:noFill/>
          <a:ln w="7620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5"/>
          <p:cNvSpPr txBox="1"/>
          <p:nvPr/>
        </p:nvSpPr>
        <p:spPr>
          <a:xfrm>
            <a:off x="9123254" y="6297500"/>
            <a:ext cx="659017" cy="130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665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66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1341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76275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18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152400"/>
            <a:ext cx="361950" cy="36195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23900" y="185738"/>
            <a:ext cx="9864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pic>
        <p:nvPicPr>
          <p:cNvPr id="8" name="Image 2" descr="/home/claude/ex/18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950" y="214136"/>
            <a:ext cx="247650" cy="23847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80150" y="178147"/>
            <a:ext cx="57388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7463582" y="178147"/>
            <a:ext cx="861864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8534995" y="178147"/>
            <a:ext cx="78983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9534376" y="254347"/>
            <a:ext cx="72017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0273605" y="251966"/>
            <a:ext cx="152400" cy="152400"/>
          </a:xfrm>
          <a:prstGeom prst="ellipse">
            <a:avLst/>
          </a:prstGeom>
          <a:solidFill>
            <a:srgbClr val="E0632E"/>
          </a:solidFill>
          <a:ln/>
        </p:spPr>
        <p:txBody>
          <a:bodyPr wrap="none" lIns="38100" tIns="0" rIns="38100" bIns="0" rtlCol="0" anchor="ctr"/>
          <a:lstStyle/>
          <a:p>
            <a:pPr marL="0" indent="0" algn="ctr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8"/>
          <p:cNvSpPr txBox="1"/>
          <p:nvPr/>
        </p:nvSpPr>
        <p:spPr>
          <a:xfrm>
            <a:off x="10635555" y="244822"/>
            <a:ext cx="576114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SETTINGS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1421219" y="244822"/>
            <a:ext cx="504081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OUT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1790700" y="1123950"/>
            <a:ext cx="432197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2262336" y="1143000"/>
            <a:ext cx="68103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1E8A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FORMALISED</a:t>
            </a:r>
            <a:endParaRPr lang="en-US" sz="825" dirty="0"/>
          </a:p>
        </p:txBody>
      </p:sp>
      <p:sp>
        <p:nvSpPr>
          <p:cNvPr id="18" name="Text 12"/>
          <p:cNvSpPr txBox="1"/>
          <p:nvPr/>
        </p:nvSpPr>
        <p:spPr>
          <a:xfrm>
            <a:off x="1790700" y="1491555"/>
            <a:ext cx="8610600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2"/>
              </a:lnSpc>
              <a:buNone/>
            </a:pPr>
            <a:r>
              <a:rPr lang="en-US" sz="3150" b="1" kern="0" spc="-32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FlipAll5</a:t>
            </a:r>
            <a:endParaRPr lang="en-US" sz="3150" dirty="0"/>
          </a:p>
        </p:txBody>
      </p:sp>
      <p:sp>
        <p:nvSpPr>
          <p:cNvPr id="19" name="Text 13"/>
          <p:cNvSpPr txBox="1"/>
          <p:nvPr/>
        </p:nvSpPr>
        <p:spPr>
          <a:xfrm>
            <a:off x="1790700" y="2304604"/>
            <a:ext cx="8610600" cy="324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Messages</a:t>
            </a:r>
            <a:endParaRPr lang="en-US" sz="1650" dirty="0"/>
          </a:p>
        </p:txBody>
      </p:sp>
      <p:sp>
        <p:nvSpPr>
          <p:cNvPr id="20" name="Shape 14"/>
          <p:cNvSpPr/>
          <p:nvPr/>
        </p:nvSpPr>
        <p:spPr>
          <a:xfrm>
            <a:off x="1790700" y="2781746"/>
            <a:ext cx="8610600" cy="1233488"/>
          </a:xfrm>
          <a:prstGeom prst="rect">
            <a:avLst/>
          </a:prstGeom>
          <a:solidFill>
            <a:srgbClr val="DBDED0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5"/>
          <p:cNvSpPr/>
          <p:nvPr/>
        </p:nvSpPr>
        <p:spPr>
          <a:xfrm>
            <a:off x="1800225" y="2791271"/>
            <a:ext cx="8591550" cy="602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6"/>
          <p:cNvSpPr txBox="1"/>
          <p:nvPr/>
        </p:nvSpPr>
        <p:spPr>
          <a:xfrm>
            <a:off x="1990725" y="2981771"/>
            <a:ext cx="8210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8C611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 Paul — love FlipAll5. I've got a TikTok plan I'd like to run past you.</a:t>
            </a:r>
            <a:endParaRPr lang="en-US" sz="1125" dirty="0"/>
          </a:p>
        </p:txBody>
      </p:sp>
      <p:sp>
        <p:nvSpPr>
          <p:cNvPr id="23" name="Shape 17"/>
          <p:cNvSpPr/>
          <p:nvPr/>
        </p:nvSpPr>
        <p:spPr>
          <a:xfrm>
            <a:off x="1800225" y="3403253"/>
            <a:ext cx="8591550" cy="602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 txBox="1"/>
          <p:nvPr/>
        </p:nvSpPr>
        <p:spPr>
          <a:xfrm>
            <a:off x="1990725" y="3593753"/>
            <a:ext cx="8210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E8A4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Thanks Sam, happy to chat. What sort of budget are you thinking?</a:t>
            </a:r>
            <a:endParaRPr lang="en-US" sz="1125" dirty="0"/>
          </a:p>
        </p:txBody>
      </p:sp>
      <p:sp>
        <p:nvSpPr>
          <p:cNvPr id="25" name="Text 19"/>
          <p:cNvSpPr/>
          <p:nvPr/>
        </p:nvSpPr>
        <p:spPr>
          <a:xfrm>
            <a:off x="1790700" y="4205734"/>
            <a:ext cx="510159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</a:ln>
        </p:spPr>
        <p:txBody>
          <a:bodyPr wrap="square" lIns="142875" tIns="123825" rIns="142875" bIns="123825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8A948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Write a message...</a:t>
            </a:r>
            <a:endParaRPr lang="en-US" sz="1125" dirty="0"/>
          </a:p>
        </p:txBody>
      </p:sp>
      <p:sp>
        <p:nvSpPr>
          <p:cNvPr id="26" name="Text 20"/>
          <p:cNvSpPr/>
          <p:nvPr/>
        </p:nvSpPr>
        <p:spPr>
          <a:xfrm>
            <a:off x="1790700" y="5386834"/>
            <a:ext cx="673745" cy="371475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90500" tIns="114300" rIns="190500" bIns="11430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kern="0" spc="3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SEND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DEC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39127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790700" y="5209"/>
            <a:ext cx="8610600" cy="324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Revenue terms</a:t>
            </a:r>
            <a:endParaRPr lang="en-US" sz="1650" dirty="0"/>
          </a:p>
        </p:txBody>
      </p:sp>
      <p:sp>
        <p:nvSpPr>
          <p:cNvPr id="5" name="Text 1"/>
          <p:cNvSpPr txBox="1"/>
          <p:nvPr/>
        </p:nvSpPr>
        <p:spPr>
          <a:xfrm>
            <a:off x="1790700" y="491877"/>
            <a:ext cx="861060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1E8A4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developer keeps 70 CrescoShares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1790700" y="933301"/>
            <a:ext cx="57745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Change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1790700" y="1536650"/>
            <a:ext cx="8610600" cy="324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Report revenue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790700" y="2051893"/>
            <a:ext cx="1844129" cy="371475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90500" tIns="114300" rIns="190500" bIns="11430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kern="0" spc="3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SYNC FROM REVENUECAT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790700" y="2423368"/>
            <a:ext cx="1478310" cy="371475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90500" tIns="114300" rIns="190500" bIns="11430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kern="0" spc="3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REPORT MANUALLY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790700" y="3175843"/>
            <a:ext cx="8610600" cy="324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Report engagement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1790700" y="3662511"/>
            <a:ext cx="861060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 revenue yet? Report views, clicks, or downloads instead.</a:t>
            </a:r>
            <a:endParaRPr lang="en-US" sz="1275" dirty="0"/>
          </a:p>
        </p:txBody>
      </p:sp>
      <p:sp>
        <p:nvSpPr>
          <p:cNvPr id="12" name="Text 8"/>
          <p:cNvSpPr/>
          <p:nvPr/>
        </p:nvSpPr>
        <p:spPr>
          <a:xfrm>
            <a:off x="1790700" y="4075361"/>
            <a:ext cx="1624608" cy="371475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90500" tIns="114300" rIns="190500" bIns="11430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kern="0" spc="3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REPORT ENGAGEMENT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790700" y="4827836"/>
            <a:ext cx="8610600" cy="324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End this CrescoPact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1790700" y="5304979"/>
            <a:ext cx="1405235" cy="371475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90500" tIns="114300" rIns="190500" bIns="11430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kern="0" spc="3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 CRESCOPACT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790700" y="6057454"/>
            <a:ext cx="8610600" cy="324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Revenue reports</a:t>
            </a:r>
            <a:endParaRPr lang="en-US" sz="1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7E7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1912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790700" y="143321"/>
            <a:ext cx="8610600" cy="1849636"/>
          </a:xfrm>
          <a:prstGeom prst="rect">
            <a:avLst/>
          </a:prstGeom>
          <a:solidFill>
            <a:srgbClr val="DBDED0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1800225" y="152846"/>
            <a:ext cx="8591550" cy="9105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2"/>
          <p:cNvSpPr txBox="1"/>
          <p:nvPr/>
        </p:nvSpPr>
        <p:spPr>
          <a:xfrm>
            <a:off x="1990725" y="343346"/>
            <a:ext cx="821055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2026-08-01 to 2026-08-31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1990725" y="651421"/>
            <a:ext cx="8210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Gross: £412.50</a:t>
            </a:r>
            <a:endParaRPr lang="en-US" sz="1125" dirty="0"/>
          </a:p>
        </p:txBody>
      </p:sp>
      <p:sp>
        <p:nvSpPr>
          <p:cNvPr id="8" name="Shape 4"/>
          <p:cNvSpPr/>
          <p:nvPr/>
        </p:nvSpPr>
        <p:spPr>
          <a:xfrm>
            <a:off x="1800225" y="1072902"/>
            <a:ext cx="8591550" cy="9105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 txBox="1"/>
          <p:nvPr/>
        </p:nvSpPr>
        <p:spPr>
          <a:xfrm>
            <a:off x="1990725" y="1263402"/>
            <a:ext cx="821055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2026-07-01 to 2026-07-31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1990725" y="1571476"/>
            <a:ext cx="8210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Gross: £288.00 </a:t>
            </a: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UNVERIFIED</a:t>
            </a:r>
            <a:endParaRPr lang="en-US" sz="1125" dirty="0"/>
          </a:p>
        </p:txBody>
      </p:sp>
      <p:sp>
        <p:nvSpPr>
          <p:cNvPr id="11" name="Text 7"/>
          <p:cNvSpPr txBox="1"/>
          <p:nvPr/>
        </p:nvSpPr>
        <p:spPr>
          <a:xfrm>
            <a:off x="1790700" y="2373957"/>
            <a:ext cx="8610600" cy="324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8"/>
              </a:lnSpc>
              <a:buNone/>
            </a:pPr>
            <a:r>
              <a:rPr lang="en-US" sz="1650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Engagement reports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1790700" y="2851100"/>
            <a:ext cx="8610600" cy="1151037"/>
          </a:xfrm>
          <a:prstGeom prst="rect">
            <a:avLst/>
          </a:prstGeom>
          <a:solidFill>
            <a:srgbClr val="DBDED0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9"/>
          <p:cNvSpPr/>
          <p:nvPr/>
        </p:nvSpPr>
        <p:spPr>
          <a:xfrm>
            <a:off x="1800225" y="2860625"/>
            <a:ext cx="8591550" cy="113198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 txBox="1"/>
          <p:nvPr/>
        </p:nvSpPr>
        <p:spPr>
          <a:xfrm>
            <a:off x="1990725" y="3051125"/>
            <a:ext cx="821055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b="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2026-08-01 to 2026-08-31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1990725" y="3359200"/>
            <a:ext cx="8210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Views: 12400 · Clicks: 860 · Downloads: 310</a:t>
            </a:r>
            <a:endParaRPr lang="en-US" sz="1125" dirty="0"/>
          </a:p>
        </p:txBody>
      </p:sp>
      <p:sp>
        <p:nvSpPr>
          <p:cNvPr id="16" name="Text 12"/>
          <p:cNvSpPr txBox="1"/>
          <p:nvPr/>
        </p:nvSpPr>
        <p:spPr>
          <a:xfrm>
            <a:off x="1990725" y="3580656"/>
            <a:ext cx="82105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TikTok test campaign</a:t>
            </a:r>
            <a:endParaRPr lang="en-US" sz="1125" dirty="0"/>
          </a:p>
        </p:txBody>
      </p:sp>
      <p:sp>
        <p:nvSpPr>
          <p:cNvPr id="17" name="Shape 13"/>
          <p:cNvSpPr/>
          <p:nvPr/>
        </p:nvSpPr>
        <p:spPr>
          <a:xfrm>
            <a:off x="0" y="4954637"/>
            <a:ext cx="12192000" cy="1228725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0" y="4954637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1" descr="/home/claude/ex/18_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79" y="5307062"/>
            <a:ext cx="524042" cy="5334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209800" y="5354389"/>
            <a:ext cx="9864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2209800" y="5659189"/>
            <a:ext cx="11316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825" dirty="0"/>
          </a:p>
        </p:txBody>
      </p:sp>
      <p:sp>
        <p:nvSpPr>
          <p:cNvPr id="22" name="Text 17"/>
          <p:cNvSpPr/>
          <p:nvPr/>
        </p:nvSpPr>
        <p:spPr>
          <a:xfrm>
            <a:off x="4516785" y="5468987"/>
            <a:ext cx="215836" cy="209550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975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975" dirty="0"/>
          </a:p>
        </p:txBody>
      </p:sp>
      <p:sp>
        <p:nvSpPr>
          <p:cNvPr id="23" name="Text 18"/>
          <p:cNvSpPr txBox="1"/>
          <p:nvPr/>
        </p:nvSpPr>
        <p:spPr>
          <a:xfrm>
            <a:off x="4821585" y="5492502"/>
            <a:ext cx="123438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b="1" kern="0" spc="17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825" dirty="0"/>
          </a:p>
        </p:txBody>
      </p:sp>
      <p:sp>
        <p:nvSpPr>
          <p:cNvPr id="24" name="Text 19"/>
          <p:cNvSpPr txBox="1"/>
          <p:nvPr/>
        </p:nvSpPr>
        <p:spPr>
          <a:xfrm>
            <a:off x="6151215" y="5492502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25" name="Text 20"/>
          <p:cNvSpPr/>
          <p:nvPr/>
        </p:nvSpPr>
        <p:spPr>
          <a:xfrm>
            <a:off x="6309420" y="5482977"/>
            <a:ext cx="1188244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825" dirty="0"/>
          </a:p>
        </p:txBody>
      </p:sp>
      <p:sp>
        <p:nvSpPr>
          <p:cNvPr id="26" name="Shape 21"/>
          <p:cNvSpPr/>
          <p:nvPr/>
        </p:nvSpPr>
        <p:spPr>
          <a:xfrm>
            <a:off x="6309420" y="5664398"/>
            <a:ext cx="1188244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 txBox="1"/>
          <p:nvPr/>
        </p:nvSpPr>
        <p:spPr>
          <a:xfrm>
            <a:off x="7592913" y="5492502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28" name="Text 23"/>
          <p:cNvSpPr/>
          <p:nvPr/>
        </p:nvSpPr>
        <p:spPr>
          <a:xfrm>
            <a:off x="7751118" y="5482977"/>
            <a:ext cx="924223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825" dirty="0"/>
          </a:p>
        </p:txBody>
      </p:sp>
      <p:sp>
        <p:nvSpPr>
          <p:cNvPr id="29" name="Shape 24"/>
          <p:cNvSpPr/>
          <p:nvPr/>
        </p:nvSpPr>
        <p:spPr>
          <a:xfrm>
            <a:off x="7751118" y="5664398"/>
            <a:ext cx="924223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5"/>
          <p:cNvSpPr txBox="1"/>
          <p:nvPr/>
        </p:nvSpPr>
        <p:spPr>
          <a:xfrm>
            <a:off x="9850636" y="5492502"/>
            <a:ext cx="81736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8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58177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76275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19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152400"/>
            <a:ext cx="361950" cy="36195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23900" y="185738"/>
            <a:ext cx="9864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pic>
        <p:nvPicPr>
          <p:cNvPr id="8" name="Image 2" descr="/home/claude/ex/19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950" y="214136"/>
            <a:ext cx="247650" cy="23847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80150" y="178147"/>
            <a:ext cx="57388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7463582" y="178147"/>
            <a:ext cx="861864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8534995" y="178147"/>
            <a:ext cx="78983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9534376" y="254347"/>
            <a:ext cx="72017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0273605" y="251966"/>
            <a:ext cx="152400" cy="152400"/>
          </a:xfrm>
          <a:prstGeom prst="ellipse">
            <a:avLst/>
          </a:prstGeom>
          <a:solidFill>
            <a:srgbClr val="E0632E"/>
          </a:solidFill>
          <a:ln/>
        </p:spPr>
        <p:txBody>
          <a:bodyPr wrap="none" lIns="38100" tIns="0" rIns="38100" bIns="0" rtlCol="0" anchor="ctr"/>
          <a:lstStyle/>
          <a:p>
            <a:pPr marL="0" indent="0" algn="ctr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8"/>
          <p:cNvSpPr txBox="1"/>
          <p:nvPr/>
        </p:nvSpPr>
        <p:spPr>
          <a:xfrm>
            <a:off x="10635555" y="244822"/>
            <a:ext cx="576114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SETTINGS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1421219" y="244822"/>
            <a:ext cx="504081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OUT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1790700" y="1123950"/>
            <a:ext cx="432197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790700" y="1491555"/>
            <a:ext cx="8610600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2"/>
              </a:lnSpc>
              <a:buNone/>
            </a:pPr>
            <a:r>
              <a:rPr lang="en-US" sz="3150" b="1" kern="0" spc="-32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Disconnect this Trial</a:t>
            </a:r>
            <a:endParaRPr lang="en-US" sz="3150" dirty="0"/>
          </a:p>
        </p:txBody>
      </p:sp>
      <p:sp>
        <p:nvSpPr>
          <p:cNvPr id="18" name="Text 12"/>
          <p:cNvSpPr txBox="1"/>
          <p:nvPr/>
        </p:nvSpPr>
        <p:spPr>
          <a:xfrm>
            <a:off x="1790700" y="2114104"/>
            <a:ext cx="8610600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This completely ends the relationship. It's recorded and visible to the other party, and factors into track record.</a:t>
            </a:r>
            <a:endParaRPr lang="en-US" sz="1275" dirty="0"/>
          </a:p>
        </p:txBody>
      </p:sp>
      <p:sp>
        <p:nvSpPr>
          <p:cNvPr id="19" name="Text 13"/>
          <p:cNvSpPr txBox="1"/>
          <p:nvPr/>
        </p:nvSpPr>
        <p:spPr>
          <a:xfrm>
            <a:off x="1790700" y="2555528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ARE YOU DISCONNECTING?</a:t>
            </a:r>
            <a:endParaRPr lang="en-US" sz="825" dirty="0"/>
          </a:p>
        </p:txBody>
      </p:sp>
      <p:sp>
        <p:nvSpPr>
          <p:cNvPr id="20" name="Shape 14"/>
          <p:cNvSpPr/>
          <p:nvPr/>
        </p:nvSpPr>
        <p:spPr>
          <a:xfrm>
            <a:off x="1790700" y="2775049"/>
            <a:ext cx="49530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5"/>
          <p:cNvSpPr/>
          <p:nvPr/>
        </p:nvSpPr>
        <p:spPr>
          <a:xfrm>
            <a:off x="1790700" y="4026098"/>
            <a:ext cx="1112639" cy="371475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90500" tIns="114300" rIns="190500" bIns="11430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kern="0" spc="3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DISCONNECT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0" y="5350073"/>
            <a:ext cx="12192000" cy="1228725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0" y="5350073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4" name="Image 3" descr="/home/claude/ex/19_img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8679" y="5702498"/>
            <a:ext cx="524042" cy="5334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2209800" y="5749826"/>
            <a:ext cx="9864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2209800" y="6054626"/>
            <a:ext cx="11316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825" dirty="0"/>
          </a:p>
        </p:txBody>
      </p:sp>
      <p:sp>
        <p:nvSpPr>
          <p:cNvPr id="27" name="Text 20"/>
          <p:cNvSpPr/>
          <p:nvPr/>
        </p:nvSpPr>
        <p:spPr>
          <a:xfrm>
            <a:off x="4516785" y="5864423"/>
            <a:ext cx="215836" cy="209550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975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975" dirty="0"/>
          </a:p>
        </p:txBody>
      </p:sp>
      <p:sp>
        <p:nvSpPr>
          <p:cNvPr id="28" name="Text 21"/>
          <p:cNvSpPr txBox="1"/>
          <p:nvPr/>
        </p:nvSpPr>
        <p:spPr>
          <a:xfrm>
            <a:off x="4821585" y="5887938"/>
            <a:ext cx="123438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b="1" kern="0" spc="17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825" dirty="0"/>
          </a:p>
        </p:txBody>
      </p:sp>
      <p:sp>
        <p:nvSpPr>
          <p:cNvPr id="29" name="Text 22"/>
          <p:cNvSpPr txBox="1"/>
          <p:nvPr/>
        </p:nvSpPr>
        <p:spPr>
          <a:xfrm>
            <a:off x="6151215" y="5887938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30" name="Text 23"/>
          <p:cNvSpPr/>
          <p:nvPr/>
        </p:nvSpPr>
        <p:spPr>
          <a:xfrm>
            <a:off x="6309420" y="5878413"/>
            <a:ext cx="1188244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825" dirty="0"/>
          </a:p>
        </p:txBody>
      </p:sp>
      <p:sp>
        <p:nvSpPr>
          <p:cNvPr id="31" name="Shape 24"/>
          <p:cNvSpPr/>
          <p:nvPr/>
        </p:nvSpPr>
        <p:spPr>
          <a:xfrm>
            <a:off x="6309420" y="6059835"/>
            <a:ext cx="1188244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5"/>
          <p:cNvSpPr txBox="1"/>
          <p:nvPr/>
        </p:nvSpPr>
        <p:spPr>
          <a:xfrm>
            <a:off x="7592913" y="5887938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33" name="Text 26"/>
          <p:cNvSpPr/>
          <p:nvPr/>
        </p:nvSpPr>
        <p:spPr>
          <a:xfrm>
            <a:off x="7751118" y="5878413"/>
            <a:ext cx="924223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825" dirty="0"/>
          </a:p>
        </p:txBody>
      </p:sp>
      <p:sp>
        <p:nvSpPr>
          <p:cNvPr id="34" name="Shape 27"/>
          <p:cNvSpPr/>
          <p:nvPr/>
        </p:nvSpPr>
        <p:spPr>
          <a:xfrm>
            <a:off x="7751118" y="6059835"/>
            <a:ext cx="924223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28"/>
          <p:cNvSpPr txBox="1"/>
          <p:nvPr/>
        </p:nvSpPr>
        <p:spPr>
          <a:xfrm>
            <a:off x="9850636" y="5887938"/>
            <a:ext cx="81736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8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389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76275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20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152400"/>
            <a:ext cx="361950" cy="36195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23900" y="185738"/>
            <a:ext cx="9864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pic>
        <p:nvPicPr>
          <p:cNvPr id="8" name="Image 2" descr="/home/claude/ex/20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950" y="214136"/>
            <a:ext cx="247650" cy="23847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80150" y="178147"/>
            <a:ext cx="57388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7463582" y="178147"/>
            <a:ext cx="861864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8534995" y="178147"/>
            <a:ext cx="78983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9534376" y="254347"/>
            <a:ext cx="72017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0273605" y="251966"/>
            <a:ext cx="152400" cy="152400"/>
          </a:xfrm>
          <a:prstGeom prst="ellipse">
            <a:avLst/>
          </a:prstGeom>
          <a:solidFill>
            <a:srgbClr val="E0632E"/>
          </a:solidFill>
          <a:ln/>
        </p:spPr>
        <p:txBody>
          <a:bodyPr wrap="none" lIns="38100" tIns="0" rIns="38100" bIns="0" rtlCol="0" anchor="ctr"/>
          <a:lstStyle/>
          <a:p>
            <a:pPr marL="0" indent="0" algn="ctr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8"/>
          <p:cNvSpPr txBox="1"/>
          <p:nvPr/>
        </p:nvSpPr>
        <p:spPr>
          <a:xfrm>
            <a:off x="10635555" y="244822"/>
            <a:ext cx="576114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SETTINGS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1421219" y="244822"/>
            <a:ext cx="504081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OUT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1790700" y="1123950"/>
            <a:ext cx="432197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790700" y="1491555"/>
            <a:ext cx="8610600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2"/>
              </a:lnSpc>
              <a:buNone/>
            </a:pPr>
            <a:r>
              <a:rPr lang="en-US" sz="3150" b="1" kern="0" spc="-32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End this CrescoPact</a:t>
            </a:r>
            <a:endParaRPr lang="en-US" sz="3150" dirty="0"/>
          </a:p>
        </p:txBody>
      </p:sp>
      <p:sp>
        <p:nvSpPr>
          <p:cNvPr id="18" name="Text 12"/>
          <p:cNvSpPr txBox="1"/>
          <p:nvPr/>
        </p:nvSpPr>
        <p:spPr>
          <a:xfrm>
            <a:off x="1790700" y="2114104"/>
            <a:ext cx="8868918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Either side can end a CrescoPact at any time. This is recorded, not hidden — the reason you give is visible to the other party and factors into your track record.</a:t>
            </a:r>
            <a:endParaRPr lang="en-US" sz="1275" dirty="0"/>
          </a:p>
        </p:txBody>
      </p:sp>
      <p:sp>
        <p:nvSpPr>
          <p:cNvPr id="19" name="Text 13"/>
          <p:cNvSpPr txBox="1"/>
          <p:nvPr/>
        </p:nvSpPr>
        <p:spPr>
          <a:xfrm>
            <a:off x="1790700" y="2806452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ARE YOU ENDING IT?</a:t>
            </a:r>
            <a:endParaRPr lang="en-US" sz="825" dirty="0"/>
          </a:p>
        </p:txBody>
      </p:sp>
      <p:sp>
        <p:nvSpPr>
          <p:cNvPr id="20" name="Shape 14"/>
          <p:cNvSpPr/>
          <p:nvPr/>
        </p:nvSpPr>
        <p:spPr>
          <a:xfrm>
            <a:off x="1790700" y="3025973"/>
            <a:ext cx="49530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5"/>
          <p:cNvSpPr/>
          <p:nvPr/>
        </p:nvSpPr>
        <p:spPr>
          <a:xfrm>
            <a:off x="1790700" y="4277023"/>
            <a:ext cx="1405235" cy="371475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90500" tIns="114300" rIns="190500" bIns="11430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kern="0" spc="3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 CRESCOPACT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0" y="5600998"/>
            <a:ext cx="12192000" cy="1228725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0" y="5600998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4" name="Image 3" descr="/home/claude/ex/20_img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8679" y="5953423"/>
            <a:ext cx="524042" cy="5334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2209800" y="6000750"/>
            <a:ext cx="9864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2209800" y="6305550"/>
            <a:ext cx="11316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825" dirty="0"/>
          </a:p>
        </p:txBody>
      </p:sp>
      <p:sp>
        <p:nvSpPr>
          <p:cNvPr id="27" name="Text 20"/>
          <p:cNvSpPr/>
          <p:nvPr/>
        </p:nvSpPr>
        <p:spPr>
          <a:xfrm>
            <a:off x="4516785" y="6115348"/>
            <a:ext cx="215836" cy="209550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975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975" dirty="0"/>
          </a:p>
        </p:txBody>
      </p:sp>
      <p:sp>
        <p:nvSpPr>
          <p:cNvPr id="28" name="Text 21"/>
          <p:cNvSpPr txBox="1"/>
          <p:nvPr/>
        </p:nvSpPr>
        <p:spPr>
          <a:xfrm>
            <a:off x="4821585" y="6138863"/>
            <a:ext cx="123438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b="1" kern="0" spc="17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825" dirty="0"/>
          </a:p>
        </p:txBody>
      </p:sp>
      <p:sp>
        <p:nvSpPr>
          <p:cNvPr id="29" name="Text 22"/>
          <p:cNvSpPr txBox="1"/>
          <p:nvPr/>
        </p:nvSpPr>
        <p:spPr>
          <a:xfrm>
            <a:off x="6151215" y="6138863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30" name="Text 23"/>
          <p:cNvSpPr/>
          <p:nvPr/>
        </p:nvSpPr>
        <p:spPr>
          <a:xfrm>
            <a:off x="6309420" y="6129338"/>
            <a:ext cx="1188244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825" dirty="0"/>
          </a:p>
        </p:txBody>
      </p:sp>
      <p:sp>
        <p:nvSpPr>
          <p:cNvPr id="31" name="Shape 24"/>
          <p:cNvSpPr/>
          <p:nvPr/>
        </p:nvSpPr>
        <p:spPr>
          <a:xfrm>
            <a:off x="6309420" y="6310759"/>
            <a:ext cx="1188244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5"/>
          <p:cNvSpPr txBox="1"/>
          <p:nvPr/>
        </p:nvSpPr>
        <p:spPr>
          <a:xfrm>
            <a:off x="7592913" y="6138863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33" name="Text 26"/>
          <p:cNvSpPr/>
          <p:nvPr/>
        </p:nvSpPr>
        <p:spPr>
          <a:xfrm>
            <a:off x="7751118" y="6129338"/>
            <a:ext cx="924223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825" dirty="0"/>
          </a:p>
        </p:txBody>
      </p:sp>
      <p:sp>
        <p:nvSpPr>
          <p:cNvPr id="34" name="Shape 27"/>
          <p:cNvSpPr/>
          <p:nvPr/>
        </p:nvSpPr>
        <p:spPr>
          <a:xfrm>
            <a:off x="7751118" y="6310759"/>
            <a:ext cx="924223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28"/>
          <p:cNvSpPr txBox="1"/>
          <p:nvPr/>
        </p:nvSpPr>
        <p:spPr>
          <a:xfrm>
            <a:off x="9850636" y="6138863"/>
            <a:ext cx="81736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8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9" y="0"/>
            <a:ext cx="12041481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5259" y="0"/>
            <a:ext cx="12041481" cy="667926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75259" y="667926"/>
            <a:ext cx="12041481" cy="0"/>
          </a:xfrm>
          <a:prstGeom prst="line">
            <a:avLst/>
          </a:prstGeom>
          <a:noFill/>
          <a:ln w="9398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21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67" y="150519"/>
            <a:ext cx="357481" cy="35748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90222" y="183444"/>
            <a:ext cx="974255" cy="291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96"/>
              </a:lnSpc>
              <a:buNone/>
            </a:pPr>
            <a:r>
              <a:rPr lang="en-US" sz="1481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481" dirty="0"/>
          </a:p>
        </p:txBody>
      </p:sp>
      <p:pic>
        <p:nvPicPr>
          <p:cNvPr id="8" name="Image 2" descr="/home/claude/ex/21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1383" y="211493"/>
            <a:ext cx="244593" cy="23553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72939" y="175948"/>
            <a:ext cx="566796" cy="306623"/>
          </a:xfrm>
          <a:prstGeom prst="rect">
            <a:avLst/>
          </a:prstGeom>
          <a:ln w="9398">
            <a:solidFill>
              <a:srgbClr val="48533F"/>
            </a:solidFill>
          </a:ln>
        </p:spPr>
        <p:txBody>
          <a:bodyPr wrap="none" lIns="141097" tIns="65913" rIns="141097" bIns="65913" rtlCol="0" anchor="t"/>
          <a:lstStyle/>
          <a:p>
            <a:pPr marL="0" indent="0" algn="l">
              <a:lnSpc>
                <a:spcPts val="1378"/>
              </a:lnSpc>
              <a:buNone/>
            </a:pPr>
            <a:r>
              <a:rPr lang="en-US" sz="889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889" dirty="0"/>
          </a:p>
        </p:txBody>
      </p:sp>
      <p:sp>
        <p:nvSpPr>
          <p:cNvPr id="10" name="Text 4"/>
          <p:cNvSpPr/>
          <p:nvPr/>
        </p:nvSpPr>
        <p:spPr>
          <a:xfrm>
            <a:off x="7446698" y="175948"/>
            <a:ext cx="851223" cy="306623"/>
          </a:xfrm>
          <a:prstGeom prst="rect">
            <a:avLst/>
          </a:prstGeom>
          <a:ln w="9398">
            <a:solidFill>
              <a:srgbClr val="48533F"/>
            </a:solidFill>
          </a:ln>
        </p:spPr>
        <p:txBody>
          <a:bodyPr wrap="none" lIns="141097" tIns="65913" rIns="141097" bIns="65913" rtlCol="0" anchor="t"/>
          <a:lstStyle/>
          <a:p>
            <a:pPr marL="0" indent="0" algn="l">
              <a:lnSpc>
                <a:spcPts val="1378"/>
              </a:lnSpc>
              <a:buNone/>
            </a:pPr>
            <a:r>
              <a:rPr lang="en-US" sz="889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889" dirty="0"/>
          </a:p>
        </p:txBody>
      </p:sp>
      <p:sp>
        <p:nvSpPr>
          <p:cNvPr id="11" name="Text 5"/>
          <p:cNvSpPr/>
          <p:nvPr/>
        </p:nvSpPr>
        <p:spPr>
          <a:xfrm>
            <a:off x="8504884" y="175948"/>
            <a:ext cx="780080" cy="306623"/>
          </a:xfrm>
          <a:prstGeom prst="rect">
            <a:avLst/>
          </a:prstGeom>
          <a:ln w="9398">
            <a:solidFill>
              <a:srgbClr val="48533F"/>
            </a:solidFill>
          </a:ln>
        </p:spPr>
        <p:txBody>
          <a:bodyPr wrap="none" lIns="141097" tIns="65913" rIns="141097" bIns="65913" rtlCol="0" anchor="t"/>
          <a:lstStyle/>
          <a:p>
            <a:pPr marL="0" indent="0" algn="l">
              <a:lnSpc>
                <a:spcPts val="1378"/>
              </a:lnSpc>
              <a:buNone/>
            </a:pPr>
            <a:r>
              <a:rPr lang="en-US" sz="889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889" dirty="0"/>
          </a:p>
        </p:txBody>
      </p:sp>
      <p:sp>
        <p:nvSpPr>
          <p:cNvPr id="12" name="Text 6"/>
          <p:cNvSpPr txBox="1"/>
          <p:nvPr/>
        </p:nvSpPr>
        <p:spPr>
          <a:xfrm>
            <a:off x="9491927" y="251207"/>
            <a:ext cx="711288" cy="1411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6"/>
              </a:lnSpc>
              <a:buNone/>
            </a:pPr>
            <a:r>
              <a:rPr lang="en-US" sz="889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889" dirty="0"/>
          </a:p>
        </p:txBody>
      </p:sp>
      <p:sp>
        <p:nvSpPr>
          <p:cNvPr id="13" name="Text 7"/>
          <p:cNvSpPr/>
          <p:nvPr/>
        </p:nvSpPr>
        <p:spPr>
          <a:xfrm>
            <a:off x="10222030" y="248855"/>
            <a:ext cx="150519" cy="150519"/>
          </a:xfrm>
          <a:prstGeom prst="ellipse">
            <a:avLst/>
          </a:prstGeom>
          <a:solidFill>
            <a:srgbClr val="E0632E"/>
          </a:solidFill>
          <a:ln/>
        </p:spPr>
        <p:txBody>
          <a:bodyPr wrap="none" lIns="37592" tIns="0" rIns="37592" bIns="0" rtlCol="0" anchor="ctr"/>
          <a:lstStyle/>
          <a:p>
            <a:pPr marL="0" indent="0" algn="ctr">
              <a:lnSpc>
                <a:spcPts val="1148"/>
              </a:lnSpc>
              <a:buNone/>
            </a:pPr>
            <a:r>
              <a:rPr lang="en-US" sz="741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741" dirty="0"/>
          </a:p>
        </p:txBody>
      </p:sp>
      <p:sp>
        <p:nvSpPr>
          <p:cNvPr id="14" name="Text 8"/>
          <p:cNvSpPr txBox="1"/>
          <p:nvPr/>
        </p:nvSpPr>
        <p:spPr>
          <a:xfrm>
            <a:off x="10579512" y="241800"/>
            <a:ext cx="569001" cy="17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78"/>
              </a:lnSpc>
              <a:buNone/>
            </a:pPr>
            <a:r>
              <a:rPr lang="en-US" sz="889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SETTINGS</a:t>
            </a:r>
            <a:endParaRPr lang="en-US" sz="889" dirty="0"/>
          </a:p>
        </p:txBody>
      </p:sp>
      <p:sp>
        <p:nvSpPr>
          <p:cNvPr id="15" name="Text 9"/>
          <p:cNvSpPr txBox="1"/>
          <p:nvPr/>
        </p:nvSpPr>
        <p:spPr>
          <a:xfrm>
            <a:off x="11355476" y="241800"/>
            <a:ext cx="497858" cy="17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78"/>
              </a:lnSpc>
              <a:buNone/>
            </a:pPr>
            <a:r>
              <a:rPr lang="en-US" sz="889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OUT</a:t>
            </a:r>
            <a:endParaRPr lang="en-US" sz="889" dirty="0"/>
          </a:p>
        </p:txBody>
      </p:sp>
      <p:sp>
        <p:nvSpPr>
          <p:cNvPr id="16" name="Text 10"/>
          <p:cNvSpPr txBox="1"/>
          <p:nvPr/>
        </p:nvSpPr>
        <p:spPr>
          <a:xfrm>
            <a:off x="1843852" y="1110074"/>
            <a:ext cx="426861" cy="17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78"/>
              </a:lnSpc>
              <a:buNone/>
            </a:pPr>
            <a:r>
              <a:rPr lang="en-US" sz="889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889" dirty="0"/>
          </a:p>
        </p:txBody>
      </p:sp>
      <p:sp>
        <p:nvSpPr>
          <p:cNvPr id="17" name="Text 11"/>
          <p:cNvSpPr txBox="1"/>
          <p:nvPr/>
        </p:nvSpPr>
        <p:spPr>
          <a:xfrm>
            <a:off x="1843852" y="1473141"/>
            <a:ext cx="8504296" cy="42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111" b="1" kern="0" spc="-31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Set revenue terms</a:t>
            </a:r>
            <a:endParaRPr lang="en-US" sz="3111" dirty="0"/>
          </a:p>
        </p:txBody>
      </p:sp>
      <p:sp>
        <p:nvSpPr>
          <p:cNvPr id="18" name="Text 12"/>
          <p:cNvSpPr txBox="1"/>
          <p:nvPr/>
        </p:nvSpPr>
        <p:spPr>
          <a:xfrm>
            <a:off x="1843852" y="2088003"/>
            <a:ext cx="8504296" cy="24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2"/>
              </a:lnSpc>
              <a:buNone/>
            </a:pPr>
            <a:r>
              <a:rPr lang="en-US" sz="1259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Entirely optional, and only relevant once you're both ready to structure the relationship.</a:t>
            </a:r>
            <a:endParaRPr lang="en-US" sz="1259" dirty="0"/>
          </a:p>
        </p:txBody>
      </p:sp>
      <p:sp>
        <p:nvSpPr>
          <p:cNvPr id="19" name="Text 13"/>
          <p:cNvSpPr txBox="1"/>
          <p:nvPr/>
        </p:nvSpPr>
        <p:spPr>
          <a:xfrm>
            <a:off x="1843852" y="2523978"/>
            <a:ext cx="4891852" cy="160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3"/>
              </a:lnSpc>
              <a:buNone/>
            </a:pPr>
            <a:r>
              <a:rPr lang="en-US" sz="81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CRESCOSHARES THE DEVELOPER KEEPS (OUT OF 100)</a:t>
            </a:r>
            <a:endParaRPr lang="en-US" sz="815" dirty="0"/>
          </a:p>
        </p:txBody>
      </p:sp>
      <p:sp>
        <p:nvSpPr>
          <p:cNvPr id="20" name="Text 14"/>
          <p:cNvSpPr/>
          <p:nvPr/>
        </p:nvSpPr>
        <p:spPr>
          <a:xfrm>
            <a:off x="1843852" y="2740789"/>
            <a:ext cx="4891852" cy="404519"/>
          </a:xfrm>
          <a:prstGeom prst="rect">
            <a:avLst/>
          </a:prstGeom>
          <a:solidFill>
            <a:srgbClr val="FFFFFF"/>
          </a:solidFill>
          <a:ln w="9398">
            <a:solidFill>
              <a:srgbClr val="DBDED0"/>
            </a:solidFill>
          </a:ln>
        </p:spPr>
        <p:txBody>
          <a:bodyPr wrap="none" lIns="141097" tIns="122301" rIns="141097" bIns="122301" rtlCol="0" anchor="ctr"/>
          <a:lstStyle/>
          <a:p>
            <a:pPr marL="0" indent="0" algn="l">
              <a:lnSpc>
                <a:spcPts val="1444"/>
              </a:lnSpc>
              <a:buNone/>
            </a:pPr>
            <a:r>
              <a:rPr lang="en-US" sz="1111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70</a:t>
            </a:r>
            <a:endParaRPr lang="en-US" sz="1111" dirty="0"/>
          </a:p>
        </p:txBody>
      </p:sp>
      <p:sp>
        <p:nvSpPr>
          <p:cNvPr id="21" name="Shape 15"/>
          <p:cNvSpPr/>
          <p:nvPr/>
        </p:nvSpPr>
        <p:spPr>
          <a:xfrm>
            <a:off x="1881481" y="3455752"/>
            <a:ext cx="122296" cy="122296"/>
          </a:xfrm>
          <a:prstGeom prst="rect">
            <a:avLst/>
          </a:prstGeom>
          <a:solidFill>
            <a:srgbClr val="FFFFFF"/>
          </a:solidFill>
          <a:ln w="9398">
            <a:solidFill>
              <a:srgbClr val="5C685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6"/>
          <p:cNvSpPr txBox="1"/>
          <p:nvPr/>
        </p:nvSpPr>
        <p:spPr>
          <a:xfrm>
            <a:off x="2107259" y="3427530"/>
            <a:ext cx="4767298" cy="568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3"/>
              </a:lnSpc>
              <a:buNone/>
            </a:pPr>
            <a:r>
              <a:rPr lang="en-US" sz="963" kern="0" spc="48" dirty="0">
                <a:solidFill>
                  <a:srgbClr val="4853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 understand Crescopus doesn't broker, manage, verify, or guarantee this CrescoPact, and that Crescopus is not a party to it or responsible for what happens between us.</a:t>
            </a:r>
            <a:endParaRPr lang="en-US" sz="963" dirty="0"/>
          </a:p>
        </p:txBody>
      </p:sp>
      <p:sp>
        <p:nvSpPr>
          <p:cNvPr id="23" name="Text 17"/>
          <p:cNvSpPr/>
          <p:nvPr/>
        </p:nvSpPr>
        <p:spPr>
          <a:xfrm>
            <a:off x="1843852" y="4334610"/>
            <a:ext cx="665427" cy="366889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88087" tIns="112903" rIns="188087" bIns="112903" rtlCol="0" anchor="ctr"/>
          <a:lstStyle/>
          <a:p>
            <a:pPr marL="0" indent="0" algn="ctr">
              <a:lnSpc>
                <a:spcPts val="1156"/>
              </a:lnSpc>
              <a:buNone/>
            </a:pPr>
            <a:r>
              <a:rPr lang="en-US" sz="889" kern="0" spc="3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SAVE</a:t>
            </a:r>
            <a:endParaRPr lang="en-US" sz="889" dirty="0"/>
          </a:p>
        </p:txBody>
      </p:sp>
      <p:sp>
        <p:nvSpPr>
          <p:cNvPr id="24" name="Shape 18"/>
          <p:cNvSpPr/>
          <p:nvPr/>
        </p:nvSpPr>
        <p:spPr>
          <a:xfrm>
            <a:off x="75259" y="5642240"/>
            <a:ext cx="12041481" cy="1213556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19"/>
          <p:cNvSpPr/>
          <p:nvPr/>
        </p:nvSpPr>
        <p:spPr>
          <a:xfrm>
            <a:off x="75259" y="5642240"/>
            <a:ext cx="12041481" cy="0"/>
          </a:xfrm>
          <a:prstGeom prst="line">
            <a:avLst/>
          </a:prstGeom>
          <a:noFill/>
          <a:ln w="9398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" name="Image 3" descr="/home/claude/ex/21_img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5065" y="5990314"/>
            <a:ext cx="517572" cy="52681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257778" y="6037057"/>
            <a:ext cx="974255" cy="235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96"/>
              </a:lnSpc>
              <a:buNone/>
            </a:pPr>
            <a:r>
              <a:rPr lang="en-US" sz="1481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481" dirty="0"/>
          </a:p>
        </p:txBody>
      </p:sp>
      <p:sp>
        <p:nvSpPr>
          <p:cNvPr id="28" name="Text 21"/>
          <p:cNvSpPr txBox="1"/>
          <p:nvPr/>
        </p:nvSpPr>
        <p:spPr>
          <a:xfrm>
            <a:off x="2257778" y="6338094"/>
            <a:ext cx="1117718" cy="160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3"/>
              </a:lnSpc>
              <a:buNone/>
            </a:pPr>
            <a:r>
              <a:rPr lang="en-US" sz="81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815" dirty="0"/>
          </a:p>
        </p:txBody>
      </p:sp>
      <p:sp>
        <p:nvSpPr>
          <p:cNvPr id="29" name="Text 22"/>
          <p:cNvSpPr/>
          <p:nvPr/>
        </p:nvSpPr>
        <p:spPr>
          <a:xfrm>
            <a:off x="4536281" y="6150240"/>
            <a:ext cx="213172" cy="206963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63"/>
              </a:lnSpc>
              <a:buNone/>
            </a:pPr>
            <a:r>
              <a:rPr lang="en-US" sz="963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963" dirty="0"/>
          </a:p>
        </p:txBody>
      </p:sp>
      <p:sp>
        <p:nvSpPr>
          <p:cNvPr id="30" name="Text 23"/>
          <p:cNvSpPr txBox="1"/>
          <p:nvPr/>
        </p:nvSpPr>
        <p:spPr>
          <a:xfrm>
            <a:off x="4837318" y="6173464"/>
            <a:ext cx="1219141" cy="160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3"/>
              </a:lnSpc>
              <a:buNone/>
            </a:pPr>
            <a:r>
              <a:rPr lang="en-US" sz="815" b="1" kern="0" spc="16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815" dirty="0"/>
          </a:p>
        </p:txBody>
      </p:sp>
      <p:sp>
        <p:nvSpPr>
          <p:cNvPr id="31" name="Text 24"/>
          <p:cNvSpPr txBox="1"/>
          <p:nvPr/>
        </p:nvSpPr>
        <p:spPr>
          <a:xfrm>
            <a:off x="6150534" y="6173464"/>
            <a:ext cx="62177" cy="160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3"/>
              </a:lnSpc>
              <a:buNone/>
            </a:pPr>
            <a:r>
              <a:rPr lang="en-US" sz="81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15" dirty="0"/>
          </a:p>
        </p:txBody>
      </p:sp>
      <p:sp>
        <p:nvSpPr>
          <p:cNvPr id="32" name="Text 25"/>
          <p:cNvSpPr/>
          <p:nvPr/>
        </p:nvSpPr>
        <p:spPr>
          <a:xfrm>
            <a:off x="6306785" y="6164057"/>
            <a:ext cx="1173574" cy="179182"/>
          </a:xfrm>
          <a:prstGeom prst="rect">
            <a:avLst/>
          </a:prstGeom>
          <a:ln/>
        </p:spPr>
        <p:txBody>
          <a:bodyPr wrap="none" lIns="0" tIns="0" rIns="0" bIns="18796" rtlCol="0" anchor="t"/>
          <a:lstStyle/>
          <a:p>
            <a:pPr marL="0" indent="0" algn="l">
              <a:lnSpc>
                <a:spcPts val="1263"/>
              </a:lnSpc>
              <a:buNone/>
            </a:pPr>
            <a:r>
              <a:rPr lang="en-US" sz="815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815" dirty="0"/>
          </a:p>
        </p:txBody>
      </p:sp>
      <p:sp>
        <p:nvSpPr>
          <p:cNvPr id="33" name="Shape 26"/>
          <p:cNvSpPr/>
          <p:nvPr/>
        </p:nvSpPr>
        <p:spPr>
          <a:xfrm>
            <a:off x="6306785" y="6343238"/>
            <a:ext cx="1173574" cy="0"/>
          </a:xfrm>
          <a:prstGeom prst="line">
            <a:avLst/>
          </a:prstGeom>
          <a:noFill/>
          <a:ln w="9398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27"/>
          <p:cNvSpPr txBox="1"/>
          <p:nvPr/>
        </p:nvSpPr>
        <p:spPr>
          <a:xfrm>
            <a:off x="7574433" y="6173464"/>
            <a:ext cx="62177" cy="160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3"/>
              </a:lnSpc>
              <a:buNone/>
            </a:pPr>
            <a:r>
              <a:rPr lang="en-US" sz="81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15" dirty="0"/>
          </a:p>
        </p:txBody>
      </p:sp>
      <p:sp>
        <p:nvSpPr>
          <p:cNvPr id="35" name="Text 28"/>
          <p:cNvSpPr/>
          <p:nvPr/>
        </p:nvSpPr>
        <p:spPr>
          <a:xfrm>
            <a:off x="7730684" y="6164057"/>
            <a:ext cx="912813" cy="179182"/>
          </a:xfrm>
          <a:prstGeom prst="rect">
            <a:avLst/>
          </a:prstGeom>
          <a:ln/>
        </p:spPr>
        <p:txBody>
          <a:bodyPr wrap="none" lIns="0" tIns="0" rIns="0" bIns="18796" rtlCol="0" anchor="t"/>
          <a:lstStyle/>
          <a:p>
            <a:pPr marL="0" indent="0" algn="l">
              <a:lnSpc>
                <a:spcPts val="1263"/>
              </a:lnSpc>
              <a:buNone/>
            </a:pPr>
            <a:r>
              <a:rPr lang="en-US" sz="815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815" dirty="0"/>
          </a:p>
        </p:txBody>
      </p:sp>
      <p:sp>
        <p:nvSpPr>
          <p:cNvPr id="36" name="Shape 29"/>
          <p:cNvSpPr/>
          <p:nvPr/>
        </p:nvSpPr>
        <p:spPr>
          <a:xfrm>
            <a:off x="7730684" y="6343238"/>
            <a:ext cx="912813" cy="0"/>
          </a:xfrm>
          <a:prstGeom prst="line">
            <a:avLst/>
          </a:prstGeom>
          <a:noFill/>
          <a:ln w="9398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0"/>
          <p:cNvSpPr txBox="1"/>
          <p:nvPr/>
        </p:nvSpPr>
        <p:spPr>
          <a:xfrm>
            <a:off x="9804282" y="6173464"/>
            <a:ext cx="807273" cy="160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3"/>
              </a:lnSpc>
              <a:buNone/>
            </a:pPr>
            <a:r>
              <a:rPr lang="en-US" sz="815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81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90" y="0"/>
            <a:ext cx="10877621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57190" y="0"/>
            <a:ext cx="10877621" cy="603368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657190" y="603368"/>
            <a:ext cx="10877621" cy="0"/>
          </a:xfrm>
          <a:prstGeom prst="line">
            <a:avLst/>
          </a:prstGeom>
          <a:noFill/>
          <a:ln w="8509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22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38" y="135970"/>
            <a:ext cx="322929" cy="32292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303048" y="165714"/>
            <a:ext cx="880089" cy="263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74"/>
              </a:lnSpc>
              <a:buNone/>
            </a:pPr>
            <a:r>
              <a:rPr lang="en-US" sz="1338" b="1" kern="0" spc="13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338" dirty="0"/>
          </a:p>
        </p:txBody>
      </p:sp>
      <p:pic>
        <p:nvPicPr>
          <p:cNvPr id="8" name="Image 2" descr="/home/claude/ex/22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9264" y="191051"/>
            <a:ext cx="220952" cy="21276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17175" y="158942"/>
            <a:ext cx="512013" cy="276986"/>
          </a:xfrm>
          <a:prstGeom prst="rect">
            <a:avLst/>
          </a:prstGeom>
          <a:ln w="8509">
            <a:solidFill>
              <a:srgbClr val="48533F"/>
            </a:solidFill>
          </a:ln>
        </p:spPr>
        <p:txBody>
          <a:bodyPr wrap="none" lIns="127508" tIns="59436" rIns="127508" bIns="59436" rtlCol="0" anchor="t"/>
          <a:lstStyle/>
          <a:p>
            <a:pPr marL="0" indent="0" algn="l">
              <a:lnSpc>
                <a:spcPts val="1245"/>
              </a:lnSpc>
              <a:buNone/>
            </a:pPr>
            <a:r>
              <a:rPr lang="en-US" sz="803" b="1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803" dirty="0"/>
          </a:p>
        </p:txBody>
      </p:sp>
      <p:sp>
        <p:nvSpPr>
          <p:cNvPr id="10" name="Text 4"/>
          <p:cNvSpPr/>
          <p:nvPr/>
        </p:nvSpPr>
        <p:spPr>
          <a:xfrm>
            <a:off x="7316147" y="158942"/>
            <a:ext cx="768949" cy="276986"/>
          </a:xfrm>
          <a:prstGeom prst="rect">
            <a:avLst/>
          </a:prstGeom>
          <a:ln w="8509">
            <a:solidFill>
              <a:srgbClr val="48533F"/>
            </a:solidFill>
          </a:ln>
        </p:spPr>
        <p:txBody>
          <a:bodyPr wrap="none" lIns="127508" tIns="59436" rIns="127508" bIns="59436" rtlCol="0" anchor="t"/>
          <a:lstStyle/>
          <a:p>
            <a:pPr marL="0" indent="0" algn="l">
              <a:lnSpc>
                <a:spcPts val="1245"/>
              </a:lnSpc>
              <a:buNone/>
            </a:pPr>
            <a:r>
              <a:rPr lang="en-US" sz="803" b="1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803" dirty="0"/>
          </a:p>
        </p:txBody>
      </p:sp>
      <p:sp>
        <p:nvSpPr>
          <p:cNvPr id="11" name="Text 5"/>
          <p:cNvSpPr/>
          <p:nvPr/>
        </p:nvSpPr>
        <p:spPr>
          <a:xfrm>
            <a:off x="8272055" y="158942"/>
            <a:ext cx="704682" cy="276986"/>
          </a:xfrm>
          <a:prstGeom prst="rect">
            <a:avLst/>
          </a:prstGeom>
          <a:ln w="8509">
            <a:solidFill>
              <a:srgbClr val="48533F"/>
            </a:solidFill>
          </a:ln>
        </p:spPr>
        <p:txBody>
          <a:bodyPr wrap="none" lIns="127508" tIns="59436" rIns="127508" bIns="59436" rtlCol="0" anchor="t"/>
          <a:lstStyle/>
          <a:p>
            <a:pPr marL="0" indent="0" algn="l">
              <a:lnSpc>
                <a:spcPts val="1245"/>
              </a:lnSpc>
              <a:buNone/>
            </a:pPr>
            <a:r>
              <a:rPr lang="en-US" sz="803" b="1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803" dirty="0"/>
          </a:p>
        </p:txBody>
      </p:sp>
      <p:sp>
        <p:nvSpPr>
          <p:cNvPr id="12" name="Text 6"/>
          <p:cNvSpPr txBox="1"/>
          <p:nvPr/>
        </p:nvSpPr>
        <p:spPr>
          <a:xfrm>
            <a:off x="9163696" y="226927"/>
            <a:ext cx="642539" cy="12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44"/>
              </a:lnSpc>
              <a:buNone/>
            </a:pPr>
            <a:r>
              <a:rPr lang="en-US" sz="803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803" dirty="0"/>
          </a:p>
        </p:txBody>
      </p:sp>
      <p:sp>
        <p:nvSpPr>
          <p:cNvPr id="13" name="Text 7"/>
          <p:cNvSpPr/>
          <p:nvPr/>
        </p:nvSpPr>
        <p:spPr>
          <a:xfrm>
            <a:off x="9823232" y="224802"/>
            <a:ext cx="135970" cy="135970"/>
          </a:xfrm>
          <a:prstGeom prst="ellipse">
            <a:avLst/>
          </a:prstGeom>
          <a:solidFill>
            <a:srgbClr val="E0632E"/>
          </a:solidFill>
          <a:ln/>
        </p:spPr>
        <p:txBody>
          <a:bodyPr wrap="none" lIns="34036" tIns="0" rIns="34036" bIns="0" rtlCol="0" anchor="ctr"/>
          <a:lstStyle/>
          <a:p>
            <a:pPr marL="0" indent="0" algn="ctr">
              <a:lnSpc>
                <a:spcPts val="1037"/>
              </a:lnSpc>
              <a:buNone/>
            </a:pPr>
            <a:r>
              <a:rPr lang="en-US" sz="669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669" dirty="0"/>
          </a:p>
        </p:txBody>
      </p:sp>
      <p:sp>
        <p:nvSpPr>
          <p:cNvPr id="14" name="Text 8"/>
          <p:cNvSpPr txBox="1"/>
          <p:nvPr/>
        </p:nvSpPr>
        <p:spPr>
          <a:xfrm>
            <a:off x="10146161" y="218429"/>
            <a:ext cx="514005" cy="158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5"/>
              </a:lnSpc>
              <a:buNone/>
            </a:pPr>
            <a:r>
              <a:rPr lang="en-US" sz="803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SETTINGS</a:t>
            </a:r>
            <a:endParaRPr lang="en-US" sz="803" dirty="0"/>
          </a:p>
        </p:txBody>
      </p:sp>
      <p:sp>
        <p:nvSpPr>
          <p:cNvPr id="15" name="Text 9"/>
          <p:cNvSpPr txBox="1"/>
          <p:nvPr/>
        </p:nvSpPr>
        <p:spPr>
          <a:xfrm>
            <a:off x="10847125" y="218429"/>
            <a:ext cx="449738" cy="158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5"/>
              </a:lnSpc>
              <a:buNone/>
            </a:pPr>
            <a:r>
              <a:rPr lang="en-US" sz="803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OUT</a:t>
            </a:r>
            <a:endParaRPr lang="en-US" sz="803" dirty="0"/>
          </a:p>
        </p:txBody>
      </p:sp>
      <p:sp>
        <p:nvSpPr>
          <p:cNvPr id="16" name="Text 10"/>
          <p:cNvSpPr txBox="1"/>
          <p:nvPr/>
        </p:nvSpPr>
        <p:spPr>
          <a:xfrm>
            <a:off x="2254840" y="1002781"/>
            <a:ext cx="385603" cy="158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5"/>
              </a:lnSpc>
              <a:buNone/>
            </a:pPr>
            <a:r>
              <a:rPr lang="en-US" sz="803" kern="0" spc="24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803" dirty="0"/>
          </a:p>
        </p:txBody>
      </p:sp>
      <p:sp>
        <p:nvSpPr>
          <p:cNvPr id="17" name="Text 11"/>
          <p:cNvSpPr txBox="1"/>
          <p:nvPr/>
        </p:nvSpPr>
        <p:spPr>
          <a:xfrm>
            <a:off x="2254840" y="1330756"/>
            <a:ext cx="7682320" cy="385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35"/>
              </a:lnSpc>
              <a:buNone/>
            </a:pPr>
            <a:r>
              <a:rPr lang="en-US" sz="2810" b="1" kern="0" spc="-28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Report revenue for this period</a:t>
            </a:r>
            <a:endParaRPr lang="en-US" sz="2810" dirty="0"/>
          </a:p>
        </p:txBody>
      </p:sp>
      <p:sp>
        <p:nvSpPr>
          <p:cNvPr id="18" name="Text 12"/>
          <p:cNvSpPr txBox="1"/>
          <p:nvPr/>
        </p:nvSpPr>
        <p:spPr>
          <a:xfrm>
            <a:off x="2254840" y="1886189"/>
            <a:ext cx="7912789" cy="447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3"/>
              </a:lnSpc>
              <a:buNone/>
            </a:pPr>
            <a:r>
              <a:rPr lang="en-US" sz="1138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This is self-reported and will show as unverified — Crescopus doesn't see this revenue directly, so it can't confirm the figure.</a:t>
            </a:r>
            <a:endParaRPr lang="en-US" sz="1138" dirty="0"/>
          </a:p>
        </p:txBody>
      </p:sp>
      <p:sp>
        <p:nvSpPr>
          <p:cNvPr id="19" name="Text 13"/>
          <p:cNvSpPr txBox="1"/>
          <p:nvPr/>
        </p:nvSpPr>
        <p:spPr>
          <a:xfrm>
            <a:off x="2254840" y="2503898"/>
            <a:ext cx="4419033" cy="144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1"/>
              </a:lnSpc>
              <a:buNone/>
            </a:pPr>
            <a:r>
              <a:rPr lang="en-US" sz="736" kern="0" spc="3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PERIOD START</a:t>
            </a:r>
            <a:endParaRPr lang="en-US" sz="736" dirty="0"/>
          </a:p>
        </p:txBody>
      </p:sp>
      <p:sp>
        <p:nvSpPr>
          <p:cNvPr id="20" name="Shape 14"/>
          <p:cNvSpPr/>
          <p:nvPr/>
        </p:nvSpPr>
        <p:spPr>
          <a:xfrm>
            <a:off x="2254840" y="2699753"/>
            <a:ext cx="4419033" cy="382416"/>
          </a:xfrm>
          <a:prstGeom prst="rect">
            <a:avLst/>
          </a:prstGeom>
          <a:solidFill>
            <a:srgbClr val="FFFFFF"/>
          </a:solidFill>
          <a:ln w="8509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5"/>
          <p:cNvSpPr txBox="1"/>
          <p:nvPr/>
        </p:nvSpPr>
        <p:spPr>
          <a:xfrm>
            <a:off x="2254840" y="3201144"/>
            <a:ext cx="4419033" cy="144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1"/>
              </a:lnSpc>
              <a:buNone/>
            </a:pPr>
            <a:r>
              <a:rPr lang="en-US" sz="736" kern="0" spc="3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PERIOD END</a:t>
            </a:r>
            <a:endParaRPr lang="en-US" sz="736" dirty="0"/>
          </a:p>
        </p:txBody>
      </p:sp>
      <p:sp>
        <p:nvSpPr>
          <p:cNvPr id="22" name="Shape 16"/>
          <p:cNvSpPr/>
          <p:nvPr/>
        </p:nvSpPr>
        <p:spPr>
          <a:xfrm>
            <a:off x="2254840" y="3396999"/>
            <a:ext cx="4419033" cy="382416"/>
          </a:xfrm>
          <a:prstGeom prst="rect">
            <a:avLst/>
          </a:prstGeom>
          <a:solidFill>
            <a:srgbClr val="FFFFFF"/>
          </a:solidFill>
          <a:ln w="8509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7"/>
          <p:cNvSpPr txBox="1"/>
          <p:nvPr/>
        </p:nvSpPr>
        <p:spPr>
          <a:xfrm>
            <a:off x="2254840" y="3898390"/>
            <a:ext cx="4419033" cy="144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1"/>
              </a:lnSpc>
              <a:buNone/>
            </a:pPr>
            <a:r>
              <a:rPr lang="en-US" sz="736" kern="0" spc="3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GROSS REVENUE</a:t>
            </a:r>
            <a:endParaRPr lang="en-US" sz="736" dirty="0"/>
          </a:p>
        </p:txBody>
      </p:sp>
      <p:sp>
        <p:nvSpPr>
          <p:cNvPr id="24" name="Shape 18"/>
          <p:cNvSpPr/>
          <p:nvPr/>
        </p:nvSpPr>
        <p:spPr>
          <a:xfrm>
            <a:off x="2254840" y="4094245"/>
            <a:ext cx="4419033" cy="365420"/>
          </a:xfrm>
          <a:prstGeom prst="rect">
            <a:avLst/>
          </a:prstGeom>
          <a:solidFill>
            <a:srgbClr val="FFFFFF"/>
          </a:solidFill>
          <a:ln w="8509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19"/>
          <p:cNvSpPr/>
          <p:nvPr/>
        </p:nvSpPr>
        <p:spPr>
          <a:xfrm>
            <a:off x="2254840" y="4578639"/>
            <a:ext cx="1253741" cy="331428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69926" tIns="101981" rIns="169926" bIns="101981" rtlCol="0" anchor="ctr"/>
          <a:lstStyle/>
          <a:p>
            <a:pPr marL="0" indent="0" algn="ctr">
              <a:lnSpc>
                <a:spcPts val="1044"/>
              </a:lnSpc>
              <a:buNone/>
            </a:pPr>
            <a:r>
              <a:rPr lang="en-US" sz="803" kern="0" spc="32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REPORT REVENUE</a:t>
            </a:r>
            <a:endParaRPr lang="en-US" sz="803" dirty="0"/>
          </a:p>
        </p:txBody>
      </p:sp>
      <p:sp>
        <p:nvSpPr>
          <p:cNvPr id="26" name="Shape 20"/>
          <p:cNvSpPr/>
          <p:nvPr/>
        </p:nvSpPr>
        <p:spPr>
          <a:xfrm>
            <a:off x="657190" y="5759881"/>
            <a:ext cx="10877621" cy="1096260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1"/>
          <p:cNvSpPr/>
          <p:nvPr/>
        </p:nvSpPr>
        <p:spPr>
          <a:xfrm>
            <a:off x="657190" y="5759881"/>
            <a:ext cx="10877621" cy="0"/>
          </a:xfrm>
          <a:prstGeom prst="line">
            <a:avLst/>
          </a:prstGeom>
          <a:noFill/>
          <a:ln w="8509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8" name="Image 3" descr="/home/claude/ex/22_img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1067" y="6074312"/>
            <a:ext cx="467546" cy="47589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2628758" y="6116537"/>
            <a:ext cx="880089" cy="212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74"/>
              </a:lnSpc>
              <a:buNone/>
            </a:pPr>
            <a:r>
              <a:rPr lang="en-US" sz="1338" b="1" kern="0" spc="13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338" dirty="0"/>
          </a:p>
        </p:txBody>
      </p:sp>
      <p:sp>
        <p:nvSpPr>
          <p:cNvPr id="30" name="Text 23"/>
          <p:cNvSpPr txBox="1"/>
          <p:nvPr/>
        </p:nvSpPr>
        <p:spPr>
          <a:xfrm>
            <a:off x="2628758" y="6388478"/>
            <a:ext cx="1009685" cy="144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1"/>
              </a:lnSpc>
              <a:buNone/>
            </a:pPr>
            <a:r>
              <a:rPr lang="en-US" sz="736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736" dirty="0"/>
          </a:p>
        </p:txBody>
      </p:sp>
      <p:sp>
        <p:nvSpPr>
          <p:cNvPr id="31" name="Text 24"/>
          <p:cNvSpPr/>
          <p:nvPr/>
        </p:nvSpPr>
        <p:spPr>
          <a:xfrm>
            <a:off x="4687035" y="6218780"/>
            <a:ext cx="192568" cy="186959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70"/>
              </a:lnSpc>
              <a:buNone/>
            </a:pPr>
            <a:r>
              <a:rPr lang="en-US" sz="870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870" dirty="0"/>
          </a:p>
        </p:txBody>
      </p:sp>
      <p:sp>
        <p:nvSpPr>
          <p:cNvPr id="32" name="Text 25"/>
          <p:cNvSpPr txBox="1"/>
          <p:nvPr/>
        </p:nvSpPr>
        <p:spPr>
          <a:xfrm>
            <a:off x="4958975" y="6239760"/>
            <a:ext cx="1101306" cy="144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1"/>
              </a:lnSpc>
              <a:buNone/>
            </a:pPr>
            <a:r>
              <a:rPr lang="en-US" sz="736" b="1" kern="0" spc="15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736" dirty="0"/>
          </a:p>
        </p:txBody>
      </p:sp>
      <p:sp>
        <p:nvSpPr>
          <p:cNvPr id="33" name="Text 26"/>
          <p:cNvSpPr txBox="1"/>
          <p:nvPr/>
        </p:nvSpPr>
        <p:spPr>
          <a:xfrm>
            <a:off x="6145263" y="6239760"/>
            <a:ext cx="56167" cy="144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1"/>
              </a:lnSpc>
              <a:buNone/>
            </a:pPr>
            <a:r>
              <a:rPr lang="en-US" sz="736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36" dirty="0"/>
          </a:p>
        </p:txBody>
      </p:sp>
      <p:sp>
        <p:nvSpPr>
          <p:cNvPr id="34" name="Text 27"/>
          <p:cNvSpPr/>
          <p:nvPr/>
        </p:nvSpPr>
        <p:spPr>
          <a:xfrm>
            <a:off x="6286411" y="6231262"/>
            <a:ext cx="1060143" cy="161863"/>
          </a:xfrm>
          <a:prstGeom prst="rect">
            <a:avLst/>
          </a:prstGeom>
          <a:ln/>
        </p:spPr>
        <p:txBody>
          <a:bodyPr wrap="none" lIns="0" tIns="0" rIns="0" bIns="17018" rtlCol="0" anchor="t"/>
          <a:lstStyle/>
          <a:p>
            <a:pPr marL="0" indent="0" algn="l">
              <a:lnSpc>
                <a:spcPts val="1141"/>
              </a:lnSpc>
              <a:buNone/>
            </a:pPr>
            <a:r>
              <a:rPr lang="en-US" sz="736" kern="0" spc="22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736" dirty="0"/>
          </a:p>
        </p:txBody>
      </p:sp>
      <p:sp>
        <p:nvSpPr>
          <p:cNvPr id="35" name="Shape 28"/>
          <p:cNvSpPr/>
          <p:nvPr/>
        </p:nvSpPr>
        <p:spPr>
          <a:xfrm>
            <a:off x="6286411" y="6393125"/>
            <a:ext cx="1060143" cy="0"/>
          </a:xfrm>
          <a:prstGeom prst="line">
            <a:avLst/>
          </a:prstGeom>
          <a:noFill/>
          <a:ln w="8509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29"/>
          <p:cNvSpPr txBox="1"/>
          <p:nvPr/>
        </p:nvSpPr>
        <p:spPr>
          <a:xfrm>
            <a:off x="7431536" y="6239760"/>
            <a:ext cx="56167" cy="144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1"/>
              </a:lnSpc>
              <a:buNone/>
            </a:pPr>
            <a:r>
              <a:rPr lang="en-US" sz="736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736" dirty="0"/>
          </a:p>
        </p:txBody>
      </p:sp>
      <p:sp>
        <p:nvSpPr>
          <p:cNvPr id="37" name="Text 30"/>
          <p:cNvSpPr/>
          <p:nvPr/>
        </p:nvSpPr>
        <p:spPr>
          <a:xfrm>
            <a:off x="7572685" y="6231262"/>
            <a:ext cx="824585" cy="161863"/>
          </a:xfrm>
          <a:prstGeom prst="rect">
            <a:avLst/>
          </a:prstGeom>
          <a:ln/>
        </p:spPr>
        <p:txBody>
          <a:bodyPr wrap="none" lIns="0" tIns="0" rIns="0" bIns="17018" rtlCol="0" anchor="t"/>
          <a:lstStyle/>
          <a:p>
            <a:pPr marL="0" indent="0" algn="l">
              <a:lnSpc>
                <a:spcPts val="1141"/>
              </a:lnSpc>
              <a:buNone/>
            </a:pPr>
            <a:r>
              <a:rPr lang="en-US" sz="736" kern="0" spc="22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736" dirty="0"/>
          </a:p>
        </p:txBody>
      </p:sp>
      <p:sp>
        <p:nvSpPr>
          <p:cNvPr id="38" name="Shape 31"/>
          <p:cNvSpPr/>
          <p:nvPr/>
        </p:nvSpPr>
        <p:spPr>
          <a:xfrm>
            <a:off x="7572685" y="6393125"/>
            <a:ext cx="824585" cy="0"/>
          </a:xfrm>
          <a:prstGeom prst="line">
            <a:avLst/>
          </a:prstGeom>
          <a:noFill/>
          <a:ln w="8509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2"/>
          <p:cNvSpPr txBox="1"/>
          <p:nvPr/>
        </p:nvSpPr>
        <p:spPr>
          <a:xfrm>
            <a:off x="9445861" y="6239760"/>
            <a:ext cx="729247" cy="144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1"/>
              </a:lnSpc>
              <a:buNone/>
            </a:pPr>
            <a:r>
              <a:rPr lang="en-US" sz="736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736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34352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76275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0" y="676275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23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152400"/>
            <a:ext cx="361950" cy="36195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23900" y="185738"/>
            <a:ext cx="9864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pic>
        <p:nvPicPr>
          <p:cNvPr id="8" name="Image 2" descr="/home/claude/ex/23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950" y="214136"/>
            <a:ext cx="247650" cy="23847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680150" y="178147"/>
            <a:ext cx="57388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900" dirty="0"/>
          </a:p>
        </p:txBody>
      </p:sp>
      <p:sp>
        <p:nvSpPr>
          <p:cNvPr id="10" name="Text 4"/>
          <p:cNvSpPr/>
          <p:nvPr/>
        </p:nvSpPr>
        <p:spPr>
          <a:xfrm>
            <a:off x="7463582" y="178147"/>
            <a:ext cx="861864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8534995" y="178147"/>
            <a:ext cx="789831" cy="310455"/>
          </a:xfrm>
          <a:prstGeom prst="rect">
            <a:avLst/>
          </a:prstGeom>
          <a:ln w="9525">
            <a:solidFill>
              <a:srgbClr val="48533F"/>
            </a:solidFill>
          </a:ln>
        </p:spPr>
        <p:txBody>
          <a:bodyPr wrap="none" lIns="142875" tIns="66675" rIns="142875" bIns="66675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b="1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9534376" y="254347"/>
            <a:ext cx="72017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0273605" y="251966"/>
            <a:ext cx="152400" cy="152400"/>
          </a:xfrm>
          <a:prstGeom prst="ellipse">
            <a:avLst/>
          </a:prstGeom>
          <a:solidFill>
            <a:srgbClr val="E0632E"/>
          </a:solidFill>
          <a:ln/>
        </p:spPr>
        <p:txBody>
          <a:bodyPr wrap="none" lIns="38100" tIns="0" rIns="38100" bIns="0" rtlCol="0" anchor="ctr"/>
          <a:lstStyle/>
          <a:p>
            <a:pPr marL="0" indent="0" algn="ctr">
              <a:lnSpc>
                <a:spcPts val="1163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8"/>
          <p:cNvSpPr txBox="1"/>
          <p:nvPr/>
        </p:nvSpPr>
        <p:spPr>
          <a:xfrm>
            <a:off x="10635555" y="244822"/>
            <a:ext cx="576114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SETTINGS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1421219" y="244822"/>
            <a:ext cx="504081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OUT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1790700" y="1123950"/>
            <a:ext cx="432197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kern="0" spc="27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790700" y="1491555"/>
            <a:ext cx="8610600" cy="43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2"/>
              </a:lnSpc>
              <a:buNone/>
            </a:pPr>
            <a:r>
              <a:rPr lang="en-US" sz="3150" b="1" kern="0" spc="-32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Report engagement for this period</a:t>
            </a:r>
            <a:endParaRPr lang="en-US" sz="3150" dirty="0"/>
          </a:p>
        </p:txBody>
      </p:sp>
      <p:sp>
        <p:nvSpPr>
          <p:cNvPr id="18" name="Text 12"/>
          <p:cNvSpPr txBox="1"/>
          <p:nvPr/>
        </p:nvSpPr>
        <p:spPr>
          <a:xfrm>
            <a:off x="1790700" y="2114104"/>
            <a:ext cx="8868918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 revenue yet? Log views, clicks, or downloads so both sides can see traction while the app builds towards monetisation. Fill in whichever numbers you have — none are required.</a:t>
            </a:r>
            <a:endParaRPr lang="en-US" sz="1275" dirty="0"/>
          </a:p>
        </p:txBody>
      </p:sp>
      <p:sp>
        <p:nvSpPr>
          <p:cNvPr id="19" name="Text 13"/>
          <p:cNvSpPr txBox="1"/>
          <p:nvPr/>
        </p:nvSpPr>
        <p:spPr>
          <a:xfrm>
            <a:off x="1790700" y="2806452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PERIOD START</a:t>
            </a:r>
            <a:endParaRPr lang="en-US" sz="825" dirty="0"/>
          </a:p>
        </p:txBody>
      </p:sp>
      <p:sp>
        <p:nvSpPr>
          <p:cNvPr id="20" name="Shape 14"/>
          <p:cNvSpPr/>
          <p:nvPr/>
        </p:nvSpPr>
        <p:spPr>
          <a:xfrm>
            <a:off x="1790700" y="3025973"/>
            <a:ext cx="4953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5"/>
          <p:cNvSpPr txBox="1"/>
          <p:nvPr/>
        </p:nvSpPr>
        <p:spPr>
          <a:xfrm>
            <a:off x="1790700" y="3587948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PERIOD END</a:t>
            </a:r>
            <a:endParaRPr lang="en-US" sz="825" dirty="0"/>
          </a:p>
        </p:txBody>
      </p:sp>
      <p:sp>
        <p:nvSpPr>
          <p:cNvPr id="22" name="Shape 16"/>
          <p:cNvSpPr/>
          <p:nvPr/>
        </p:nvSpPr>
        <p:spPr>
          <a:xfrm>
            <a:off x="1790700" y="3807470"/>
            <a:ext cx="49530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7"/>
          <p:cNvSpPr txBox="1"/>
          <p:nvPr/>
        </p:nvSpPr>
        <p:spPr>
          <a:xfrm>
            <a:off x="1790700" y="4369445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VIEWS</a:t>
            </a:r>
            <a:endParaRPr lang="en-US" sz="825" dirty="0"/>
          </a:p>
        </p:txBody>
      </p:sp>
      <p:sp>
        <p:nvSpPr>
          <p:cNvPr id="24" name="Shape 18"/>
          <p:cNvSpPr/>
          <p:nvPr/>
        </p:nvSpPr>
        <p:spPr>
          <a:xfrm>
            <a:off x="1790700" y="4588966"/>
            <a:ext cx="49530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19"/>
          <p:cNvSpPr txBox="1"/>
          <p:nvPr/>
        </p:nvSpPr>
        <p:spPr>
          <a:xfrm>
            <a:off x="1790700" y="5131891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CLICKS</a:t>
            </a:r>
            <a:endParaRPr lang="en-US" sz="8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DEC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534352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790700" y="7888"/>
            <a:ext cx="49530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1"/>
          <p:cNvSpPr txBox="1"/>
          <p:nvPr/>
        </p:nvSpPr>
        <p:spPr>
          <a:xfrm>
            <a:off x="1790700" y="550813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DOWNLOADS</a:t>
            </a:r>
            <a:endParaRPr lang="en-US" sz="825" dirty="0"/>
          </a:p>
        </p:txBody>
      </p:sp>
      <p:sp>
        <p:nvSpPr>
          <p:cNvPr id="6" name="Shape 2"/>
          <p:cNvSpPr/>
          <p:nvPr/>
        </p:nvSpPr>
        <p:spPr>
          <a:xfrm>
            <a:off x="1790700" y="770334"/>
            <a:ext cx="49530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3"/>
          <p:cNvSpPr txBox="1"/>
          <p:nvPr/>
        </p:nvSpPr>
        <p:spPr>
          <a:xfrm>
            <a:off x="1790700" y="1313259"/>
            <a:ext cx="495300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4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NOTES</a:t>
            </a:r>
            <a:endParaRPr lang="en-US" sz="825" dirty="0"/>
          </a:p>
        </p:txBody>
      </p:sp>
      <p:sp>
        <p:nvSpPr>
          <p:cNvPr id="8" name="Text 4"/>
          <p:cNvSpPr/>
          <p:nvPr/>
        </p:nvSpPr>
        <p:spPr>
          <a:xfrm>
            <a:off x="1790700" y="1532781"/>
            <a:ext cx="510159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BDED0"/>
            </a:solidFill>
          </a:ln>
        </p:spPr>
        <p:txBody>
          <a:bodyPr wrap="square" lIns="142875" tIns="123825" rIns="142875" bIns="123825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dirty="0">
                <a:solidFill>
                  <a:srgbClr val="8A948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Any context worth sharing — e.g. where the traffic came from</a:t>
            </a:r>
            <a:endParaRPr lang="en-US" sz="1125" dirty="0"/>
          </a:p>
        </p:txBody>
      </p:sp>
      <p:sp>
        <p:nvSpPr>
          <p:cNvPr id="9" name="Text 5"/>
          <p:cNvSpPr/>
          <p:nvPr/>
        </p:nvSpPr>
        <p:spPr>
          <a:xfrm>
            <a:off x="1790700" y="2783830"/>
            <a:ext cx="1624608" cy="371475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90500" tIns="114300" rIns="190500" bIns="11430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00" kern="0" spc="3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REPORT ENGAGEMENT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0" y="4107805"/>
            <a:ext cx="12192000" cy="1228725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7"/>
          <p:cNvSpPr/>
          <p:nvPr/>
        </p:nvSpPr>
        <p:spPr>
          <a:xfrm>
            <a:off x="0" y="4107805"/>
            <a:ext cx="12192000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Image 1" descr="/home/claude/ex/23_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679" y="4460230"/>
            <a:ext cx="524042" cy="5334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209800" y="4507557"/>
            <a:ext cx="9864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b="1" kern="0" spc="15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2209800" y="4812357"/>
            <a:ext cx="113168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825" dirty="0"/>
          </a:p>
        </p:txBody>
      </p:sp>
      <p:sp>
        <p:nvSpPr>
          <p:cNvPr id="15" name="Text 10"/>
          <p:cNvSpPr/>
          <p:nvPr/>
        </p:nvSpPr>
        <p:spPr>
          <a:xfrm>
            <a:off x="4516785" y="4622155"/>
            <a:ext cx="215836" cy="209550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975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975" dirty="0"/>
          </a:p>
        </p:txBody>
      </p:sp>
      <p:sp>
        <p:nvSpPr>
          <p:cNvPr id="16" name="Text 11"/>
          <p:cNvSpPr txBox="1"/>
          <p:nvPr/>
        </p:nvSpPr>
        <p:spPr>
          <a:xfrm>
            <a:off x="4821585" y="4645670"/>
            <a:ext cx="1234380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b="1" kern="0" spc="17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825" dirty="0"/>
          </a:p>
        </p:txBody>
      </p:sp>
      <p:sp>
        <p:nvSpPr>
          <p:cNvPr id="17" name="Text 12"/>
          <p:cNvSpPr txBox="1"/>
          <p:nvPr/>
        </p:nvSpPr>
        <p:spPr>
          <a:xfrm>
            <a:off x="6151215" y="4645670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18" name="Text 13"/>
          <p:cNvSpPr/>
          <p:nvPr/>
        </p:nvSpPr>
        <p:spPr>
          <a:xfrm>
            <a:off x="6309420" y="4636145"/>
            <a:ext cx="1188244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825" dirty="0"/>
          </a:p>
        </p:txBody>
      </p:sp>
      <p:sp>
        <p:nvSpPr>
          <p:cNvPr id="19" name="Shape 14"/>
          <p:cNvSpPr/>
          <p:nvPr/>
        </p:nvSpPr>
        <p:spPr>
          <a:xfrm>
            <a:off x="6309420" y="4817566"/>
            <a:ext cx="1188244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5"/>
          <p:cNvSpPr txBox="1"/>
          <p:nvPr/>
        </p:nvSpPr>
        <p:spPr>
          <a:xfrm>
            <a:off x="7592913" y="4645670"/>
            <a:ext cx="629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825" dirty="0"/>
          </a:p>
        </p:txBody>
      </p:sp>
      <p:sp>
        <p:nvSpPr>
          <p:cNvPr id="21" name="Text 16"/>
          <p:cNvSpPr/>
          <p:nvPr/>
        </p:nvSpPr>
        <p:spPr>
          <a:xfrm>
            <a:off x="7751118" y="4636145"/>
            <a:ext cx="924223" cy="181421"/>
          </a:xfrm>
          <a:prstGeom prst="rect">
            <a:avLst/>
          </a:prstGeom>
          <a:ln/>
        </p:spPr>
        <p:txBody>
          <a:bodyPr wrap="none" lIns="0" tIns="0" rIns="0" bIns="1905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kern="0" spc="2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825" dirty="0"/>
          </a:p>
        </p:txBody>
      </p:sp>
      <p:sp>
        <p:nvSpPr>
          <p:cNvPr id="22" name="Shape 17"/>
          <p:cNvSpPr/>
          <p:nvPr/>
        </p:nvSpPr>
        <p:spPr>
          <a:xfrm>
            <a:off x="7751118" y="4817566"/>
            <a:ext cx="924223" cy="0"/>
          </a:xfrm>
          <a:prstGeom prst="line">
            <a:avLst/>
          </a:prstGeom>
          <a:noFill/>
          <a:ln w="9525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8"/>
          <p:cNvSpPr txBox="1"/>
          <p:nvPr/>
        </p:nvSpPr>
        <p:spPr>
          <a:xfrm>
            <a:off x="9850636" y="4645670"/>
            <a:ext cx="81736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9"/>
              </a:lnSpc>
              <a:buNone/>
            </a:pPr>
            <a:r>
              <a:rPr lang="en-US" sz="825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8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3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ge backgr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90" y="0"/>
            <a:ext cx="1029102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50490" y="0"/>
            <a:ext cx="10291020" cy="570830"/>
          </a:xfrm>
          <a:prstGeom prst="rect">
            <a:avLst/>
          </a:prstGeom>
          <a:solidFill>
            <a:srgbClr val="F3F4EF">
              <a:alpha val="8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1"/>
          <p:cNvSpPr/>
          <p:nvPr/>
        </p:nvSpPr>
        <p:spPr>
          <a:xfrm>
            <a:off x="950490" y="570830"/>
            <a:ext cx="10291020" cy="0"/>
          </a:xfrm>
          <a:prstGeom prst="line">
            <a:avLst/>
          </a:prstGeom>
          <a:noFill/>
          <a:ln w="8001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1" descr="/home/claude/ex/24_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606" y="128638"/>
            <a:ext cx="305515" cy="30551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561519" y="156777"/>
            <a:ext cx="832628" cy="249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62"/>
              </a:lnSpc>
              <a:buNone/>
            </a:pPr>
            <a:r>
              <a:rPr lang="en-US" sz="1266" b="1" kern="0" spc="13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266" dirty="0"/>
          </a:p>
        </p:txBody>
      </p:sp>
      <p:pic>
        <p:nvPicPr>
          <p:cNvPr id="8" name="Image 2" descr="/home/claude/ex/24_im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156" y="180748"/>
            <a:ext cx="209036" cy="20129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589069" y="150370"/>
            <a:ext cx="484402" cy="262049"/>
          </a:xfrm>
          <a:prstGeom prst="rect">
            <a:avLst/>
          </a:prstGeom>
          <a:ln w="8001">
            <a:solidFill>
              <a:srgbClr val="48533F"/>
            </a:solidFill>
          </a:ln>
        </p:spPr>
        <p:txBody>
          <a:bodyPr wrap="none" lIns="120650" tIns="56261" rIns="120650" bIns="56261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760" b="1" kern="0" spc="2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APPS</a:t>
            </a:r>
            <a:endParaRPr lang="en-US" sz="760" dirty="0"/>
          </a:p>
        </p:txBody>
      </p:sp>
      <p:sp>
        <p:nvSpPr>
          <p:cNvPr id="10" name="Text 4"/>
          <p:cNvSpPr/>
          <p:nvPr/>
        </p:nvSpPr>
        <p:spPr>
          <a:xfrm>
            <a:off x="7250348" y="150370"/>
            <a:ext cx="727482" cy="262049"/>
          </a:xfrm>
          <a:prstGeom prst="rect">
            <a:avLst/>
          </a:prstGeom>
          <a:ln w="8001">
            <a:solidFill>
              <a:srgbClr val="48533F"/>
            </a:solidFill>
          </a:ln>
        </p:spPr>
        <p:txBody>
          <a:bodyPr wrap="none" lIns="120650" tIns="56261" rIns="120650" bIns="56261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760" b="1" kern="0" spc="2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BUILDERS</a:t>
            </a:r>
            <a:endParaRPr lang="en-US" sz="760" dirty="0"/>
          </a:p>
        </p:txBody>
      </p:sp>
      <p:sp>
        <p:nvSpPr>
          <p:cNvPr id="11" name="Text 5"/>
          <p:cNvSpPr/>
          <p:nvPr/>
        </p:nvSpPr>
        <p:spPr>
          <a:xfrm>
            <a:off x="8154706" y="150370"/>
            <a:ext cx="666680" cy="262049"/>
          </a:xfrm>
          <a:prstGeom prst="rect">
            <a:avLst/>
          </a:prstGeom>
          <a:ln w="8001">
            <a:solidFill>
              <a:srgbClr val="48533F"/>
            </a:solidFill>
          </a:ln>
        </p:spPr>
        <p:txBody>
          <a:bodyPr wrap="none" lIns="120650" tIns="56261" rIns="120650" bIns="56261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760" b="1" kern="0" spc="2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GROWERS</a:t>
            </a:r>
            <a:endParaRPr lang="en-US" sz="760" dirty="0"/>
          </a:p>
        </p:txBody>
      </p:sp>
      <p:sp>
        <p:nvSpPr>
          <p:cNvPr id="12" name="Text 6"/>
          <p:cNvSpPr txBox="1"/>
          <p:nvPr/>
        </p:nvSpPr>
        <p:spPr>
          <a:xfrm>
            <a:off x="8998264" y="214689"/>
            <a:ext cx="607889" cy="1205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88"/>
              </a:lnSpc>
              <a:buNone/>
            </a:pPr>
            <a:r>
              <a:rPr lang="en-US" sz="760" kern="0" spc="2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DASHBOARD</a:t>
            </a:r>
            <a:endParaRPr lang="en-US" sz="760" dirty="0"/>
          </a:p>
        </p:txBody>
      </p:sp>
      <p:sp>
        <p:nvSpPr>
          <p:cNvPr id="13" name="Text 7"/>
          <p:cNvSpPr/>
          <p:nvPr/>
        </p:nvSpPr>
        <p:spPr>
          <a:xfrm>
            <a:off x="9622232" y="212679"/>
            <a:ext cx="128638" cy="128638"/>
          </a:xfrm>
          <a:prstGeom prst="ellipse">
            <a:avLst/>
          </a:prstGeom>
          <a:solidFill>
            <a:srgbClr val="E0632E"/>
          </a:solidFill>
          <a:ln/>
        </p:spPr>
        <p:txBody>
          <a:bodyPr wrap="none" lIns="32131" tIns="0" rIns="32131" bIns="0" rtlCol="0" anchor="ctr"/>
          <a:lstStyle/>
          <a:p>
            <a:pPr marL="0" indent="0" algn="ctr">
              <a:lnSpc>
                <a:spcPts val="981"/>
              </a:lnSpc>
              <a:buNone/>
            </a:pPr>
            <a:r>
              <a:rPr lang="en-US" sz="633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633" dirty="0"/>
          </a:p>
        </p:txBody>
      </p:sp>
      <p:sp>
        <p:nvSpPr>
          <p:cNvPr id="14" name="Text 8"/>
          <p:cNvSpPr txBox="1"/>
          <p:nvPr/>
        </p:nvSpPr>
        <p:spPr>
          <a:xfrm>
            <a:off x="9927747" y="206650"/>
            <a:ext cx="486286" cy="149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760" kern="0" spc="2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SETTINGS</a:t>
            </a:r>
            <a:endParaRPr lang="en-US" sz="760" dirty="0"/>
          </a:p>
        </p:txBody>
      </p:sp>
      <p:sp>
        <p:nvSpPr>
          <p:cNvPr id="15" name="Text 9"/>
          <p:cNvSpPr txBox="1"/>
          <p:nvPr/>
        </p:nvSpPr>
        <p:spPr>
          <a:xfrm>
            <a:off x="10590909" y="206650"/>
            <a:ext cx="425484" cy="149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760" kern="0" spc="2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 OUT</a:t>
            </a:r>
            <a:endParaRPr lang="en-US" sz="760" dirty="0"/>
          </a:p>
        </p:txBody>
      </p:sp>
      <p:sp>
        <p:nvSpPr>
          <p:cNvPr id="16" name="Text 10"/>
          <p:cNvSpPr txBox="1"/>
          <p:nvPr/>
        </p:nvSpPr>
        <p:spPr>
          <a:xfrm>
            <a:off x="2461984" y="948703"/>
            <a:ext cx="364809" cy="149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760" kern="0" spc="23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BACK</a:t>
            </a:r>
            <a:endParaRPr lang="en-US" sz="760" dirty="0"/>
          </a:p>
        </p:txBody>
      </p:sp>
      <p:sp>
        <p:nvSpPr>
          <p:cNvPr id="17" name="Text 11"/>
          <p:cNvSpPr txBox="1"/>
          <p:nvPr/>
        </p:nvSpPr>
        <p:spPr>
          <a:xfrm>
            <a:off x="2461984" y="1258992"/>
            <a:ext cx="7268033" cy="36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72"/>
              </a:lnSpc>
              <a:buNone/>
            </a:pPr>
            <a:r>
              <a:rPr lang="en-US" sz="2659" b="1" kern="0" spc="-27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Profile settings</a:t>
            </a:r>
            <a:endParaRPr lang="en-US" sz="2659" dirty="0"/>
          </a:p>
        </p:txBody>
      </p:sp>
      <p:sp>
        <p:nvSpPr>
          <p:cNvPr id="18" name="Text 12"/>
          <p:cNvSpPr txBox="1"/>
          <p:nvPr/>
        </p:nvSpPr>
        <p:spPr>
          <a:xfrm>
            <a:off x="2461984" y="1784472"/>
            <a:ext cx="7268033" cy="21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696" kern="0" spc="35" dirty="0">
                <a:solidFill>
                  <a:srgbClr val="1E8A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BUILDER ACCOUNT</a:t>
            </a:r>
            <a:endParaRPr lang="en-US" sz="696" dirty="0"/>
          </a:p>
        </p:txBody>
      </p:sp>
      <p:sp>
        <p:nvSpPr>
          <p:cNvPr id="19" name="Text 13"/>
          <p:cNvSpPr txBox="1"/>
          <p:nvPr/>
        </p:nvSpPr>
        <p:spPr>
          <a:xfrm>
            <a:off x="2461984" y="2157069"/>
            <a:ext cx="4180727" cy="137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9"/>
              </a:lnSpc>
              <a:buNone/>
            </a:pPr>
            <a:r>
              <a:rPr lang="en-US" sz="696" kern="0" spc="3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FULL NAME</a:t>
            </a:r>
            <a:endParaRPr lang="en-US" sz="696" dirty="0"/>
          </a:p>
        </p:txBody>
      </p:sp>
      <p:sp>
        <p:nvSpPr>
          <p:cNvPr id="20" name="Text 14"/>
          <p:cNvSpPr/>
          <p:nvPr/>
        </p:nvSpPr>
        <p:spPr>
          <a:xfrm>
            <a:off x="2461984" y="2342363"/>
            <a:ext cx="4180727" cy="345714"/>
          </a:xfrm>
          <a:prstGeom prst="rect">
            <a:avLst/>
          </a:prstGeom>
          <a:solidFill>
            <a:srgbClr val="FFFFFF"/>
          </a:solidFill>
          <a:ln w="8001">
            <a:solidFill>
              <a:srgbClr val="DBDED0"/>
            </a:solidFill>
          </a:ln>
        </p:spPr>
        <p:txBody>
          <a:bodyPr wrap="none" lIns="120650" tIns="104521" rIns="120650" bIns="104521" rtlCol="0" anchor="ctr"/>
          <a:lstStyle/>
          <a:p>
            <a:pPr marL="0" indent="0" algn="l">
              <a:lnSpc>
                <a:spcPts val="1234"/>
              </a:lnSpc>
              <a:buNone/>
            </a:pPr>
            <a:r>
              <a:rPr lang="en-US" sz="950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Paul J</a:t>
            </a:r>
            <a:endParaRPr lang="en-US" sz="950" dirty="0"/>
          </a:p>
        </p:txBody>
      </p:sp>
      <p:sp>
        <p:nvSpPr>
          <p:cNvPr id="21" name="Text 15"/>
          <p:cNvSpPr txBox="1"/>
          <p:nvPr/>
        </p:nvSpPr>
        <p:spPr>
          <a:xfrm>
            <a:off x="2461984" y="2800635"/>
            <a:ext cx="4180727" cy="137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9"/>
              </a:lnSpc>
              <a:buNone/>
            </a:pPr>
            <a:r>
              <a:rPr lang="en-US" sz="696" kern="0" spc="3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COUNTRY</a:t>
            </a:r>
            <a:endParaRPr lang="en-US" sz="696" dirty="0"/>
          </a:p>
        </p:txBody>
      </p:sp>
      <p:sp>
        <p:nvSpPr>
          <p:cNvPr id="22" name="Text 16"/>
          <p:cNvSpPr/>
          <p:nvPr/>
        </p:nvSpPr>
        <p:spPr>
          <a:xfrm>
            <a:off x="2461984" y="2985928"/>
            <a:ext cx="4180727" cy="361794"/>
          </a:xfrm>
          <a:prstGeom prst="rect">
            <a:avLst/>
          </a:prstGeom>
          <a:solidFill>
            <a:srgbClr val="FFFFFF"/>
          </a:solidFill>
          <a:ln w="8001">
            <a:solidFill>
              <a:srgbClr val="DBDED0"/>
            </a:solidFill>
          </a:ln>
        </p:spPr>
        <p:txBody>
          <a:bodyPr wrap="none" lIns="120650" tIns="104521" rIns="120650" bIns="104521" rtlCol="0" anchor="ctr"/>
          <a:lstStyle/>
          <a:p>
            <a:pPr marL="0" indent="0" algn="l">
              <a:lnSpc>
                <a:spcPts val="1234"/>
              </a:lnSpc>
              <a:buNone/>
            </a:pPr>
            <a:r>
              <a:rPr lang="en-US" sz="950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United Kingdom   ▾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2461984" y="3460280"/>
            <a:ext cx="4180727" cy="137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9"/>
              </a:lnSpc>
              <a:buNone/>
            </a:pPr>
            <a:r>
              <a:rPr lang="en-US" sz="696" kern="0" spc="35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ABOUT YOU (PUBLIC — HELPS OTHERS DECIDE WHETHER TO REACH OUT)</a:t>
            </a:r>
            <a:endParaRPr lang="en-US" sz="696" dirty="0"/>
          </a:p>
        </p:txBody>
      </p:sp>
      <p:sp>
        <p:nvSpPr>
          <p:cNvPr id="24" name="Text 18"/>
          <p:cNvSpPr/>
          <p:nvPr/>
        </p:nvSpPr>
        <p:spPr>
          <a:xfrm>
            <a:off x="2461984" y="3645574"/>
            <a:ext cx="4306149" cy="884385"/>
          </a:xfrm>
          <a:prstGeom prst="rect">
            <a:avLst/>
          </a:prstGeom>
          <a:solidFill>
            <a:srgbClr val="FFFFFF"/>
          </a:solidFill>
          <a:ln w="8001">
            <a:solidFill>
              <a:srgbClr val="DBDED0"/>
            </a:solidFill>
          </a:ln>
        </p:spPr>
        <p:txBody>
          <a:bodyPr wrap="square" lIns="120650" tIns="104521" rIns="120650" bIns="104521" rtlCol="0" anchor="t"/>
          <a:lstStyle/>
          <a:p>
            <a:pPr marL="0" indent="0" algn="l">
              <a:lnSpc>
                <a:spcPts val="1234"/>
              </a:lnSpc>
              <a:buNone/>
            </a:pPr>
            <a:r>
              <a:rPr lang="en-US" sz="950" dirty="0">
                <a:solidFill>
                  <a:srgbClr val="17231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Independent developer building word games and productivity tools.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2461984" y="4701559"/>
            <a:ext cx="568694" cy="313555"/>
          </a:xfrm>
          <a:prstGeom prst="rect">
            <a:avLst/>
          </a:prstGeom>
          <a:solidFill>
            <a:srgbClr val="8C6118"/>
          </a:solidFill>
          <a:ln/>
        </p:spPr>
        <p:txBody>
          <a:bodyPr wrap="none" lIns="160782" tIns="96520" rIns="160782" bIns="96520" rtlCol="0" anchor="ctr"/>
          <a:lstStyle/>
          <a:p>
            <a:pPr marL="0" indent="0" algn="ctr">
              <a:lnSpc>
                <a:spcPts val="988"/>
              </a:lnSpc>
              <a:buNone/>
            </a:pPr>
            <a:r>
              <a:rPr lang="en-US" sz="760" kern="0" spc="3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SAVE</a:t>
            </a:r>
            <a:endParaRPr lang="en-US" sz="760" dirty="0"/>
          </a:p>
        </p:txBody>
      </p:sp>
      <p:sp>
        <p:nvSpPr>
          <p:cNvPr id="26" name="Shape 20"/>
          <p:cNvSpPr/>
          <p:nvPr/>
        </p:nvSpPr>
        <p:spPr>
          <a:xfrm>
            <a:off x="950490" y="5819099"/>
            <a:ext cx="10291020" cy="1037142"/>
          </a:xfrm>
          <a:prstGeom prst="rect">
            <a:avLst/>
          </a:prstGeom>
          <a:solidFill>
            <a:srgbClr val="F3F4EF">
              <a:alpha val="7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1"/>
          <p:cNvSpPr/>
          <p:nvPr/>
        </p:nvSpPr>
        <p:spPr>
          <a:xfrm>
            <a:off x="950490" y="5819099"/>
            <a:ext cx="10291020" cy="0"/>
          </a:xfrm>
          <a:prstGeom prst="line">
            <a:avLst/>
          </a:prstGeom>
          <a:noFill/>
          <a:ln w="8001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8" name="Image 3" descr="/home/claude/ex/24_img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0817" y="6116574"/>
            <a:ext cx="442333" cy="45023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2815737" y="6156522"/>
            <a:ext cx="832628" cy="20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62"/>
              </a:lnSpc>
              <a:buNone/>
            </a:pPr>
            <a:r>
              <a:rPr lang="en-US" sz="1266" b="1" kern="0" spc="13" dirty="0">
                <a:solidFill>
                  <a:srgbClr val="17231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Crescopus</a:t>
            </a:r>
            <a:endParaRPr lang="en-US" sz="1266" dirty="0"/>
          </a:p>
        </p:txBody>
      </p:sp>
      <p:sp>
        <p:nvSpPr>
          <p:cNvPr id="30" name="Text 23"/>
          <p:cNvSpPr txBox="1"/>
          <p:nvPr/>
        </p:nvSpPr>
        <p:spPr>
          <a:xfrm>
            <a:off x="2815737" y="6413798"/>
            <a:ext cx="955236" cy="137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9"/>
              </a:lnSpc>
              <a:buNone/>
            </a:pPr>
            <a:r>
              <a:rPr lang="en-US" sz="696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Grow apps together</a:t>
            </a:r>
            <a:endParaRPr lang="en-US" sz="696" dirty="0"/>
          </a:p>
        </p:txBody>
      </p:sp>
      <p:sp>
        <p:nvSpPr>
          <p:cNvPr id="31" name="Text 24"/>
          <p:cNvSpPr/>
          <p:nvPr/>
        </p:nvSpPr>
        <p:spPr>
          <a:xfrm>
            <a:off x="4763016" y="6253252"/>
            <a:ext cx="182183" cy="176877"/>
          </a:xfrm>
          <a:prstGeom prst="ellipse">
            <a:avLst/>
          </a:prstGeom>
          <a:solidFill>
            <a:srgbClr val="E063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23"/>
              </a:lnSpc>
              <a:buNone/>
            </a:pPr>
            <a:r>
              <a:rPr lang="en-US" sz="823" b="1" i="1" dirty="0">
                <a:solidFill>
                  <a:srgbClr val="FFFFF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</a:t>
            </a:r>
            <a:endParaRPr lang="en-US" sz="823" dirty="0"/>
          </a:p>
        </p:txBody>
      </p:sp>
      <p:sp>
        <p:nvSpPr>
          <p:cNvPr id="32" name="Text 25"/>
          <p:cNvSpPr txBox="1"/>
          <p:nvPr/>
        </p:nvSpPr>
        <p:spPr>
          <a:xfrm>
            <a:off x="5020292" y="6273100"/>
            <a:ext cx="1041916" cy="137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9"/>
              </a:lnSpc>
              <a:buNone/>
            </a:pPr>
            <a:r>
              <a:rPr lang="en-US" sz="696" b="1" kern="0" spc="14" dirty="0">
                <a:solidFill>
                  <a:srgbClr val="172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© Paul Johnson 2026</a:t>
            </a:r>
            <a:endParaRPr lang="en-US" sz="696" dirty="0"/>
          </a:p>
        </p:txBody>
      </p:sp>
      <p:sp>
        <p:nvSpPr>
          <p:cNvPr id="33" name="Text 26"/>
          <p:cNvSpPr txBox="1"/>
          <p:nvPr/>
        </p:nvSpPr>
        <p:spPr>
          <a:xfrm>
            <a:off x="6142606" y="6273100"/>
            <a:ext cx="53138" cy="137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9"/>
              </a:lnSpc>
              <a:buNone/>
            </a:pPr>
            <a:r>
              <a:rPr lang="en-US" sz="696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696" dirty="0"/>
          </a:p>
        </p:txBody>
      </p:sp>
      <p:sp>
        <p:nvSpPr>
          <p:cNvPr id="34" name="Text 27"/>
          <p:cNvSpPr/>
          <p:nvPr/>
        </p:nvSpPr>
        <p:spPr>
          <a:xfrm>
            <a:off x="6276143" y="6265060"/>
            <a:ext cx="1002972" cy="153134"/>
          </a:xfrm>
          <a:prstGeom prst="rect">
            <a:avLst/>
          </a:prstGeom>
          <a:ln/>
        </p:spPr>
        <p:txBody>
          <a:bodyPr wrap="none" lIns="0" tIns="0" rIns="0" bIns="16129" rtlCol="0" anchor="t"/>
          <a:lstStyle/>
          <a:p>
            <a:pPr marL="0" indent="0" algn="l">
              <a:lnSpc>
                <a:spcPts val="1079"/>
              </a:lnSpc>
              <a:buNone/>
            </a:pPr>
            <a:r>
              <a:rPr lang="en-US" sz="696" kern="0" spc="2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Terms &amp; Conditions</a:t>
            </a:r>
            <a:endParaRPr lang="en-US" sz="696" dirty="0"/>
          </a:p>
        </p:txBody>
      </p:sp>
      <p:sp>
        <p:nvSpPr>
          <p:cNvPr id="35" name="Shape 28"/>
          <p:cNvSpPr/>
          <p:nvPr/>
        </p:nvSpPr>
        <p:spPr>
          <a:xfrm>
            <a:off x="6276143" y="6418195"/>
            <a:ext cx="1002972" cy="0"/>
          </a:xfrm>
          <a:prstGeom prst="line">
            <a:avLst/>
          </a:prstGeom>
          <a:noFill/>
          <a:ln w="8001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29"/>
          <p:cNvSpPr txBox="1"/>
          <p:nvPr/>
        </p:nvSpPr>
        <p:spPr>
          <a:xfrm>
            <a:off x="7359514" y="6273100"/>
            <a:ext cx="53138" cy="137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9"/>
              </a:lnSpc>
              <a:buNone/>
            </a:pPr>
            <a:r>
              <a:rPr lang="en-US" sz="696" dirty="0">
                <a:solidFill>
                  <a:srgbClr val="9BB4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696" dirty="0"/>
          </a:p>
        </p:txBody>
      </p:sp>
      <p:sp>
        <p:nvSpPr>
          <p:cNvPr id="37" name="Text 30"/>
          <p:cNvSpPr/>
          <p:nvPr/>
        </p:nvSpPr>
        <p:spPr>
          <a:xfrm>
            <a:off x="7493051" y="6265060"/>
            <a:ext cx="780118" cy="153134"/>
          </a:xfrm>
          <a:prstGeom prst="rect">
            <a:avLst/>
          </a:prstGeom>
          <a:ln/>
        </p:spPr>
        <p:txBody>
          <a:bodyPr wrap="none" lIns="0" tIns="0" rIns="0" bIns="16129" rtlCol="0" anchor="t"/>
          <a:lstStyle/>
          <a:p>
            <a:pPr marL="0" indent="0" algn="l">
              <a:lnSpc>
                <a:spcPts val="1079"/>
              </a:lnSpc>
              <a:buNone/>
            </a:pPr>
            <a:r>
              <a:rPr lang="en-US" sz="696" kern="0" spc="21" dirty="0">
                <a:solidFill>
                  <a:srgbClr val="48533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Privacy Policy</a:t>
            </a:r>
            <a:endParaRPr lang="en-US" sz="696" dirty="0"/>
          </a:p>
        </p:txBody>
      </p:sp>
      <p:sp>
        <p:nvSpPr>
          <p:cNvPr id="38" name="Shape 31"/>
          <p:cNvSpPr/>
          <p:nvPr/>
        </p:nvSpPr>
        <p:spPr>
          <a:xfrm>
            <a:off x="7493051" y="6418195"/>
            <a:ext cx="780118" cy="0"/>
          </a:xfrm>
          <a:prstGeom prst="line">
            <a:avLst/>
          </a:prstGeom>
          <a:noFill/>
          <a:ln w="8001">
            <a:solidFill>
              <a:srgbClr val="DBDE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2"/>
          <p:cNvSpPr txBox="1"/>
          <p:nvPr/>
        </p:nvSpPr>
        <p:spPr>
          <a:xfrm>
            <a:off x="9265212" y="6273100"/>
            <a:ext cx="689920" cy="137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9"/>
              </a:lnSpc>
              <a:buNone/>
            </a:pPr>
            <a:r>
              <a:rPr lang="en-US" sz="696" dirty="0">
                <a:solidFill>
                  <a:srgbClr val="3F62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crescopus.com</a:t>
            </a:r>
            <a:endParaRPr lang="en-US" sz="69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3771</Words>
  <Application>Microsoft Office PowerPoint</Application>
  <PresentationFormat>Widescreen</PresentationFormat>
  <Paragraphs>936</Paragraphs>
  <Slides>40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Fraunces</vt:lpstr>
      <vt:lpstr>IBM Plex Mono</vt:lpstr>
      <vt:lpstr>Public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Crescopus UI screens (editable)</dc:title>
  <dc:subject>PptxGenJS Presentation</dc:subject>
  <dc:creator>PptxGenJS</dc:creator>
  <cp:lastModifiedBy>Paul Johnson</cp:lastModifiedBy>
  <cp:revision>3</cp:revision>
  <dcterms:created xsi:type="dcterms:W3CDTF">2026-09-29T08:06:20Z</dcterms:created>
  <dcterms:modified xsi:type="dcterms:W3CDTF">2026-10-20T16:10:09Z</dcterms:modified>
</cp:coreProperties>
</file>