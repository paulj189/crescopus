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92" r:id="rId2"/>
    <p:sldId id="293" r:id="rId3"/>
    <p:sldId id="294" r:id="rId4"/>
    <p:sldId id="295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0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42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7231A"/>
                </a:solidFill>
                <a:latin typeface="Fraunces"/>
              </a:rPr>
              <a:t>Builder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48533F"/>
                </a:solidFill>
                <a:latin typeface="Public Sans"/>
              </a:rPr>
              <a:t>Capture who is building, what the app does, and the value each side brings.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56692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8C6118"/>
                </a:solidFill>
                <a:latin typeface="IBM Plex Mono"/>
              </a:rPr>
              <a:t>PROFILE /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16768" cy="1397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8A4C"/>
                </a:solidFill>
                <a:latin typeface="IBM Plex Mono"/>
              </a:rPr>
              <a:t>BUILDER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1975104"/>
            <a:ext cx="841248" cy="841248"/>
          </a:xfrm>
          <a:prstGeom prst="ellipse">
            <a:avLst/>
          </a:prstGeom>
          <a:solidFill>
            <a:srgbClr val="F8FAF6"/>
          </a:solidFill>
          <a:ln w="15240">
            <a:solidFill>
              <a:srgbClr val="1E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E8A4C"/>
                </a:solidFill>
                <a:latin typeface="IBM Plex Mono"/>
              </a:rPr>
              <a:t>ADD
LOGO</a:t>
            </a:r>
            <a:r>
              <a:rPr lang="en-GB" sz="1100" b="1">
                <a:solidFill>
                  <a:srgbClr val="1E8A4C"/>
                </a:solidFill>
                <a:latin typeface="IBM Plex Mono"/>
              </a:rPr>
              <a:t> or PHOTO</a:t>
            </a:r>
            <a:endParaRPr sz="1100" b="1">
              <a:solidFill>
                <a:srgbClr val="1E8A4C"/>
              </a:solidFill>
              <a:latin typeface="IBM Plex Mon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10512" y="1920240"/>
            <a:ext cx="9637776" cy="950976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ctr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lang="en-GB" sz="1600" b="1">
                <a:solidFill>
                  <a:srgbClr val="17231A"/>
                </a:solidFill>
                <a:latin typeface="Public Sans"/>
              </a:rPr>
              <a:t>I</a:t>
            </a:r>
            <a:r>
              <a:rPr sz="1600" b="1">
                <a:solidFill>
                  <a:srgbClr val="17231A"/>
                </a:solidFill>
                <a:latin typeface="Public Sans"/>
              </a:rPr>
              <a:t>dentity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Introduce </a:t>
            </a:r>
            <a:r>
              <a:rPr lang="en-GB" sz="1400">
                <a:solidFill>
                  <a:srgbClr val="48533F"/>
                </a:solidFill>
                <a:latin typeface="Public Sans"/>
              </a:rPr>
              <a:t>yourself</a:t>
            </a:r>
            <a:r>
              <a:rPr sz="1400" b="0">
                <a:solidFill>
                  <a:srgbClr val="48533F"/>
                </a:solidFill>
                <a:latin typeface="Public Sans"/>
              </a:rPr>
              <a:t>, relevant experience, and approach. </a:t>
            </a:r>
            <a:r>
              <a:rPr lang="en-GB" sz="1400" b="0">
                <a:solidFill>
                  <a:srgbClr val="48533F"/>
                </a:solidFill>
                <a:latin typeface="Public Sans"/>
              </a:rPr>
              <a:t>(</a:t>
            </a:r>
            <a:r>
              <a:rPr sz="1400" b="0">
                <a:solidFill>
                  <a:srgbClr val="48533F"/>
                </a:solidFill>
                <a:latin typeface="Public Sans"/>
              </a:rPr>
              <a:t>This area supports rich-text formatting</a:t>
            </a:r>
            <a:r>
              <a:rPr lang="en-GB" sz="1400" b="0">
                <a:solidFill>
                  <a:srgbClr val="48533F"/>
                </a:solidFill>
                <a:latin typeface="Public Sans"/>
              </a:rPr>
              <a:t>)</a:t>
            </a:r>
            <a:endParaRPr sz="1400" b="0">
              <a:solidFill>
                <a:srgbClr val="48533F"/>
              </a:solidFill>
              <a:latin typeface="Public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10512" y="1920240"/>
            <a:ext cx="50800" cy="950976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099816"/>
            <a:ext cx="10716768" cy="1270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101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C6118"/>
                </a:solidFill>
                <a:latin typeface="IBM Plex Mono"/>
              </a:rPr>
              <a:t>MY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5175504" cy="2011680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ctr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1">
                <a:solidFill>
                  <a:srgbClr val="17231A"/>
                </a:solidFill>
                <a:latin typeface="Public Sans"/>
              </a:rPr>
              <a:t>App name and one-line proposition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Describe the audience, core experience, traction, and what makes the app useful. Add bold, lists, or other rich-text styling as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50800" cy="2011680"/>
          </a:xfrm>
          <a:prstGeom prst="rect">
            <a:avLst/>
          </a:prstGeom>
          <a:solidFill>
            <a:srgbClr val="8C6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3657600"/>
            <a:ext cx="1371600" cy="1170432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8A9486"/>
                </a:solidFill>
                <a:latin typeface="IBM Plex Mono"/>
              </a:rPr>
              <a:t>ADD APP
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99262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8533F"/>
                </a:solidFill>
                <a:latin typeface="IBM Plex Mono"/>
              </a:rPr>
              <a:t>APP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230368"/>
            <a:ext cx="1371600" cy="438912"/>
          </a:xfrm>
          <a:prstGeom prst="rect">
            <a:avLst/>
          </a:prstGeom>
          <a:noFill/>
        </p:spPr>
        <p:txBody>
          <a:bodyPr wrap="square" tIns="91440" bIns="0">
            <a:spAutoFit/>
          </a:bodyPr>
          <a:lstStyle/>
          <a:p>
            <a:pPr algn="l"/>
            <a:r>
              <a:rPr sz="1200" u="sng">
                <a:solidFill>
                  <a:srgbClr val="1E8A4C"/>
                </a:solidFill>
                <a:latin typeface="Public Sans"/>
              </a:rPr>
              <a:t>Paste URL 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5650992"/>
            <a:ext cx="1371600" cy="1270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3273552"/>
            <a:ext cx="9144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54112" y="3273552"/>
            <a:ext cx="12700" cy="2670048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28431" y="33101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8A4C"/>
                </a:solidFill>
                <a:latin typeface="IBM Plex Mono"/>
              </a:rPr>
              <a:t>NEEDS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1" y="3657600"/>
            <a:ext cx="3419856" cy="859536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ctr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the skills, reach, resources, or support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1" y="3657600"/>
            <a:ext cx="50800" cy="859536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8431" y="4736592"/>
            <a:ext cx="3419856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1" y="491947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C6118"/>
                </a:solidFill>
                <a:latin typeface="IBM Plex Mono"/>
              </a:rPr>
              <a:t>OFFERS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8431" y="5248656"/>
            <a:ext cx="3419856" cy="859536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ctr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strengths, assets, access, or terms offered in return.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431" y="5248656"/>
            <a:ext cx="50800" cy="859536"/>
          </a:xfrm>
          <a:prstGeom prst="rect">
            <a:avLst/>
          </a:prstGeom>
          <a:solidFill>
            <a:srgbClr val="8C6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6327648"/>
            <a:ext cx="10716768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486"/>
                </a:solidFill>
                <a:latin typeface="IBM Plex Mono"/>
              </a:rPr>
              <a:t>EDITABLE PROFILE TEMPLATE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6446520"/>
            <a:ext cx="26700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86"/>
                </a:solidFill>
                <a:latin typeface="IBM Plex Mono"/>
              </a:rPr>
              <a:t>RICH TEXT • LINKS • IMAGES</a:t>
            </a:r>
          </a:p>
        </p:txBody>
      </p:sp>
    </p:spTree>
    <p:extLst>
      <p:ext uri="{BB962C8B-B14F-4D97-AF65-F5344CB8AC3E}">
        <p14:creationId xmlns:p14="http://schemas.microsoft.com/office/powerpoint/2010/main" val="2361784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7231A"/>
                </a:solidFill>
                <a:latin typeface="Fraunces"/>
              </a:rPr>
              <a:t>Grower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8533F"/>
                </a:solidFill>
                <a:latin typeface="Public Sans"/>
              </a:rPr>
              <a:t>Capture who can grow the app, what they need, and what they bring to the partnership.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56692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C6118"/>
                </a:solidFill>
                <a:latin typeface="IBM Plex Mono"/>
              </a:rPr>
              <a:t>PROFILE /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16768" cy="1397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8A4C"/>
                </a:solidFill>
                <a:latin typeface="IBM Plex Mono"/>
              </a:rPr>
              <a:t>GROWER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1975104"/>
            <a:ext cx="841248" cy="841248"/>
          </a:xfrm>
          <a:prstGeom prst="ellipse">
            <a:avLst/>
          </a:prstGeom>
          <a:solidFill>
            <a:srgbClr val="F8FAF6"/>
          </a:solidFill>
          <a:ln w="15240">
            <a:solidFill>
              <a:srgbClr val="1E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1E8A4C"/>
                </a:solidFill>
                <a:latin typeface="IBM Plex Mono"/>
              </a:rPr>
              <a:t>ADD</a:t>
            </a:r>
            <a:r>
              <a:rPr lang="en-GB" sz="1000" b="1">
                <a:solidFill>
                  <a:srgbClr val="1E8A4C"/>
                </a:solidFill>
                <a:latin typeface="IBM Plex Mono"/>
              </a:rPr>
              <a:t> LOGO or</a:t>
            </a:r>
            <a:r>
              <a:rPr sz="1000" b="1">
                <a:solidFill>
                  <a:srgbClr val="1E8A4C"/>
                </a:solidFill>
                <a:latin typeface="IBM Plex Mono"/>
              </a:rPr>
              <a:t>
PHOTO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810512" y="1920240"/>
            <a:ext cx="9637776" cy="950976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55448" rIns="182880" bIns="15544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lang="en-GB" sz="1600" b="1">
                <a:solidFill>
                  <a:srgbClr val="17231A"/>
                </a:solidFill>
                <a:latin typeface="Public Sans"/>
              </a:rPr>
              <a:t>I</a:t>
            </a:r>
            <a:r>
              <a:rPr sz="1600" b="1">
                <a:solidFill>
                  <a:srgbClr val="17231A"/>
                </a:solidFill>
                <a:latin typeface="Public Sans"/>
              </a:rPr>
              <a:t>dentity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Introduce </a:t>
            </a:r>
            <a:r>
              <a:rPr lang="en-GB" sz="1400">
                <a:solidFill>
                  <a:srgbClr val="48533F"/>
                </a:solidFill>
                <a:latin typeface="Public Sans"/>
              </a:rPr>
              <a:t>yourself</a:t>
            </a:r>
            <a:r>
              <a:rPr sz="1400" b="0">
                <a:solidFill>
                  <a:srgbClr val="48533F"/>
                </a:solidFill>
                <a:latin typeface="Public Sans"/>
              </a:rPr>
              <a:t>, channels, audience expertise, and relevant results. </a:t>
            </a:r>
            <a:r>
              <a:rPr lang="en-GB" sz="1400" b="0">
                <a:solidFill>
                  <a:srgbClr val="48533F"/>
                </a:solidFill>
                <a:latin typeface="Public Sans"/>
              </a:rPr>
              <a:t>(</a:t>
            </a:r>
            <a:r>
              <a:rPr sz="1400" b="0">
                <a:solidFill>
                  <a:srgbClr val="48533F"/>
                </a:solidFill>
                <a:latin typeface="Public Sans"/>
              </a:rPr>
              <a:t>This area supports rich-text formatting</a:t>
            </a:r>
            <a:r>
              <a:rPr lang="en-GB" sz="1400" b="0">
                <a:solidFill>
                  <a:srgbClr val="48533F"/>
                </a:solidFill>
                <a:latin typeface="Public Sans"/>
              </a:rPr>
              <a:t>)</a:t>
            </a:r>
            <a:endParaRPr sz="1400" b="0">
              <a:solidFill>
                <a:srgbClr val="48533F"/>
              </a:solidFill>
              <a:latin typeface="Public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10512" y="1920240"/>
            <a:ext cx="50800" cy="950976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099816"/>
            <a:ext cx="10716768" cy="1270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8A4C"/>
                </a:solidFill>
                <a:latin typeface="IBM Plex Mono"/>
              </a:rPr>
              <a:t>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33649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6118"/>
                </a:solidFill>
                <a:latin typeface="IBM Plex Mono"/>
              </a:rPr>
              <a:t>OFFER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30752"/>
            <a:ext cx="5166360" cy="2194560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55448" rIns="182880" bIns="15544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1">
                <a:solidFill>
                  <a:srgbClr val="17231A"/>
                </a:solidFill>
                <a:latin typeface="Public Sans"/>
              </a:rPr>
              <a:t>What would help this grower succeed?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product access, budget, data, creative assets, decision rights, or other support required to build momentum.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30752"/>
            <a:ext cx="50800" cy="219456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81928" y="3730752"/>
            <a:ext cx="5166360" cy="2194560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55448" rIns="182880" bIns="15544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1">
                <a:solidFill>
                  <a:srgbClr val="17231A"/>
                </a:solidFill>
                <a:latin typeface="Public Sans"/>
              </a:rPr>
              <a:t>What can this grower contribute?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channels, skills, audience access, campaign ideas, time commitment, or commercial terms offered in return.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1928" y="3730752"/>
            <a:ext cx="50800" cy="2194560"/>
          </a:xfrm>
          <a:prstGeom prst="rect">
            <a:avLst/>
          </a:prstGeom>
          <a:solidFill>
            <a:srgbClr val="8C6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16768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486"/>
                </a:solidFill>
                <a:latin typeface="IBM Plex Mono"/>
              </a:rPr>
              <a:t>EDITABLE PROFILE 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6446520"/>
            <a:ext cx="2990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8A9486"/>
                </a:solidFill>
                <a:latin typeface="IBM Plex Mono"/>
              </a:rPr>
              <a:t>RICH TEXT • NEEDS • OFFER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93192"/>
            <a:ext cx="6583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7231A"/>
                </a:solidFill>
                <a:latin typeface="Fraunces"/>
              </a:rPr>
              <a:t>CrecoPlan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8533F"/>
                </a:solidFill>
                <a:latin typeface="Public Sans"/>
              </a:rPr>
              <a:t>A shared working agreement for the Builder and Grower.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475488"/>
            <a:ext cx="16459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C6118"/>
                </a:solidFill>
                <a:latin typeface="IBM Plex Mono"/>
              </a:rPr>
              <a:t>SHARED PLAN /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44168"/>
            <a:ext cx="10716768" cy="1397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46304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81328" y="1746504"/>
            <a:ext cx="2834640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49047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GROWER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146304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0368" y="1746504"/>
            <a:ext cx="2834640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490472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LAST UPDATED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1463040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00032" y="1746504"/>
            <a:ext cx="2048256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99339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E8A4C"/>
                </a:solidFill>
                <a:latin typeface="IBM Plex Mon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199339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8A4C"/>
                </a:solidFill>
                <a:latin typeface="IBM Plex Mono"/>
              </a:rPr>
              <a:t>AGREED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99339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C6118"/>
                </a:solidFill>
                <a:latin typeface="IBM Plex Mon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199339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6118"/>
                </a:solidFill>
                <a:latin typeface="IBM Plex Mono"/>
              </a:rPr>
              <a:t>AGREED OFFERS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331720"/>
            <a:ext cx="5047488" cy="1024128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ctr"/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48533F"/>
                </a:solidFill>
                <a:latin typeface="Public Sans"/>
              </a:rPr>
              <a:t>Summarise the needs agreed for both Builder and Grower. Use bullets, emphasis, or notes as the plan develops.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331720"/>
            <a:ext cx="50800" cy="1024128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44768" y="2331720"/>
            <a:ext cx="5303520" cy="1024128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ctr"/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48533F"/>
                </a:solidFill>
                <a:latin typeface="Public Sans"/>
              </a:rPr>
              <a:t>Summarise the offers agreed by both Builder and Grower, including access, effort, resources, and terms.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331720"/>
            <a:ext cx="50800" cy="1024128"/>
          </a:xfrm>
          <a:prstGeom prst="rect">
            <a:avLst/>
          </a:prstGeom>
          <a:solidFill>
            <a:srgbClr val="8C6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584448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E8A4C"/>
                </a:solidFill>
                <a:latin typeface="IBM Plex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58444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8A4C"/>
                </a:solidFill>
                <a:latin typeface="IBM Plex Mono"/>
              </a:rPr>
              <a:t>PLAN OF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95344"/>
            <a:ext cx="5669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List the commitments that move the partnership forward.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78808"/>
            <a:ext cx="10716768" cy="301752"/>
          </a:xfrm>
          <a:prstGeom prst="rect">
            <a:avLst/>
          </a:prstGeom>
          <a:solidFill>
            <a:srgbClr val="17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242816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6"/>
                </a:solidFill>
                <a:latin typeface="IBM Plex Mono"/>
              </a:rP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242816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6"/>
                </a:solidFill>
                <a:latin typeface="IBM Plex Mono"/>
              </a:rP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242816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6"/>
                </a:solidFill>
                <a:latin typeface="IBM Plex Mono"/>
              </a:rPr>
              <a:t>BY WHEN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4242816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6"/>
                </a:solidFill>
                <a:latin typeface="IBM Plex Mono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480560"/>
            <a:ext cx="10716768" cy="365760"/>
          </a:xfrm>
          <a:prstGeom prst="rect">
            <a:avLst/>
          </a:prstGeom>
          <a:solidFill>
            <a:srgbClr val="F8FAF6"/>
          </a:solidFill>
          <a:ln w="6985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4572000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agreed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57200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Builder / Grower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4572000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4572000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Not started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846320"/>
            <a:ext cx="10716768" cy="365760"/>
          </a:xfrm>
          <a:prstGeom prst="rect">
            <a:avLst/>
          </a:prstGeom>
          <a:solidFill>
            <a:srgbClr val="F8FAF6"/>
          </a:solidFill>
          <a:ln w="6985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4937760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agreed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493776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Builder / Grower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4937760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4937760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Not started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212080"/>
            <a:ext cx="10716768" cy="365760"/>
          </a:xfrm>
          <a:prstGeom prst="rect">
            <a:avLst/>
          </a:prstGeom>
          <a:solidFill>
            <a:srgbClr val="F8FAF6"/>
          </a:solidFill>
          <a:ln w="6985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5303520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agreed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530352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Builder / Grower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5303520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56648" y="5303520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Not started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45936" y="4178808"/>
            <a:ext cx="7620" cy="1399032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19872" y="4178808"/>
            <a:ext cx="7620" cy="1399032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619488" y="4178808"/>
            <a:ext cx="7620" cy="1399032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56967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C6118"/>
                </a:solidFill>
                <a:latin typeface="IBM Plex Mono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" y="569671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6118"/>
                </a:solidFill>
                <a:latin typeface="IBM Plex Mono"/>
              </a:rPr>
              <a:t>AGREED MEASURES OF SUCCESS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998464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MEASURE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0128" y="599846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TARGET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599846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EVIDENCE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90688" y="5998464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REVIEW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37192" y="5998464"/>
            <a:ext cx="19110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OWNER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6254496"/>
            <a:ext cx="10716768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6318504"/>
            <a:ext cx="23317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Define the outcome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0128" y="6318504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target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04688" y="6318504"/>
            <a:ext cx="201168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source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90688" y="6318504"/>
            <a:ext cx="148132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date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37192" y="6318504"/>
            <a:ext cx="1911095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Assign party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647688"/>
            <a:ext cx="59436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A9486"/>
                </a:solidFill>
                <a:latin typeface="IBM Plex Mono"/>
              </a:rPr>
              <a:t>EDITABLE SHARED WORKING TEMPLATE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6647688"/>
            <a:ext cx="3813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A9486"/>
                </a:solidFill>
                <a:latin typeface="IBM Plex Mono"/>
              </a:rPr>
              <a:t>NEEDS • OFFERS • ACTIONS • MEASURES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93192"/>
            <a:ext cx="6583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7231A"/>
                </a:solidFill>
                <a:latin typeface="Fraunces"/>
              </a:rPr>
              <a:t>CrescoLedger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8533F"/>
                </a:solidFill>
                <a:latin typeface="Public Sans"/>
              </a:rPr>
              <a:t>A shared record of costs incurred, revenue achieved, and supporting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75488"/>
            <a:ext cx="1801368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C6118"/>
                </a:solidFill>
                <a:latin typeface="IBM Plex Mono"/>
              </a:rPr>
              <a:t>SHARED LEDGER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44168"/>
            <a:ext cx="10716768" cy="1397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46304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81328" y="1746504"/>
            <a:ext cx="2240280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50208" y="149047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GROWER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146304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1746504"/>
            <a:ext cx="2240280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14032" y="1490472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746504"/>
            <a:ext cx="1481328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73184" y="1490472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CURRENCY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1463040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1746504"/>
            <a:ext cx="1115568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1993392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TOTAL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25856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8C6118"/>
                </a:solidFill>
                <a:latin typeface="Fraunces"/>
              </a:rPr>
              <a:t>Add total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670048"/>
            <a:ext cx="2651760" cy="20320"/>
          </a:xfrm>
          <a:prstGeom prst="rect">
            <a:avLst/>
          </a:prstGeom>
          <a:solidFill>
            <a:srgbClr val="8C6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9624" y="1993392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TOTAL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225856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E8A4C"/>
                </a:solidFill>
                <a:latin typeface="Fraunces"/>
              </a:rPr>
              <a:t>Add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9624" y="2670048"/>
            <a:ext cx="2651760" cy="2032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67728" y="1993392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NET 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25856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7231A"/>
                </a:solidFill>
                <a:latin typeface="Fraunces"/>
              </a:rPr>
              <a:t>Add 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67728" y="2670048"/>
            <a:ext cx="2651760" cy="20320"/>
          </a:xfrm>
          <a:prstGeom prst="rect">
            <a:avLst/>
          </a:prstGeom>
          <a:solidFill>
            <a:srgbClr val="17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76688" y="209397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8A9486"/>
                </a:solidFill>
                <a:latin typeface="IBM Plex Mono"/>
              </a:rPr>
              <a:t>UPDATE AFTER
EACH ENTRY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89864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E8A4C"/>
                </a:solidFill>
                <a:latin typeface="IBM Plex Mono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2898648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8A4C"/>
                </a:solidFill>
                <a:latin typeface="IBM Plex Mono"/>
              </a:rPr>
              <a:t>LEDGER ENTRIES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898648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8A9486"/>
                </a:solidFill>
                <a:latin typeface="IBM Plex Mono"/>
              </a:rPr>
              <a:t>PASTE A SHARE LINK FOR EVIDENCE WHEN AVAILABLE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31520" y="3218688"/>
          <a:ext cx="10716768" cy="3175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35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0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AF6"/>
                          </a:solidFill>
                          <a:latin typeface="IBM Plex Mono"/>
                        </a:rPr>
                        <a:t>DATE</a:t>
                      </a:r>
                    </a:p>
                  </a:txBody>
                  <a:tcPr marT="64008" marB="64008" anchor="ctr">
                    <a:solidFill>
                      <a:srgbClr val="1723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AF6"/>
                          </a:solidFill>
                          <a:latin typeface="IBM Plex Mono"/>
                        </a:rPr>
                        <a:t>PARTY</a:t>
                      </a:r>
                    </a:p>
                  </a:txBody>
                  <a:tcPr marT="64008" marB="64008" anchor="ctr">
                    <a:solidFill>
                      <a:srgbClr val="1723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AF6"/>
                          </a:solidFill>
                          <a:latin typeface="IBM Plex Mono"/>
                        </a:rPr>
                        <a:t>ENTRY</a:t>
                      </a:r>
                    </a:p>
                  </a:txBody>
                  <a:tcPr marT="64008" marB="64008" anchor="ctr">
                    <a:solidFill>
                      <a:srgbClr val="1723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AF6"/>
                          </a:solidFill>
                          <a:latin typeface="IBM Plex Mono"/>
                        </a:rPr>
                        <a:t>DESCRIPTION</a:t>
                      </a:r>
                    </a:p>
                  </a:txBody>
                  <a:tcPr marT="64008" marB="64008" anchor="ctr">
                    <a:solidFill>
                      <a:srgbClr val="1723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AF6"/>
                          </a:solidFill>
                          <a:latin typeface="IBM Plex Mono"/>
                        </a:rPr>
                        <a:t>AMOUNT</a:t>
                      </a:r>
                    </a:p>
                  </a:txBody>
                  <a:tcPr marT="64008" marB="64008" anchor="ctr">
                    <a:solidFill>
                      <a:srgbClr val="1723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AF6"/>
                          </a:solidFill>
                          <a:latin typeface="IBM Plex Mono"/>
                        </a:rPr>
                        <a:t>DOCUMENT / RECEIPT</a:t>
                      </a:r>
                    </a:p>
                  </a:txBody>
                  <a:tcPr marT="64008" marB="64008" anchor="ctr">
                    <a:solidFill>
                      <a:srgbClr val="172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date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Builder / Grower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Cost / Revenue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Describe the item and why it belongs in the ledger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amount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u="sng">
                          <a:solidFill>
                            <a:srgbClr val="2B6F8A"/>
                          </a:solidFill>
                          <a:latin typeface="Public Sans"/>
                        </a:rPr>
                        <a:t>Paste link or receipt reference ↗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0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date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Builder / Grower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Cost / Revenue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Describe the item and why it belongs in the ledger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amount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u="sng">
                          <a:solidFill>
                            <a:srgbClr val="2B6F8A"/>
                          </a:solidFill>
                          <a:latin typeface="Public Sans"/>
                        </a:rPr>
                        <a:t>Paste link or receipt reference ↗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0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date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Builder / Grower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Cost / Revenue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Describe the item and why it belongs in the ledger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amount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u="sng">
                          <a:solidFill>
                            <a:srgbClr val="2B6F8A"/>
                          </a:solidFill>
                          <a:latin typeface="Public Sans"/>
                        </a:rPr>
                        <a:t>Paste link or receipt reference ↗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0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date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Builder / Grower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Cost / Revenue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Describe the item and why it belongs in the ledger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amount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u="sng">
                          <a:solidFill>
                            <a:srgbClr val="2B6F8A"/>
                          </a:solidFill>
                          <a:latin typeface="Public Sans"/>
                        </a:rPr>
                        <a:t>Paste link or receipt reference ↗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0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date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Builder / Grower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Cost / Revenue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Describe the item and why it belongs in the ledger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amount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u="sng">
                          <a:solidFill>
                            <a:srgbClr val="2B6F8A"/>
                          </a:solidFill>
                          <a:latin typeface="Public Sans"/>
                        </a:rPr>
                        <a:t>Paste link or receipt reference ↗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096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date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Builder / Grower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Cost / Revenue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Describe the item and why it belongs in the ledger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amount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u="sng">
                          <a:solidFill>
                            <a:srgbClr val="2B6F8A"/>
                          </a:solidFill>
                          <a:latin typeface="Public Sans"/>
                        </a:rPr>
                        <a:t>Paste link or receipt reference ↗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31520" y="6318504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8533F"/>
                </a:solidFill>
                <a:latin typeface="Public Sans"/>
              </a:rPr>
              <a:t>Use positive amounts; identify each row as Cost or Revenue.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647688"/>
            <a:ext cx="56692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A9486"/>
                </a:solidFill>
                <a:latin typeface="IBM Plex Mono"/>
              </a:rPr>
              <a:t>EDITABLE SHARED FINANCIAL REGISTER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6647688"/>
            <a:ext cx="40873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A9486"/>
                </a:solidFill>
                <a:latin typeface="IBM Plex Mono"/>
              </a:rPr>
              <a:t>COSTS • REVENUE •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Widescreen</PresentationFormat>
  <Paragraphs>148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Fraunces</vt:lpstr>
      <vt:lpstr>IBM Plex Mono</vt:lpstr>
      <vt:lpstr>Public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Crescopus UI screens (editable)</dc:title>
  <dc:subject>PptxGenJS Presentation</dc:subject>
  <dc:creator>PptxGenJS</dc:creator>
  <cp:lastModifiedBy>Paul Johnson</cp:lastModifiedBy>
  <cp:revision>6</cp:revision>
  <dcterms:created xsi:type="dcterms:W3CDTF">2026-09-29T08:06:20Z</dcterms:created>
  <dcterms:modified xsi:type="dcterms:W3CDTF">2026-10-21T07:35:23Z</dcterms:modified>
</cp:coreProperties>
</file>